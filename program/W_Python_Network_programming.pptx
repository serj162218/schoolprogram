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64" r:id="rId5"/>
    <p:sldId id="265" r:id="rId6"/>
    <p:sldId id="266" r:id="rId7"/>
    <p:sldId id="267" r:id="rId8"/>
    <p:sldId id="268" r:id="rId9"/>
    <p:sldId id="269" r:id="rId10"/>
    <p:sldId id="270" r:id="rId11"/>
    <p:sldId id="271" r:id="rId12"/>
    <p:sldId id="272" r:id="rId13"/>
    <p:sldId id="273" r:id="rId14"/>
    <p:sldId id="274" r:id="rId15"/>
    <p:sldId id="275" r:id="rId16"/>
    <p:sldId id="257" r:id="rId17"/>
    <p:sldId id="258" r:id="rId18"/>
    <p:sldId id="259" r:id="rId19"/>
    <p:sldId id="260" r:id="rId20"/>
    <p:sldId id="261" r:id="rId2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p:cViewPr varScale="1">
        <p:scale>
          <a:sx n="101" d="100"/>
          <a:sy n="101" d="100"/>
        </p:scale>
        <p:origin x="150" y="40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8C85894-08FA-411A-8410-14D61F2D6217}"/>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6166EE74-F7A7-4845-96D9-CC231CE10D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35C8D537-556B-412F-920F-7E0B697732D9}"/>
              </a:ext>
            </a:extLst>
          </p:cNvPr>
          <p:cNvSpPr>
            <a:spLocks noGrp="1"/>
          </p:cNvSpPr>
          <p:nvPr>
            <p:ph type="dt" sz="half" idx="10"/>
          </p:nvPr>
        </p:nvSpPr>
        <p:spPr/>
        <p:txBody>
          <a:bodyPr/>
          <a:lstStyle/>
          <a:p>
            <a:fld id="{5F5DF542-352E-4DC1-BDB2-C50B3D497BB9}" type="datetimeFigureOut">
              <a:rPr lang="zh-TW" altLang="en-US" smtClean="0"/>
              <a:t>2018/12/13</a:t>
            </a:fld>
            <a:endParaRPr lang="zh-TW" altLang="en-US"/>
          </a:p>
        </p:txBody>
      </p:sp>
      <p:sp>
        <p:nvSpPr>
          <p:cNvPr id="5" name="頁尾版面配置區 4">
            <a:extLst>
              <a:ext uri="{FF2B5EF4-FFF2-40B4-BE49-F238E27FC236}">
                <a16:creationId xmlns:a16="http://schemas.microsoft.com/office/drawing/2014/main" id="{F31B5AD8-3543-4534-AF62-AC08A4F9495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439D832-E7B8-411E-80B7-30B1B221012C}"/>
              </a:ext>
            </a:extLst>
          </p:cNvPr>
          <p:cNvSpPr>
            <a:spLocks noGrp="1"/>
          </p:cNvSpPr>
          <p:nvPr>
            <p:ph type="sldNum" sz="quarter" idx="12"/>
          </p:nvPr>
        </p:nvSpPr>
        <p:spPr/>
        <p:txBody>
          <a:bodyPr/>
          <a:lstStyle/>
          <a:p>
            <a:fld id="{6B5F444D-0093-4000-B8E6-DD168B57CC1E}" type="slidenum">
              <a:rPr lang="zh-TW" altLang="en-US" smtClean="0"/>
              <a:t>‹#›</a:t>
            </a:fld>
            <a:endParaRPr lang="zh-TW" altLang="en-US"/>
          </a:p>
        </p:txBody>
      </p:sp>
    </p:spTree>
    <p:extLst>
      <p:ext uri="{BB962C8B-B14F-4D97-AF65-F5344CB8AC3E}">
        <p14:creationId xmlns:p14="http://schemas.microsoft.com/office/powerpoint/2010/main" val="3214352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83A1FB-586C-4553-BBA6-F95FAEBA095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DC392FAB-A872-4967-9047-377C3D120DD8}"/>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B3B2C6F-7F04-4BBC-B1BF-D4E8D39174E4}"/>
              </a:ext>
            </a:extLst>
          </p:cNvPr>
          <p:cNvSpPr>
            <a:spLocks noGrp="1"/>
          </p:cNvSpPr>
          <p:nvPr>
            <p:ph type="dt" sz="half" idx="10"/>
          </p:nvPr>
        </p:nvSpPr>
        <p:spPr/>
        <p:txBody>
          <a:bodyPr/>
          <a:lstStyle/>
          <a:p>
            <a:fld id="{5F5DF542-352E-4DC1-BDB2-C50B3D497BB9}" type="datetimeFigureOut">
              <a:rPr lang="zh-TW" altLang="en-US" smtClean="0"/>
              <a:t>2018/12/13</a:t>
            </a:fld>
            <a:endParaRPr lang="zh-TW" altLang="en-US"/>
          </a:p>
        </p:txBody>
      </p:sp>
      <p:sp>
        <p:nvSpPr>
          <p:cNvPr id="5" name="頁尾版面配置區 4">
            <a:extLst>
              <a:ext uri="{FF2B5EF4-FFF2-40B4-BE49-F238E27FC236}">
                <a16:creationId xmlns:a16="http://schemas.microsoft.com/office/drawing/2014/main" id="{BE2171A6-72CE-440F-A67B-E162323DF16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7C60C88-C2AE-4260-87AA-4212421CC350}"/>
              </a:ext>
            </a:extLst>
          </p:cNvPr>
          <p:cNvSpPr>
            <a:spLocks noGrp="1"/>
          </p:cNvSpPr>
          <p:nvPr>
            <p:ph type="sldNum" sz="quarter" idx="12"/>
          </p:nvPr>
        </p:nvSpPr>
        <p:spPr/>
        <p:txBody>
          <a:bodyPr/>
          <a:lstStyle/>
          <a:p>
            <a:fld id="{6B5F444D-0093-4000-B8E6-DD168B57CC1E}" type="slidenum">
              <a:rPr lang="zh-TW" altLang="en-US" smtClean="0"/>
              <a:t>‹#›</a:t>
            </a:fld>
            <a:endParaRPr lang="zh-TW" altLang="en-US"/>
          </a:p>
        </p:txBody>
      </p:sp>
    </p:spTree>
    <p:extLst>
      <p:ext uri="{BB962C8B-B14F-4D97-AF65-F5344CB8AC3E}">
        <p14:creationId xmlns:p14="http://schemas.microsoft.com/office/powerpoint/2010/main" val="2578333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0DDF0FB-4D22-4FCC-B369-2D2C027F96E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D387E999-B8B9-4740-9C5C-3E17C7D617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87EBE881-5D8E-4B3F-961D-5BADC98D05A5}"/>
              </a:ext>
            </a:extLst>
          </p:cNvPr>
          <p:cNvSpPr>
            <a:spLocks noGrp="1"/>
          </p:cNvSpPr>
          <p:nvPr>
            <p:ph type="dt" sz="half" idx="10"/>
          </p:nvPr>
        </p:nvSpPr>
        <p:spPr/>
        <p:txBody>
          <a:bodyPr/>
          <a:lstStyle/>
          <a:p>
            <a:fld id="{5F5DF542-352E-4DC1-BDB2-C50B3D497BB9}" type="datetimeFigureOut">
              <a:rPr lang="zh-TW" altLang="en-US" smtClean="0"/>
              <a:t>2018/12/13</a:t>
            </a:fld>
            <a:endParaRPr lang="zh-TW" altLang="en-US"/>
          </a:p>
        </p:txBody>
      </p:sp>
      <p:sp>
        <p:nvSpPr>
          <p:cNvPr id="5" name="頁尾版面配置區 4">
            <a:extLst>
              <a:ext uri="{FF2B5EF4-FFF2-40B4-BE49-F238E27FC236}">
                <a16:creationId xmlns:a16="http://schemas.microsoft.com/office/drawing/2014/main" id="{3EE979F4-BF26-4CED-8455-4051FAA33E3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96BBAA4-5734-4251-BF21-A857F0EC7E0D}"/>
              </a:ext>
            </a:extLst>
          </p:cNvPr>
          <p:cNvSpPr>
            <a:spLocks noGrp="1"/>
          </p:cNvSpPr>
          <p:nvPr>
            <p:ph type="sldNum" sz="quarter" idx="12"/>
          </p:nvPr>
        </p:nvSpPr>
        <p:spPr/>
        <p:txBody>
          <a:bodyPr/>
          <a:lstStyle/>
          <a:p>
            <a:fld id="{6B5F444D-0093-4000-B8E6-DD168B57CC1E}" type="slidenum">
              <a:rPr lang="zh-TW" altLang="en-US" smtClean="0"/>
              <a:t>‹#›</a:t>
            </a:fld>
            <a:endParaRPr lang="zh-TW" altLang="en-US"/>
          </a:p>
        </p:txBody>
      </p:sp>
    </p:spTree>
    <p:extLst>
      <p:ext uri="{BB962C8B-B14F-4D97-AF65-F5344CB8AC3E}">
        <p14:creationId xmlns:p14="http://schemas.microsoft.com/office/powerpoint/2010/main" val="2411437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3A9B5E-EB4B-4641-974A-14A4A613A0D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C659DA5-5E8D-4347-B9DF-2E2C59EC3261}"/>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DD5358BD-8985-4852-9EDD-5C632BEC2719}"/>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893BBBA2-0E59-4B2C-ACCB-283051F16B22}"/>
              </a:ext>
            </a:extLst>
          </p:cNvPr>
          <p:cNvSpPr>
            <a:spLocks noGrp="1"/>
          </p:cNvSpPr>
          <p:nvPr>
            <p:ph type="dt" sz="half" idx="10"/>
          </p:nvPr>
        </p:nvSpPr>
        <p:spPr/>
        <p:txBody>
          <a:bodyPr/>
          <a:lstStyle/>
          <a:p>
            <a:fld id="{5F5DF542-352E-4DC1-BDB2-C50B3D497BB9}" type="datetimeFigureOut">
              <a:rPr lang="zh-TW" altLang="en-US" smtClean="0"/>
              <a:t>2018/12/13</a:t>
            </a:fld>
            <a:endParaRPr lang="zh-TW" altLang="en-US"/>
          </a:p>
        </p:txBody>
      </p:sp>
      <p:sp>
        <p:nvSpPr>
          <p:cNvPr id="6" name="頁尾版面配置區 5">
            <a:extLst>
              <a:ext uri="{FF2B5EF4-FFF2-40B4-BE49-F238E27FC236}">
                <a16:creationId xmlns:a16="http://schemas.microsoft.com/office/drawing/2014/main" id="{E0268BD5-3B81-4576-8686-B3D98B7A79C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DFE8BEF-1797-48FC-AFFE-9456282EAE43}"/>
              </a:ext>
            </a:extLst>
          </p:cNvPr>
          <p:cNvSpPr>
            <a:spLocks noGrp="1"/>
          </p:cNvSpPr>
          <p:nvPr>
            <p:ph type="sldNum" sz="quarter" idx="12"/>
          </p:nvPr>
        </p:nvSpPr>
        <p:spPr/>
        <p:txBody>
          <a:bodyPr/>
          <a:lstStyle/>
          <a:p>
            <a:fld id="{6B5F444D-0093-4000-B8E6-DD168B57CC1E}" type="slidenum">
              <a:rPr lang="zh-TW" altLang="en-US" smtClean="0"/>
              <a:t>‹#›</a:t>
            </a:fld>
            <a:endParaRPr lang="zh-TW" altLang="en-US"/>
          </a:p>
        </p:txBody>
      </p:sp>
    </p:spTree>
    <p:extLst>
      <p:ext uri="{BB962C8B-B14F-4D97-AF65-F5344CB8AC3E}">
        <p14:creationId xmlns:p14="http://schemas.microsoft.com/office/powerpoint/2010/main" val="4161323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94D871-DA2E-44AD-BF85-F82718FD612C}"/>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1AF3CF7-3D71-4BE6-A554-E2683F6828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B8E2EC37-176A-478D-8E1E-381B0BE003C5}"/>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03B5991C-FA22-4DE9-9E0E-521EAFAA55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29987804-34FF-40A9-8E7D-139501D682FA}"/>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E477EBFA-0A58-42E8-86B0-7724AC770C45}"/>
              </a:ext>
            </a:extLst>
          </p:cNvPr>
          <p:cNvSpPr>
            <a:spLocks noGrp="1"/>
          </p:cNvSpPr>
          <p:nvPr>
            <p:ph type="dt" sz="half" idx="10"/>
          </p:nvPr>
        </p:nvSpPr>
        <p:spPr/>
        <p:txBody>
          <a:bodyPr/>
          <a:lstStyle/>
          <a:p>
            <a:fld id="{5F5DF542-352E-4DC1-BDB2-C50B3D497BB9}" type="datetimeFigureOut">
              <a:rPr lang="zh-TW" altLang="en-US" smtClean="0"/>
              <a:t>2018/12/13</a:t>
            </a:fld>
            <a:endParaRPr lang="zh-TW" altLang="en-US"/>
          </a:p>
        </p:txBody>
      </p:sp>
      <p:sp>
        <p:nvSpPr>
          <p:cNvPr id="8" name="頁尾版面配置區 7">
            <a:extLst>
              <a:ext uri="{FF2B5EF4-FFF2-40B4-BE49-F238E27FC236}">
                <a16:creationId xmlns:a16="http://schemas.microsoft.com/office/drawing/2014/main" id="{AE62B973-2715-49AC-9360-866E1D9C24D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AF064A10-A94F-447D-9417-E6BA8F4B00B4}"/>
              </a:ext>
            </a:extLst>
          </p:cNvPr>
          <p:cNvSpPr>
            <a:spLocks noGrp="1"/>
          </p:cNvSpPr>
          <p:nvPr>
            <p:ph type="sldNum" sz="quarter" idx="12"/>
          </p:nvPr>
        </p:nvSpPr>
        <p:spPr/>
        <p:txBody>
          <a:bodyPr/>
          <a:lstStyle/>
          <a:p>
            <a:fld id="{6B5F444D-0093-4000-B8E6-DD168B57CC1E}" type="slidenum">
              <a:rPr lang="zh-TW" altLang="en-US" smtClean="0"/>
              <a:t>‹#›</a:t>
            </a:fld>
            <a:endParaRPr lang="zh-TW" altLang="en-US"/>
          </a:p>
        </p:txBody>
      </p:sp>
    </p:spTree>
    <p:extLst>
      <p:ext uri="{BB962C8B-B14F-4D97-AF65-F5344CB8AC3E}">
        <p14:creationId xmlns:p14="http://schemas.microsoft.com/office/powerpoint/2010/main" val="3150439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EF387B-B4AE-4AA3-A5B3-27AA4E7C208E}"/>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01E25885-3B27-43FE-B548-DFDC8EB7E37B}"/>
              </a:ext>
            </a:extLst>
          </p:cNvPr>
          <p:cNvSpPr>
            <a:spLocks noGrp="1"/>
          </p:cNvSpPr>
          <p:nvPr>
            <p:ph type="dt" sz="half" idx="10"/>
          </p:nvPr>
        </p:nvSpPr>
        <p:spPr/>
        <p:txBody>
          <a:bodyPr/>
          <a:lstStyle/>
          <a:p>
            <a:fld id="{5F5DF542-352E-4DC1-BDB2-C50B3D497BB9}" type="datetimeFigureOut">
              <a:rPr lang="zh-TW" altLang="en-US" smtClean="0"/>
              <a:t>2018/12/13</a:t>
            </a:fld>
            <a:endParaRPr lang="zh-TW" altLang="en-US"/>
          </a:p>
        </p:txBody>
      </p:sp>
      <p:sp>
        <p:nvSpPr>
          <p:cNvPr id="4" name="頁尾版面配置區 3">
            <a:extLst>
              <a:ext uri="{FF2B5EF4-FFF2-40B4-BE49-F238E27FC236}">
                <a16:creationId xmlns:a16="http://schemas.microsoft.com/office/drawing/2014/main" id="{6F35803E-FC43-4BC7-831C-B71A53E78A60}"/>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19E6B665-28E8-4F9F-8F0A-83604D7A6674}"/>
              </a:ext>
            </a:extLst>
          </p:cNvPr>
          <p:cNvSpPr>
            <a:spLocks noGrp="1"/>
          </p:cNvSpPr>
          <p:nvPr>
            <p:ph type="sldNum" sz="quarter" idx="12"/>
          </p:nvPr>
        </p:nvSpPr>
        <p:spPr/>
        <p:txBody>
          <a:bodyPr/>
          <a:lstStyle/>
          <a:p>
            <a:fld id="{6B5F444D-0093-4000-B8E6-DD168B57CC1E}" type="slidenum">
              <a:rPr lang="zh-TW" altLang="en-US" smtClean="0"/>
              <a:t>‹#›</a:t>
            </a:fld>
            <a:endParaRPr lang="zh-TW" altLang="en-US"/>
          </a:p>
        </p:txBody>
      </p:sp>
    </p:spTree>
    <p:extLst>
      <p:ext uri="{BB962C8B-B14F-4D97-AF65-F5344CB8AC3E}">
        <p14:creationId xmlns:p14="http://schemas.microsoft.com/office/powerpoint/2010/main" val="742399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E28BFFCB-6F0A-4CE1-B427-27EC689C1A1D}"/>
              </a:ext>
            </a:extLst>
          </p:cNvPr>
          <p:cNvSpPr>
            <a:spLocks noGrp="1"/>
          </p:cNvSpPr>
          <p:nvPr>
            <p:ph type="dt" sz="half" idx="10"/>
          </p:nvPr>
        </p:nvSpPr>
        <p:spPr/>
        <p:txBody>
          <a:bodyPr/>
          <a:lstStyle/>
          <a:p>
            <a:fld id="{5F5DF542-352E-4DC1-BDB2-C50B3D497BB9}" type="datetimeFigureOut">
              <a:rPr lang="zh-TW" altLang="en-US" smtClean="0"/>
              <a:t>2018/12/13</a:t>
            </a:fld>
            <a:endParaRPr lang="zh-TW" altLang="en-US"/>
          </a:p>
        </p:txBody>
      </p:sp>
      <p:sp>
        <p:nvSpPr>
          <p:cNvPr id="3" name="頁尾版面配置區 2">
            <a:extLst>
              <a:ext uri="{FF2B5EF4-FFF2-40B4-BE49-F238E27FC236}">
                <a16:creationId xmlns:a16="http://schemas.microsoft.com/office/drawing/2014/main" id="{BD84419F-BD4F-4BF5-9B00-7BE191F8C932}"/>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8742843-B698-4DE9-884B-FD4AAE322B62}"/>
              </a:ext>
            </a:extLst>
          </p:cNvPr>
          <p:cNvSpPr>
            <a:spLocks noGrp="1"/>
          </p:cNvSpPr>
          <p:nvPr>
            <p:ph type="sldNum" sz="quarter" idx="12"/>
          </p:nvPr>
        </p:nvSpPr>
        <p:spPr/>
        <p:txBody>
          <a:bodyPr/>
          <a:lstStyle/>
          <a:p>
            <a:fld id="{6B5F444D-0093-4000-B8E6-DD168B57CC1E}" type="slidenum">
              <a:rPr lang="zh-TW" altLang="en-US" smtClean="0"/>
              <a:t>‹#›</a:t>
            </a:fld>
            <a:endParaRPr lang="zh-TW" altLang="en-US"/>
          </a:p>
        </p:txBody>
      </p:sp>
    </p:spTree>
    <p:extLst>
      <p:ext uri="{BB962C8B-B14F-4D97-AF65-F5344CB8AC3E}">
        <p14:creationId xmlns:p14="http://schemas.microsoft.com/office/powerpoint/2010/main" val="1098349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596979-FDE2-4B9B-82B1-D640F82C0F2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B56A318D-BD51-4154-86AF-531CBA1AD0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E7BC57EB-92E4-4074-A9B1-61805CB74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EF271FD2-4FC9-4D7E-8AAA-57F15F35C652}"/>
              </a:ext>
            </a:extLst>
          </p:cNvPr>
          <p:cNvSpPr>
            <a:spLocks noGrp="1"/>
          </p:cNvSpPr>
          <p:nvPr>
            <p:ph type="dt" sz="half" idx="10"/>
          </p:nvPr>
        </p:nvSpPr>
        <p:spPr/>
        <p:txBody>
          <a:bodyPr/>
          <a:lstStyle/>
          <a:p>
            <a:fld id="{5F5DF542-352E-4DC1-BDB2-C50B3D497BB9}" type="datetimeFigureOut">
              <a:rPr lang="zh-TW" altLang="en-US" smtClean="0"/>
              <a:t>2018/12/13</a:t>
            </a:fld>
            <a:endParaRPr lang="zh-TW" altLang="en-US"/>
          </a:p>
        </p:txBody>
      </p:sp>
      <p:sp>
        <p:nvSpPr>
          <p:cNvPr id="6" name="頁尾版面配置區 5">
            <a:extLst>
              <a:ext uri="{FF2B5EF4-FFF2-40B4-BE49-F238E27FC236}">
                <a16:creationId xmlns:a16="http://schemas.microsoft.com/office/drawing/2014/main" id="{ED8F54C6-293A-4970-A5FC-93FA0139808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4D982B0-F8BD-4A21-82EB-5EC1CC77E64E}"/>
              </a:ext>
            </a:extLst>
          </p:cNvPr>
          <p:cNvSpPr>
            <a:spLocks noGrp="1"/>
          </p:cNvSpPr>
          <p:nvPr>
            <p:ph type="sldNum" sz="quarter" idx="12"/>
          </p:nvPr>
        </p:nvSpPr>
        <p:spPr/>
        <p:txBody>
          <a:bodyPr/>
          <a:lstStyle/>
          <a:p>
            <a:fld id="{6B5F444D-0093-4000-B8E6-DD168B57CC1E}" type="slidenum">
              <a:rPr lang="zh-TW" altLang="en-US" smtClean="0"/>
              <a:t>‹#›</a:t>
            </a:fld>
            <a:endParaRPr lang="zh-TW" altLang="en-US"/>
          </a:p>
        </p:txBody>
      </p:sp>
    </p:spTree>
    <p:extLst>
      <p:ext uri="{BB962C8B-B14F-4D97-AF65-F5344CB8AC3E}">
        <p14:creationId xmlns:p14="http://schemas.microsoft.com/office/powerpoint/2010/main" val="1283935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6D7170-C335-41FD-81F0-AD6CAFE952B0}"/>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1BBA3F04-E0EE-4F3C-ACB5-B186E33215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95358CE0-F325-460C-8C0D-DC0AD017A3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E102195-26A2-4C8B-9469-D100C74629C3}"/>
              </a:ext>
            </a:extLst>
          </p:cNvPr>
          <p:cNvSpPr>
            <a:spLocks noGrp="1"/>
          </p:cNvSpPr>
          <p:nvPr>
            <p:ph type="dt" sz="half" idx="10"/>
          </p:nvPr>
        </p:nvSpPr>
        <p:spPr/>
        <p:txBody>
          <a:bodyPr/>
          <a:lstStyle/>
          <a:p>
            <a:fld id="{5F5DF542-352E-4DC1-BDB2-C50B3D497BB9}" type="datetimeFigureOut">
              <a:rPr lang="zh-TW" altLang="en-US" smtClean="0"/>
              <a:t>2018/12/13</a:t>
            </a:fld>
            <a:endParaRPr lang="zh-TW" altLang="en-US"/>
          </a:p>
        </p:txBody>
      </p:sp>
      <p:sp>
        <p:nvSpPr>
          <p:cNvPr id="6" name="頁尾版面配置區 5">
            <a:extLst>
              <a:ext uri="{FF2B5EF4-FFF2-40B4-BE49-F238E27FC236}">
                <a16:creationId xmlns:a16="http://schemas.microsoft.com/office/drawing/2014/main" id="{9C039D28-719D-4B98-93EE-CC13FFAFDA6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6DF03B1-4C5C-447B-A893-E1214B45B260}"/>
              </a:ext>
            </a:extLst>
          </p:cNvPr>
          <p:cNvSpPr>
            <a:spLocks noGrp="1"/>
          </p:cNvSpPr>
          <p:nvPr>
            <p:ph type="sldNum" sz="quarter" idx="12"/>
          </p:nvPr>
        </p:nvSpPr>
        <p:spPr/>
        <p:txBody>
          <a:bodyPr/>
          <a:lstStyle/>
          <a:p>
            <a:fld id="{6B5F444D-0093-4000-B8E6-DD168B57CC1E}" type="slidenum">
              <a:rPr lang="zh-TW" altLang="en-US" smtClean="0"/>
              <a:t>‹#›</a:t>
            </a:fld>
            <a:endParaRPr lang="zh-TW" altLang="en-US"/>
          </a:p>
        </p:txBody>
      </p:sp>
    </p:spTree>
    <p:extLst>
      <p:ext uri="{BB962C8B-B14F-4D97-AF65-F5344CB8AC3E}">
        <p14:creationId xmlns:p14="http://schemas.microsoft.com/office/powerpoint/2010/main" val="14833128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77A099-8616-40F0-9D8C-D269240B0D64}"/>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81199C76-ECD5-4B7A-92C9-B0B32C9CF2A2}"/>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FEB6495-8B87-442A-8F4D-15D88C15161F}"/>
              </a:ext>
            </a:extLst>
          </p:cNvPr>
          <p:cNvSpPr>
            <a:spLocks noGrp="1"/>
          </p:cNvSpPr>
          <p:nvPr>
            <p:ph type="dt" sz="half" idx="10"/>
          </p:nvPr>
        </p:nvSpPr>
        <p:spPr/>
        <p:txBody>
          <a:bodyPr/>
          <a:lstStyle/>
          <a:p>
            <a:fld id="{5F5DF542-352E-4DC1-BDB2-C50B3D497BB9}" type="datetimeFigureOut">
              <a:rPr lang="zh-TW" altLang="en-US" smtClean="0"/>
              <a:t>2018/12/13</a:t>
            </a:fld>
            <a:endParaRPr lang="zh-TW" altLang="en-US"/>
          </a:p>
        </p:txBody>
      </p:sp>
      <p:sp>
        <p:nvSpPr>
          <p:cNvPr id="5" name="頁尾版面配置區 4">
            <a:extLst>
              <a:ext uri="{FF2B5EF4-FFF2-40B4-BE49-F238E27FC236}">
                <a16:creationId xmlns:a16="http://schemas.microsoft.com/office/drawing/2014/main" id="{0045DB7D-C54A-4AF5-A5EE-CB65E73CB57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472D773-527E-4C3E-BE66-8E830010A233}"/>
              </a:ext>
            </a:extLst>
          </p:cNvPr>
          <p:cNvSpPr>
            <a:spLocks noGrp="1"/>
          </p:cNvSpPr>
          <p:nvPr>
            <p:ph type="sldNum" sz="quarter" idx="12"/>
          </p:nvPr>
        </p:nvSpPr>
        <p:spPr/>
        <p:txBody>
          <a:bodyPr/>
          <a:lstStyle/>
          <a:p>
            <a:fld id="{6B5F444D-0093-4000-B8E6-DD168B57CC1E}" type="slidenum">
              <a:rPr lang="zh-TW" altLang="en-US" smtClean="0"/>
              <a:t>‹#›</a:t>
            </a:fld>
            <a:endParaRPr lang="zh-TW" altLang="en-US"/>
          </a:p>
        </p:txBody>
      </p:sp>
    </p:spTree>
    <p:extLst>
      <p:ext uri="{BB962C8B-B14F-4D97-AF65-F5344CB8AC3E}">
        <p14:creationId xmlns:p14="http://schemas.microsoft.com/office/powerpoint/2010/main" val="17437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7192C48-4CF0-43DF-B1D9-7AE108F1FF10}"/>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58E71A1C-DEDE-4298-B22F-9F4E171CDF25}"/>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FDECD43-D797-432A-94FB-BC3B82BD28D4}"/>
              </a:ext>
            </a:extLst>
          </p:cNvPr>
          <p:cNvSpPr>
            <a:spLocks noGrp="1"/>
          </p:cNvSpPr>
          <p:nvPr>
            <p:ph type="dt" sz="half" idx="10"/>
          </p:nvPr>
        </p:nvSpPr>
        <p:spPr/>
        <p:txBody>
          <a:bodyPr/>
          <a:lstStyle/>
          <a:p>
            <a:fld id="{5F5DF542-352E-4DC1-BDB2-C50B3D497BB9}" type="datetimeFigureOut">
              <a:rPr lang="zh-TW" altLang="en-US" smtClean="0"/>
              <a:t>2018/12/13</a:t>
            </a:fld>
            <a:endParaRPr lang="zh-TW" altLang="en-US"/>
          </a:p>
        </p:txBody>
      </p:sp>
      <p:sp>
        <p:nvSpPr>
          <p:cNvPr id="5" name="頁尾版面配置區 4">
            <a:extLst>
              <a:ext uri="{FF2B5EF4-FFF2-40B4-BE49-F238E27FC236}">
                <a16:creationId xmlns:a16="http://schemas.microsoft.com/office/drawing/2014/main" id="{7C1DFCA7-2162-4A23-81B7-9100C72D3CD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AE82433-2FD7-4916-8CD0-68303A46A5BB}"/>
              </a:ext>
            </a:extLst>
          </p:cNvPr>
          <p:cNvSpPr>
            <a:spLocks noGrp="1"/>
          </p:cNvSpPr>
          <p:nvPr>
            <p:ph type="sldNum" sz="quarter" idx="12"/>
          </p:nvPr>
        </p:nvSpPr>
        <p:spPr/>
        <p:txBody>
          <a:bodyPr/>
          <a:lstStyle/>
          <a:p>
            <a:fld id="{6B5F444D-0093-4000-B8E6-DD168B57CC1E}" type="slidenum">
              <a:rPr lang="zh-TW" altLang="en-US" smtClean="0"/>
              <a:t>‹#›</a:t>
            </a:fld>
            <a:endParaRPr lang="zh-TW" altLang="en-US"/>
          </a:p>
        </p:txBody>
      </p:sp>
    </p:spTree>
    <p:extLst>
      <p:ext uri="{BB962C8B-B14F-4D97-AF65-F5344CB8AC3E}">
        <p14:creationId xmlns:p14="http://schemas.microsoft.com/office/powerpoint/2010/main" val="3098848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E93D19E-F13C-4DCC-8CB9-047605E442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5A67B58-0B47-4AD1-A092-E17012E8B8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AFCCF8C-B2FF-4CDE-9FCE-5006E0DBD6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5DF542-352E-4DC1-BDB2-C50B3D497BB9}" type="datetimeFigureOut">
              <a:rPr lang="zh-TW" altLang="en-US" smtClean="0"/>
              <a:t>2018/12/13</a:t>
            </a:fld>
            <a:endParaRPr lang="zh-TW" altLang="en-US"/>
          </a:p>
        </p:txBody>
      </p:sp>
      <p:sp>
        <p:nvSpPr>
          <p:cNvPr id="5" name="頁尾版面配置區 4">
            <a:extLst>
              <a:ext uri="{FF2B5EF4-FFF2-40B4-BE49-F238E27FC236}">
                <a16:creationId xmlns:a16="http://schemas.microsoft.com/office/drawing/2014/main" id="{5C1D80AC-AC88-491C-BC16-2FF7F46D36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800101E1-CD51-4D62-B8CE-2B71FD190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5F444D-0093-4000-B8E6-DD168B57CC1E}" type="slidenum">
              <a:rPr lang="zh-TW" altLang="en-US" smtClean="0"/>
              <a:t>‹#›</a:t>
            </a:fld>
            <a:endParaRPr lang="zh-TW" altLang="en-US"/>
          </a:p>
        </p:txBody>
      </p:sp>
    </p:spTree>
    <p:extLst>
      <p:ext uri="{BB962C8B-B14F-4D97-AF65-F5344CB8AC3E}">
        <p14:creationId xmlns:p14="http://schemas.microsoft.com/office/powerpoint/2010/main" val="6027248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0E6CA2-61AB-40E1-B080-FBB86432CF60}"/>
              </a:ext>
            </a:extLst>
          </p:cNvPr>
          <p:cNvSpPr>
            <a:spLocks noGrp="1"/>
          </p:cNvSpPr>
          <p:nvPr>
            <p:ph type="ctrTitle"/>
          </p:nvPr>
        </p:nvSpPr>
        <p:spPr/>
        <p:txBody>
          <a:bodyPr/>
          <a:lstStyle/>
          <a:p>
            <a:r>
              <a:rPr lang="en-US" altLang="zh-TW" dirty="0"/>
              <a:t>Python Network Programming</a:t>
            </a:r>
            <a:endParaRPr lang="zh-TW" altLang="en-US" dirty="0"/>
          </a:p>
        </p:txBody>
      </p:sp>
      <p:sp>
        <p:nvSpPr>
          <p:cNvPr id="3" name="副標題 2">
            <a:extLst>
              <a:ext uri="{FF2B5EF4-FFF2-40B4-BE49-F238E27FC236}">
                <a16:creationId xmlns:a16="http://schemas.microsoft.com/office/drawing/2014/main" id="{A0B2A828-FF14-43C4-A6CE-2F8B91E913ED}"/>
              </a:ext>
            </a:extLst>
          </p:cNvPr>
          <p:cNvSpPr>
            <a:spLocks noGrp="1"/>
          </p:cNvSpPr>
          <p:nvPr>
            <p:ph type="subTitle" idx="1"/>
          </p:nvPr>
        </p:nvSpPr>
        <p:spPr/>
        <p:txBody>
          <a:bodyPr/>
          <a:lstStyle/>
          <a:p>
            <a:r>
              <a:rPr lang="en-US" altLang="zh-TW" dirty="0"/>
              <a:t>Tien-</a:t>
            </a:r>
            <a:r>
              <a:rPr lang="en-US" altLang="zh-TW" dirty="0" err="1"/>
              <a:t>Hsiung</a:t>
            </a:r>
            <a:r>
              <a:rPr lang="en-US" altLang="zh-TW" dirty="0"/>
              <a:t> Weng</a:t>
            </a:r>
          </a:p>
          <a:p>
            <a:endParaRPr lang="zh-TW" altLang="en-US" dirty="0"/>
          </a:p>
        </p:txBody>
      </p:sp>
    </p:spTree>
    <p:extLst>
      <p:ext uri="{BB962C8B-B14F-4D97-AF65-F5344CB8AC3E}">
        <p14:creationId xmlns:p14="http://schemas.microsoft.com/office/powerpoint/2010/main" val="2652904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84DA569-4FCE-41B2-B284-FCF5067D4EDD}"/>
              </a:ext>
            </a:extLst>
          </p:cNvPr>
          <p:cNvSpPr>
            <a:spLocks noGrp="1"/>
          </p:cNvSpPr>
          <p:nvPr>
            <p:ph type="title"/>
          </p:nvPr>
        </p:nvSpPr>
        <p:spPr/>
        <p:txBody>
          <a:bodyPr/>
          <a:lstStyle/>
          <a:p>
            <a:r>
              <a:rPr lang="en-US" altLang="zh-TW" dirty="0"/>
              <a:t>UDP Connection less</a:t>
            </a:r>
            <a:endParaRPr lang="zh-TW" altLang="en-US" dirty="0"/>
          </a:p>
        </p:txBody>
      </p:sp>
      <p:sp>
        <p:nvSpPr>
          <p:cNvPr id="3" name="內容版面配置區 2">
            <a:extLst>
              <a:ext uri="{FF2B5EF4-FFF2-40B4-BE49-F238E27FC236}">
                <a16:creationId xmlns:a16="http://schemas.microsoft.com/office/drawing/2014/main" id="{1D17B8ED-6737-466F-8490-F19B4838A18C}"/>
              </a:ext>
            </a:extLst>
          </p:cNvPr>
          <p:cNvSpPr>
            <a:spLocks noGrp="1"/>
          </p:cNvSpPr>
          <p:nvPr>
            <p:ph idx="1"/>
          </p:nvPr>
        </p:nvSpPr>
        <p:spPr/>
        <p:txBody>
          <a:bodyPr/>
          <a:lstStyle/>
          <a:p>
            <a:endParaRPr lang="zh-TW" altLang="en-US"/>
          </a:p>
        </p:txBody>
      </p:sp>
      <p:grpSp>
        <p:nvGrpSpPr>
          <p:cNvPr id="4" name="Group 8">
            <a:extLst>
              <a:ext uri="{FF2B5EF4-FFF2-40B4-BE49-F238E27FC236}">
                <a16:creationId xmlns:a16="http://schemas.microsoft.com/office/drawing/2014/main" id="{E95E5202-C438-45BF-8737-0DBAC034948B}"/>
              </a:ext>
            </a:extLst>
          </p:cNvPr>
          <p:cNvGrpSpPr>
            <a:grpSpLocks/>
          </p:cNvGrpSpPr>
          <p:nvPr/>
        </p:nvGrpSpPr>
        <p:grpSpPr bwMode="auto">
          <a:xfrm>
            <a:off x="2781301" y="1825625"/>
            <a:ext cx="1828801" cy="457200"/>
            <a:chOff x="1152" y="1056"/>
            <a:chExt cx="1152" cy="288"/>
          </a:xfrm>
        </p:grpSpPr>
        <p:sp>
          <p:nvSpPr>
            <p:cNvPr id="40" name="Rectangle 5" descr="Paper bag">
              <a:extLst>
                <a:ext uri="{FF2B5EF4-FFF2-40B4-BE49-F238E27FC236}">
                  <a16:creationId xmlns:a16="http://schemas.microsoft.com/office/drawing/2014/main" id="{EBD3B35E-EEB9-4B44-A9E1-AE16253188B3}"/>
                </a:ext>
              </a:extLst>
            </p:cNvPr>
            <p:cNvSpPr>
              <a:spLocks noChangeArrowheads="1"/>
            </p:cNvSpPr>
            <p:nvPr/>
          </p:nvSpPr>
          <p:spPr bwMode="auto">
            <a:xfrm>
              <a:off x="1192" y="1063"/>
              <a:ext cx="1033" cy="278"/>
            </a:xfrm>
            <a:prstGeom prst="rect">
              <a:avLst/>
            </a:prstGeom>
            <a:noFill/>
            <a:ln w="38100">
              <a:solidFill>
                <a:schemeClr val="tx1"/>
              </a:solidFill>
              <a:miter lim="800000"/>
              <a:headEnd/>
              <a:tailEn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0"/>
                </a:spcBef>
                <a:buFontTx/>
                <a:buNone/>
              </a:pPr>
              <a:endParaRPr lang="en-US" altLang="en-US" sz="2400">
                <a:latin typeface="Arial" panose="020B0604020202020204" pitchFamily="34" charset="0"/>
              </a:endParaRPr>
            </a:p>
          </p:txBody>
        </p:sp>
        <p:sp>
          <p:nvSpPr>
            <p:cNvPr id="41" name="Text Box 6" descr="Paper bag">
              <a:extLst>
                <a:ext uri="{FF2B5EF4-FFF2-40B4-BE49-F238E27FC236}">
                  <a16:creationId xmlns:a16="http://schemas.microsoft.com/office/drawing/2014/main" id="{E42A03FC-7C6D-47EE-8F47-B331F8ABFD0F}"/>
                </a:ext>
              </a:extLst>
            </p:cNvPr>
            <p:cNvSpPr txBox="1">
              <a:spLocks noChangeArrowheads="1"/>
            </p:cNvSpPr>
            <p:nvPr/>
          </p:nvSpPr>
          <p:spPr bwMode="auto">
            <a:xfrm>
              <a:off x="1152" y="1056"/>
              <a:ext cx="1152" cy="288"/>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2400">
                  <a:latin typeface="Arial" panose="020B0604020202020204" pitchFamily="34" charset="0"/>
                </a:rPr>
                <a:t>socket()</a:t>
              </a:r>
            </a:p>
          </p:txBody>
        </p:sp>
      </p:grpSp>
      <p:grpSp>
        <p:nvGrpSpPr>
          <p:cNvPr id="5" name="Group 9">
            <a:extLst>
              <a:ext uri="{FF2B5EF4-FFF2-40B4-BE49-F238E27FC236}">
                <a16:creationId xmlns:a16="http://schemas.microsoft.com/office/drawing/2014/main" id="{388E2B4C-9A98-4F49-9C85-A23346C807F6}"/>
              </a:ext>
            </a:extLst>
          </p:cNvPr>
          <p:cNvGrpSpPr>
            <a:grpSpLocks/>
          </p:cNvGrpSpPr>
          <p:nvPr/>
        </p:nvGrpSpPr>
        <p:grpSpPr bwMode="auto">
          <a:xfrm>
            <a:off x="2781301" y="2587625"/>
            <a:ext cx="1828801" cy="457200"/>
            <a:chOff x="1152" y="1056"/>
            <a:chExt cx="1152" cy="288"/>
          </a:xfrm>
        </p:grpSpPr>
        <p:sp>
          <p:nvSpPr>
            <p:cNvPr id="38" name="Rectangle 10" descr="Paper bag">
              <a:extLst>
                <a:ext uri="{FF2B5EF4-FFF2-40B4-BE49-F238E27FC236}">
                  <a16:creationId xmlns:a16="http://schemas.microsoft.com/office/drawing/2014/main" id="{1CD33741-1A00-43A2-80DB-5AD5649E6158}"/>
                </a:ext>
              </a:extLst>
            </p:cNvPr>
            <p:cNvSpPr>
              <a:spLocks noChangeArrowheads="1"/>
            </p:cNvSpPr>
            <p:nvPr/>
          </p:nvSpPr>
          <p:spPr bwMode="auto">
            <a:xfrm>
              <a:off x="1192" y="1063"/>
              <a:ext cx="1033" cy="278"/>
            </a:xfrm>
            <a:prstGeom prst="rect">
              <a:avLst/>
            </a:prstGeom>
            <a:noFill/>
            <a:ln w="38100">
              <a:solidFill>
                <a:schemeClr val="tx1"/>
              </a:solidFill>
              <a:miter lim="800000"/>
              <a:headEnd/>
              <a:tailEn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0"/>
                </a:spcBef>
                <a:buFontTx/>
                <a:buNone/>
              </a:pPr>
              <a:endParaRPr lang="en-US" altLang="en-US" sz="2400">
                <a:latin typeface="Arial" panose="020B0604020202020204" pitchFamily="34" charset="0"/>
              </a:endParaRPr>
            </a:p>
          </p:txBody>
        </p:sp>
        <p:sp>
          <p:nvSpPr>
            <p:cNvPr id="39" name="Text Box 11" descr="Paper bag">
              <a:extLst>
                <a:ext uri="{FF2B5EF4-FFF2-40B4-BE49-F238E27FC236}">
                  <a16:creationId xmlns:a16="http://schemas.microsoft.com/office/drawing/2014/main" id="{8DBA8F58-C69F-4285-9298-94BF891EB0CB}"/>
                </a:ext>
              </a:extLst>
            </p:cNvPr>
            <p:cNvSpPr txBox="1">
              <a:spLocks noChangeArrowheads="1"/>
            </p:cNvSpPr>
            <p:nvPr/>
          </p:nvSpPr>
          <p:spPr bwMode="auto">
            <a:xfrm>
              <a:off x="1152" y="1056"/>
              <a:ext cx="1152" cy="288"/>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2400">
                  <a:latin typeface="Arial" panose="020B0604020202020204" pitchFamily="34" charset="0"/>
                </a:rPr>
                <a:t>bind()</a:t>
              </a:r>
            </a:p>
          </p:txBody>
        </p:sp>
      </p:grpSp>
      <p:grpSp>
        <p:nvGrpSpPr>
          <p:cNvPr id="6" name="Group 12">
            <a:extLst>
              <a:ext uri="{FF2B5EF4-FFF2-40B4-BE49-F238E27FC236}">
                <a16:creationId xmlns:a16="http://schemas.microsoft.com/office/drawing/2014/main" id="{3D215E80-3C19-4806-9A7E-CB099B28EF98}"/>
              </a:ext>
            </a:extLst>
          </p:cNvPr>
          <p:cNvGrpSpPr>
            <a:grpSpLocks/>
          </p:cNvGrpSpPr>
          <p:nvPr/>
        </p:nvGrpSpPr>
        <p:grpSpPr bwMode="auto">
          <a:xfrm>
            <a:off x="2781301" y="3349625"/>
            <a:ext cx="1828801" cy="457200"/>
            <a:chOff x="1152" y="1056"/>
            <a:chExt cx="1152" cy="288"/>
          </a:xfrm>
        </p:grpSpPr>
        <p:sp>
          <p:nvSpPr>
            <p:cNvPr id="36" name="Rectangle 13" descr="Paper bag">
              <a:extLst>
                <a:ext uri="{FF2B5EF4-FFF2-40B4-BE49-F238E27FC236}">
                  <a16:creationId xmlns:a16="http://schemas.microsoft.com/office/drawing/2014/main" id="{36963FEB-675B-4D84-BDE6-BDE3C20D8242}"/>
                </a:ext>
              </a:extLst>
            </p:cNvPr>
            <p:cNvSpPr>
              <a:spLocks noChangeArrowheads="1"/>
            </p:cNvSpPr>
            <p:nvPr/>
          </p:nvSpPr>
          <p:spPr bwMode="auto">
            <a:xfrm>
              <a:off x="1192" y="1063"/>
              <a:ext cx="1033" cy="278"/>
            </a:xfrm>
            <a:prstGeom prst="rect">
              <a:avLst/>
            </a:prstGeom>
            <a:noFill/>
            <a:ln w="38100">
              <a:solidFill>
                <a:schemeClr val="tx1"/>
              </a:solidFill>
              <a:miter lim="800000"/>
              <a:headEnd/>
              <a:tailEn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0"/>
                </a:spcBef>
                <a:buFontTx/>
                <a:buNone/>
              </a:pPr>
              <a:endParaRPr lang="en-US" altLang="en-US" sz="2400">
                <a:latin typeface="Arial" panose="020B0604020202020204" pitchFamily="34" charset="0"/>
              </a:endParaRPr>
            </a:p>
          </p:txBody>
        </p:sp>
        <p:sp>
          <p:nvSpPr>
            <p:cNvPr id="37" name="Text Box 14" descr="Paper bag">
              <a:extLst>
                <a:ext uri="{FF2B5EF4-FFF2-40B4-BE49-F238E27FC236}">
                  <a16:creationId xmlns:a16="http://schemas.microsoft.com/office/drawing/2014/main" id="{D5D6FBD5-2F66-450F-BCEB-DE5966A5CE91}"/>
                </a:ext>
              </a:extLst>
            </p:cNvPr>
            <p:cNvSpPr txBox="1">
              <a:spLocks noChangeArrowheads="1"/>
            </p:cNvSpPr>
            <p:nvPr/>
          </p:nvSpPr>
          <p:spPr bwMode="auto">
            <a:xfrm>
              <a:off x="1152" y="1056"/>
              <a:ext cx="1152" cy="288"/>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2400">
                  <a:latin typeface="Arial" panose="020B0604020202020204" pitchFamily="34" charset="0"/>
                </a:rPr>
                <a:t>recvfrom()</a:t>
              </a:r>
            </a:p>
          </p:txBody>
        </p:sp>
      </p:grpSp>
      <p:sp>
        <p:nvSpPr>
          <p:cNvPr id="7" name="Rectangle 16" descr="Paper bag">
            <a:extLst>
              <a:ext uri="{FF2B5EF4-FFF2-40B4-BE49-F238E27FC236}">
                <a16:creationId xmlns:a16="http://schemas.microsoft.com/office/drawing/2014/main" id="{62057C34-A96B-4992-AE99-250FA90C4F3E}"/>
              </a:ext>
            </a:extLst>
          </p:cNvPr>
          <p:cNvSpPr>
            <a:spLocks noChangeArrowheads="1"/>
          </p:cNvSpPr>
          <p:nvPr/>
        </p:nvSpPr>
        <p:spPr bwMode="auto">
          <a:xfrm>
            <a:off x="2844800" y="4884737"/>
            <a:ext cx="1639888" cy="441325"/>
          </a:xfrm>
          <a:prstGeom prst="rect">
            <a:avLst/>
          </a:prstGeom>
          <a:noFill/>
          <a:ln w="38100">
            <a:solidFill>
              <a:schemeClr val="tx1"/>
            </a:solidFill>
            <a:miter lim="800000"/>
            <a:headEnd/>
            <a:tailEn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0"/>
              </a:spcBef>
              <a:buFontTx/>
              <a:buNone/>
            </a:pPr>
            <a:endParaRPr lang="en-US" altLang="en-US" sz="2400">
              <a:latin typeface="Arial" panose="020B0604020202020204" pitchFamily="34" charset="0"/>
            </a:endParaRPr>
          </a:p>
        </p:txBody>
      </p:sp>
      <p:sp>
        <p:nvSpPr>
          <p:cNvPr id="8" name="Text Box 17" descr="Paper bag">
            <a:extLst>
              <a:ext uri="{FF2B5EF4-FFF2-40B4-BE49-F238E27FC236}">
                <a16:creationId xmlns:a16="http://schemas.microsoft.com/office/drawing/2014/main" id="{F00DF6E2-D4E5-4B03-86C6-3AF48B39A2AD}"/>
              </a:ext>
            </a:extLst>
          </p:cNvPr>
          <p:cNvSpPr txBox="1">
            <a:spLocks noChangeArrowheads="1"/>
          </p:cNvSpPr>
          <p:nvPr/>
        </p:nvSpPr>
        <p:spPr bwMode="auto">
          <a:xfrm>
            <a:off x="2933700" y="4873624"/>
            <a:ext cx="1447800" cy="457200"/>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2400">
                <a:latin typeface="Arial" panose="020B0604020202020204" pitchFamily="34" charset="0"/>
              </a:rPr>
              <a:t>sendto()</a:t>
            </a:r>
          </a:p>
        </p:txBody>
      </p:sp>
      <p:sp>
        <p:nvSpPr>
          <p:cNvPr id="9" name="Line 18">
            <a:extLst>
              <a:ext uri="{FF2B5EF4-FFF2-40B4-BE49-F238E27FC236}">
                <a16:creationId xmlns:a16="http://schemas.microsoft.com/office/drawing/2014/main" id="{FB451F11-28FF-41F4-AB94-EBD6A5348917}"/>
              </a:ext>
            </a:extLst>
          </p:cNvPr>
          <p:cNvSpPr>
            <a:spLocks noChangeShapeType="1"/>
          </p:cNvSpPr>
          <p:nvPr/>
        </p:nvSpPr>
        <p:spPr bwMode="auto">
          <a:xfrm>
            <a:off x="3619500" y="2282824"/>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endParaRPr lang="zh-TW" altLang="en-US"/>
          </a:p>
        </p:txBody>
      </p:sp>
      <p:sp>
        <p:nvSpPr>
          <p:cNvPr id="10" name="Line 19">
            <a:extLst>
              <a:ext uri="{FF2B5EF4-FFF2-40B4-BE49-F238E27FC236}">
                <a16:creationId xmlns:a16="http://schemas.microsoft.com/office/drawing/2014/main" id="{62B26059-E4C8-4FE5-B826-A477E66874CA}"/>
              </a:ext>
            </a:extLst>
          </p:cNvPr>
          <p:cNvSpPr>
            <a:spLocks noChangeShapeType="1"/>
          </p:cNvSpPr>
          <p:nvPr/>
        </p:nvSpPr>
        <p:spPr bwMode="auto">
          <a:xfrm>
            <a:off x="3619500" y="3044824"/>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endParaRPr lang="zh-TW" altLang="en-US"/>
          </a:p>
        </p:txBody>
      </p:sp>
      <p:sp>
        <p:nvSpPr>
          <p:cNvPr id="11" name="Line 20">
            <a:extLst>
              <a:ext uri="{FF2B5EF4-FFF2-40B4-BE49-F238E27FC236}">
                <a16:creationId xmlns:a16="http://schemas.microsoft.com/office/drawing/2014/main" id="{63599B7C-83A8-4C6C-A163-CE9E352CE7B0}"/>
              </a:ext>
            </a:extLst>
          </p:cNvPr>
          <p:cNvSpPr>
            <a:spLocks noChangeShapeType="1"/>
          </p:cNvSpPr>
          <p:nvPr/>
        </p:nvSpPr>
        <p:spPr bwMode="auto">
          <a:xfrm>
            <a:off x="3619500" y="3806824"/>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endParaRPr lang="zh-TW" altLang="en-US"/>
          </a:p>
        </p:txBody>
      </p:sp>
      <p:sp>
        <p:nvSpPr>
          <p:cNvPr id="12" name="Line 21">
            <a:extLst>
              <a:ext uri="{FF2B5EF4-FFF2-40B4-BE49-F238E27FC236}">
                <a16:creationId xmlns:a16="http://schemas.microsoft.com/office/drawing/2014/main" id="{54C4E0C2-6190-41A6-8099-C2471032C665}"/>
              </a:ext>
            </a:extLst>
          </p:cNvPr>
          <p:cNvSpPr>
            <a:spLocks noChangeShapeType="1"/>
          </p:cNvSpPr>
          <p:nvPr/>
        </p:nvSpPr>
        <p:spPr bwMode="auto">
          <a:xfrm>
            <a:off x="3619500" y="4568824"/>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endParaRPr lang="zh-TW" altLang="en-US"/>
          </a:p>
        </p:txBody>
      </p:sp>
      <p:sp>
        <p:nvSpPr>
          <p:cNvPr id="13" name="Text Box 23" descr="Paper bag">
            <a:extLst>
              <a:ext uri="{FF2B5EF4-FFF2-40B4-BE49-F238E27FC236}">
                <a16:creationId xmlns:a16="http://schemas.microsoft.com/office/drawing/2014/main" id="{1E0D6881-ED93-4E10-B671-831224A171BA}"/>
              </a:ext>
            </a:extLst>
          </p:cNvPr>
          <p:cNvSpPr txBox="1">
            <a:spLocks noChangeArrowheads="1"/>
          </p:cNvSpPr>
          <p:nvPr/>
        </p:nvSpPr>
        <p:spPr bwMode="auto">
          <a:xfrm>
            <a:off x="2857500" y="4111624"/>
            <a:ext cx="1676400" cy="457200"/>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2400" i="1">
                <a:latin typeface="Arial" panose="020B0604020202020204" pitchFamily="34" charset="0"/>
              </a:rPr>
              <a:t>[blocked]</a:t>
            </a:r>
          </a:p>
        </p:txBody>
      </p:sp>
      <p:cxnSp>
        <p:nvCxnSpPr>
          <p:cNvPr id="14" name="AutoShape 25">
            <a:extLst>
              <a:ext uri="{FF2B5EF4-FFF2-40B4-BE49-F238E27FC236}">
                <a16:creationId xmlns:a16="http://schemas.microsoft.com/office/drawing/2014/main" id="{50AE8757-C058-4773-A609-F2FE768DB38D}"/>
              </a:ext>
            </a:extLst>
          </p:cNvPr>
          <p:cNvCxnSpPr>
            <a:cxnSpLocks noChangeShapeType="1"/>
            <a:endCxn id="37" idx="1"/>
          </p:cNvCxnSpPr>
          <p:nvPr/>
        </p:nvCxnSpPr>
        <p:spPr bwMode="auto">
          <a:xfrm rot="5400000" flipH="1">
            <a:off x="2324100" y="4035424"/>
            <a:ext cx="1752600" cy="838200"/>
          </a:xfrm>
          <a:prstGeom prst="bentConnector4">
            <a:avLst>
              <a:gd name="adj1" fmla="val -20292"/>
              <a:gd name="adj2" fmla="val 127273"/>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 Box 26" descr="Paper bag">
            <a:extLst>
              <a:ext uri="{FF2B5EF4-FFF2-40B4-BE49-F238E27FC236}">
                <a16:creationId xmlns:a16="http://schemas.microsoft.com/office/drawing/2014/main" id="{7F362E12-0524-44F1-B159-CFF40D9CCD01}"/>
              </a:ext>
            </a:extLst>
          </p:cNvPr>
          <p:cNvSpPr txBox="1">
            <a:spLocks noChangeArrowheads="1"/>
          </p:cNvSpPr>
          <p:nvPr/>
        </p:nvSpPr>
        <p:spPr bwMode="auto">
          <a:xfrm>
            <a:off x="2628900" y="6016624"/>
            <a:ext cx="2057400" cy="457200"/>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2400">
                <a:latin typeface="Arial" panose="020B0604020202020204" pitchFamily="34" charset="0"/>
              </a:rPr>
              <a:t>SERVER</a:t>
            </a:r>
          </a:p>
        </p:txBody>
      </p:sp>
      <p:grpSp>
        <p:nvGrpSpPr>
          <p:cNvPr id="16" name="Group 27">
            <a:extLst>
              <a:ext uri="{FF2B5EF4-FFF2-40B4-BE49-F238E27FC236}">
                <a16:creationId xmlns:a16="http://schemas.microsoft.com/office/drawing/2014/main" id="{6248FED2-F9A4-4E72-9E3C-02CA3D01E6FB}"/>
              </a:ext>
            </a:extLst>
          </p:cNvPr>
          <p:cNvGrpSpPr>
            <a:grpSpLocks/>
          </p:cNvGrpSpPr>
          <p:nvPr/>
        </p:nvGrpSpPr>
        <p:grpSpPr bwMode="auto">
          <a:xfrm>
            <a:off x="7048501" y="1825625"/>
            <a:ext cx="1828801" cy="457200"/>
            <a:chOff x="1152" y="1056"/>
            <a:chExt cx="1152" cy="288"/>
          </a:xfrm>
        </p:grpSpPr>
        <p:sp>
          <p:nvSpPr>
            <p:cNvPr id="34" name="Rectangle 28" descr="Paper bag">
              <a:extLst>
                <a:ext uri="{FF2B5EF4-FFF2-40B4-BE49-F238E27FC236}">
                  <a16:creationId xmlns:a16="http://schemas.microsoft.com/office/drawing/2014/main" id="{5EB02C18-ED6B-4B63-A85E-E9E1C598CDC1}"/>
                </a:ext>
              </a:extLst>
            </p:cNvPr>
            <p:cNvSpPr>
              <a:spLocks noChangeArrowheads="1"/>
            </p:cNvSpPr>
            <p:nvPr/>
          </p:nvSpPr>
          <p:spPr bwMode="auto">
            <a:xfrm>
              <a:off x="1192" y="1063"/>
              <a:ext cx="1033" cy="278"/>
            </a:xfrm>
            <a:prstGeom prst="rect">
              <a:avLst/>
            </a:prstGeom>
            <a:noFill/>
            <a:ln w="38100">
              <a:solidFill>
                <a:schemeClr val="tx1"/>
              </a:solidFill>
              <a:miter lim="800000"/>
              <a:headEnd/>
              <a:tailEn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0"/>
                </a:spcBef>
                <a:buFontTx/>
                <a:buNone/>
              </a:pPr>
              <a:endParaRPr lang="en-US" altLang="en-US" sz="2400">
                <a:latin typeface="Arial" panose="020B0604020202020204" pitchFamily="34" charset="0"/>
              </a:endParaRPr>
            </a:p>
          </p:txBody>
        </p:sp>
        <p:sp>
          <p:nvSpPr>
            <p:cNvPr id="35" name="Text Box 29" descr="Paper bag">
              <a:extLst>
                <a:ext uri="{FF2B5EF4-FFF2-40B4-BE49-F238E27FC236}">
                  <a16:creationId xmlns:a16="http://schemas.microsoft.com/office/drawing/2014/main" id="{EECCD5EC-A346-4066-8876-008A5484C9F2}"/>
                </a:ext>
              </a:extLst>
            </p:cNvPr>
            <p:cNvSpPr txBox="1">
              <a:spLocks noChangeArrowheads="1"/>
            </p:cNvSpPr>
            <p:nvPr/>
          </p:nvSpPr>
          <p:spPr bwMode="auto">
            <a:xfrm>
              <a:off x="1152" y="1056"/>
              <a:ext cx="1152" cy="288"/>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2400">
                  <a:latin typeface="Arial" panose="020B0604020202020204" pitchFamily="34" charset="0"/>
                </a:rPr>
                <a:t>socket()</a:t>
              </a:r>
            </a:p>
          </p:txBody>
        </p:sp>
      </p:grpSp>
      <p:grpSp>
        <p:nvGrpSpPr>
          <p:cNvPr id="17" name="Group 30">
            <a:extLst>
              <a:ext uri="{FF2B5EF4-FFF2-40B4-BE49-F238E27FC236}">
                <a16:creationId xmlns:a16="http://schemas.microsoft.com/office/drawing/2014/main" id="{2EE5C33B-2269-481C-9E6A-97C448DDBC32}"/>
              </a:ext>
            </a:extLst>
          </p:cNvPr>
          <p:cNvGrpSpPr>
            <a:grpSpLocks/>
          </p:cNvGrpSpPr>
          <p:nvPr/>
        </p:nvGrpSpPr>
        <p:grpSpPr bwMode="auto">
          <a:xfrm>
            <a:off x="7048501" y="2587625"/>
            <a:ext cx="1828801" cy="457200"/>
            <a:chOff x="1152" y="1056"/>
            <a:chExt cx="1152" cy="288"/>
          </a:xfrm>
        </p:grpSpPr>
        <p:sp>
          <p:nvSpPr>
            <p:cNvPr id="32" name="Rectangle 31" descr="Paper bag">
              <a:extLst>
                <a:ext uri="{FF2B5EF4-FFF2-40B4-BE49-F238E27FC236}">
                  <a16:creationId xmlns:a16="http://schemas.microsoft.com/office/drawing/2014/main" id="{EB57524D-A32A-4D00-BABB-06B2832E900B}"/>
                </a:ext>
              </a:extLst>
            </p:cNvPr>
            <p:cNvSpPr>
              <a:spLocks noChangeArrowheads="1"/>
            </p:cNvSpPr>
            <p:nvPr/>
          </p:nvSpPr>
          <p:spPr bwMode="auto">
            <a:xfrm>
              <a:off x="1192" y="1063"/>
              <a:ext cx="1033" cy="278"/>
            </a:xfrm>
            <a:prstGeom prst="rect">
              <a:avLst/>
            </a:prstGeom>
            <a:noFill/>
            <a:ln w="38100">
              <a:solidFill>
                <a:schemeClr val="tx1"/>
              </a:solidFill>
              <a:miter lim="800000"/>
              <a:headEnd/>
              <a:tailEn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0"/>
                </a:spcBef>
                <a:buFontTx/>
                <a:buNone/>
              </a:pPr>
              <a:endParaRPr lang="en-US" altLang="en-US" sz="2400">
                <a:latin typeface="Arial" panose="020B0604020202020204" pitchFamily="34" charset="0"/>
              </a:endParaRPr>
            </a:p>
          </p:txBody>
        </p:sp>
        <p:sp>
          <p:nvSpPr>
            <p:cNvPr id="33" name="Text Box 32" descr="Paper bag">
              <a:extLst>
                <a:ext uri="{FF2B5EF4-FFF2-40B4-BE49-F238E27FC236}">
                  <a16:creationId xmlns:a16="http://schemas.microsoft.com/office/drawing/2014/main" id="{5D019A89-2E0E-45CE-B982-DD8D296BBB14}"/>
                </a:ext>
              </a:extLst>
            </p:cNvPr>
            <p:cNvSpPr txBox="1">
              <a:spLocks noChangeArrowheads="1"/>
            </p:cNvSpPr>
            <p:nvPr/>
          </p:nvSpPr>
          <p:spPr bwMode="auto">
            <a:xfrm>
              <a:off x="1152" y="1056"/>
              <a:ext cx="1152" cy="288"/>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2400">
                  <a:latin typeface="Arial" panose="020B0604020202020204" pitchFamily="34" charset="0"/>
                </a:rPr>
                <a:t>bind()</a:t>
              </a:r>
            </a:p>
          </p:txBody>
        </p:sp>
      </p:grpSp>
      <p:grpSp>
        <p:nvGrpSpPr>
          <p:cNvPr id="18" name="Group 36">
            <a:extLst>
              <a:ext uri="{FF2B5EF4-FFF2-40B4-BE49-F238E27FC236}">
                <a16:creationId xmlns:a16="http://schemas.microsoft.com/office/drawing/2014/main" id="{E2EBC9C5-9226-4AEF-86EC-5BD329086C4E}"/>
              </a:ext>
            </a:extLst>
          </p:cNvPr>
          <p:cNvGrpSpPr>
            <a:grpSpLocks/>
          </p:cNvGrpSpPr>
          <p:nvPr/>
        </p:nvGrpSpPr>
        <p:grpSpPr bwMode="auto">
          <a:xfrm>
            <a:off x="7048501" y="4111625"/>
            <a:ext cx="1828801" cy="457200"/>
            <a:chOff x="1152" y="1056"/>
            <a:chExt cx="1152" cy="288"/>
          </a:xfrm>
        </p:grpSpPr>
        <p:sp>
          <p:nvSpPr>
            <p:cNvPr id="30" name="Rectangle 37" descr="Paper bag">
              <a:extLst>
                <a:ext uri="{FF2B5EF4-FFF2-40B4-BE49-F238E27FC236}">
                  <a16:creationId xmlns:a16="http://schemas.microsoft.com/office/drawing/2014/main" id="{1025281B-6DAF-4626-8610-06DF8D52191E}"/>
                </a:ext>
              </a:extLst>
            </p:cNvPr>
            <p:cNvSpPr>
              <a:spLocks noChangeArrowheads="1"/>
            </p:cNvSpPr>
            <p:nvPr/>
          </p:nvSpPr>
          <p:spPr bwMode="auto">
            <a:xfrm>
              <a:off x="1192" y="1063"/>
              <a:ext cx="1033" cy="278"/>
            </a:xfrm>
            <a:prstGeom prst="rect">
              <a:avLst/>
            </a:prstGeom>
            <a:noFill/>
            <a:ln w="38100">
              <a:solidFill>
                <a:schemeClr val="tx1"/>
              </a:solidFill>
              <a:miter lim="800000"/>
              <a:headEnd/>
              <a:tailEn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0"/>
                </a:spcBef>
                <a:buFontTx/>
                <a:buNone/>
              </a:pPr>
              <a:endParaRPr lang="en-US" altLang="en-US" sz="2400">
                <a:latin typeface="Arial" panose="020B0604020202020204" pitchFamily="34" charset="0"/>
              </a:endParaRPr>
            </a:p>
          </p:txBody>
        </p:sp>
        <p:sp>
          <p:nvSpPr>
            <p:cNvPr id="31" name="Text Box 38" descr="Paper bag">
              <a:extLst>
                <a:ext uri="{FF2B5EF4-FFF2-40B4-BE49-F238E27FC236}">
                  <a16:creationId xmlns:a16="http://schemas.microsoft.com/office/drawing/2014/main" id="{DA7A5503-9974-40AF-A115-8CB5FBA84C3F}"/>
                </a:ext>
              </a:extLst>
            </p:cNvPr>
            <p:cNvSpPr txBox="1">
              <a:spLocks noChangeArrowheads="1"/>
            </p:cNvSpPr>
            <p:nvPr/>
          </p:nvSpPr>
          <p:spPr bwMode="auto">
            <a:xfrm>
              <a:off x="1152" y="1056"/>
              <a:ext cx="1152" cy="288"/>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2400">
                  <a:latin typeface="Arial" panose="020B0604020202020204" pitchFamily="34" charset="0"/>
                </a:rPr>
                <a:t>recvfrom()</a:t>
              </a:r>
            </a:p>
          </p:txBody>
        </p:sp>
      </p:grpSp>
      <p:sp>
        <p:nvSpPr>
          <p:cNvPr id="19" name="Line 39">
            <a:extLst>
              <a:ext uri="{FF2B5EF4-FFF2-40B4-BE49-F238E27FC236}">
                <a16:creationId xmlns:a16="http://schemas.microsoft.com/office/drawing/2014/main" id="{627B3E12-8C55-476B-A1EF-291A2B704A2A}"/>
              </a:ext>
            </a:extLst>
          </p:cNvPr>
          <p:cNvSpPr>
            <a:spLocks noChangeShapeType="1"/>
          </p:cNvSpPr>
          <p:nvPr/>
        </p:nvSpPr>
        <p:spPr bwMode="auto">
          <a:xfrm>
            <a:off x="7886700" y="2282824"/>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endParaRPr lang="zh-TW" altLang="en-US"/>
          </a:p>
        </p:txBody>
      </p:sp>
      <p:sp>
        <p:nvSpPr>
          <p:cNvPr id="20" name="Line 40">
            <a:extLst>
              <a:ext uri="{FF2B5EF4-FFF2-40B4-BE49-F238E27FC236}">
                <a16:creationId xmlns:a16="http://schemas.microsoft.com/office/drawing/2014/main" id="{6C6590B2-9CB0-43AE-BCD7-D236F078C7A3}"/>
              </a:ext>
            </a:extLst>
          </p:cNvPr>
          <p:cNvSpPr>
            <a:spLocks noChangeShapeType="1"/>
          </p:cNvSpPr>
          <p:nvPr/>
        </p:nvSpPr>
        <p:spPr bwMode="auto">
          <a:xfrm>
            <a:off x="7886700" y="3044824"/>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endParaRPr lang="zh-TW" altLang="en-US"/>
          </a:p>
        </p:txBody>
      </p:sp>
      <p:sp>
        <p:nvSpPr>
          <p:cNvPr id="21" name="Line 41">
            <a:extLst>
              <a:ext uri="{FF2B5EF4-FFF2-40B4-BE49-F238E27FC236}">
                <a16:creationId xmlns:a16="http://schemas.microsoft.com/office/drawing/2014/main" id="{297FC220-3BB4-46B2-B4B8-A95C846396B9}"/>
              </a:ext>
            </a:extLst>
          </p:cNvPr>
          <p:cNvSpPr>
            <a:spLocks noChangeShapeType="1"/>
          </p:cNvSpPr>
          <p:nvPr/>
        </p:nvSpPr>
        <p:spPr bwMode="auto">
          <a:xfrm>
            <a:off x="7886700" y="3806824"/>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endParaRPr lang="zh-TW" altLang="en-US"/>
          </a:p>
        </p:txBody>
      </p:sp>
      <p:sp>
        <p:nvSpPr>
          <p:cNvPr id="22" name="Line 42">
            <a:extLst>
              <a:ext uri="{FF2B5EF4-FFF2-40B4-BE49-F238E27FC236}">
                <a16:creationId xmlns:a16="http://schemas.microsoft.com/office/drawing/2014/main" id="{770918BC-605A-431F-9EEB-0E98F2EE9C3A}"/>
              </a:ext>
            </a:extLst>
          </p:cNvPr>
          <p:cNvSpPr>
            <a:spLocks noChangeShapeType="1"/>
          </p:cNvSpPr>
          <p:nvPr/>
        </p:nvSpPr>
        <p:spPr bwMode="auto">
          <a:xfrm>
            <a:off x="7886700" y="5330824"/>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endParaRPr lang="zh-TW" altLang="en-US"/>
          </a:p>
        </p:txBody>
      </p:sp>
      <p:sp>
        <p:nvSpPr>
          <p:cNvPr id="23" name="Text Box 43" descr="Paper bag">
            <a:extLst>
              <a:ext uri="{FF2B5EF4-FFF2-40B4-BE49-F238E27FC236}">
                <a16:creationId xmlns:a16="http://schemas.microsoft.com/office/drawing/2014/main" id="{DF5F3276-8719-42FA-96D4-65C44DC44DD2}"/>
              </a:ext>
            </a:extLst>
          </p:cNvPr>
          <p:cNvSpPr txBox="1">
            <a:spLocks noChangeArrowheads="1"/>
          </p:cNvSpPr>
          <p:nvPr/>
        </p:nvSpPr>
        <p:spPr bwMode="auto">
          <a:xfrm>
            <a:off x="7124700" y="4721224"/>
            <a:ext cx="1676400" cy="457200"/>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2400" i="1">
                <a:latin typeface="Arial" panose="020B0604020202020204" pitchFamily="34" charset="0"/>
              </a:rPr>
              <a:t>[blocked]</a:t>
            </a:r>
          </a:p>
        </p:txBody>
      </p:sp>
      <p:cxnSp>
        <p:nvCxnSpPr>
          <p:cNvPr id="24" name="AutoShape 45">
            <a:extLst>
              <a:ext uri="{FF2B5EF4-FFF2-40B4-BE49-F238E27FC236}">
                <a16:creationId xmlns:a16="http://schemas.microsoft.com/office/drawing/2014/main" id="{8C07DEF2-3142-437C-B1B3-83E12E9B6375}"/>
              </a:ext>
            </a:extLst>
          </p:cNvPr>
          <p:cNvCxnSpPr>
            <a:cxnSpLocks noChangeShapeType="1"/>
            <a:endCxn id="13" idx="2"/>
          </p:cNvCxnSpPr>
          <p:nvPr/>
        </p:nvCxnSpPr>
        <p:spPr bwMode="auto">
          <a:xfrm rot="10800000" flipV="1">
            <a:off x="3695700" y="3578224"/>
            <a:ext cx="3429000" cy="990600"/>
          </a:xfrm>
          <a:prstGeom prst="bentConnector4">
            <a:avLst>
              <a:gd name="adj1" fmla="val 37778"/>
              <a:gd name="adj2" fmla="val 99995"/>
            </a:avLst>
          </a:prstGeom>
          <a:noFill/>
          <a:ln w="76200">
            <a:solidFill>
              <a:schemeClr val="accent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cxnSp>
      <p:cxnSp>
        <p:nvCxnSpPr>
          <p:cNvPr id="25" name="AutoShape 47">
            <a:extLst>
              <a:ext uri="{FF2B5EF4-FFF2-40B4-BE49-F238E27FC236}">
                <a16:creationId xmlns:a16="http://schemas.microsoft.com/office/drawing/2014/main" id="{0F8C87B1-15FD-40CD-BCAE-B8AB21730395}"/>
              </a:ext>
            </a:extLst>
          </p:cNvPr>
          <p:cNvCxnSpPr>
            <a:cxnSpLocks noChangeShapeType="1"/>
            <a:stCxn id="7" idx="3"/>
          </p:cNvCxnSpPr>
          <p:nvPr/>
        </p:nvCxnSpPr>
        <p:spPr bwMode="auto">
          <a:xfrm>
            <a:off x="4503738" y="5105399"/>
            <a:ext cx="3306762" cy="301625"/>
          </a:xfrm>
          <a:prstGeom prst="bentConnector3">
            <a:avLst>
              <a:gd name="adj1" fmla="val 39704"/>
            </a:avLst>
          </a:prstGeom>
          <a:noFill/>
          <a:ln w="76200">
            <a:solidFill>
              <a:schemeClr val="accent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Line 48">
            <a:extLst>
              <a:ext uri="{FF2B5EF4-FFF2-40B4-BE49-F238E27FC236}">
                <a16:creationId xmlns:a16="http://schemas.microsoft.com/office/drawing/2014/main" id="{7E7E5AFC-4485-4EE9-B12B-9BEE454E88FF}"/>
              </a:ext>
            </a:extLst>
          </p:cNvPr>
          <p:cNvSpPr>
            <a:spLocks noChangeShapeType="1"/>
          </p:cNvSpPr>
          <p:nvPr/>
        </p:nvSpPr>
        <p:spPr bwMode="auto">
          <a:xfrm>
            <a:off x="7886700" y="4568824"/>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endParaRPr lang="zh-TW" altLang="en-US"/>
          </a:p>
        </p:txBody>
      </p:sp>
      <p:sp>
        <p:nvSpPr>
          <p:cNvPr id="27" name="Rectangle 49" descr="Paper bag">
            <a:extLst>
              <a:ext uri="{FF2B5EF4-FFF2-40B4-BE49-F238E27FC236}">
                <a16:creationId xmlns:a16="http://schemas.microsoft.com/office/drawing/2014/main" id="{A4205425-4BC5-42C7-A82E-9616B696A09B}"/>
              </a:ext>
            </a:extLst>
          </p:cNvPr>
          <p:cNvSpPr>
            <a:spLocks noChangeArrowheads="1"/>
          </p:cNvSpPr>
          <p:nvPr/>
        </p:nvSpPr>
        <p:spPr bwMode="auto">
          <a:xfrm>
            <a:off x="7085013" y="3360737"/>
            <a:ext cx="1639887" cy="441325"/>
          </a:xfrm>
          <a:prstGeom prst="rect">
            <a:avLst/>
          </a:prstGeom>
          <a:noFill/>
          <a:ln w="38100">
            <a:solidFill>
              <a:schemeClr val="tx1"/>
            </a:solidFill>
            <a:miter lim="800000"/>
            <a:headEnd/>
            <a:tailEn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0"/>
              </a:spcBef>
              <a:buFontTx/>
              <a:buNone/>
            </a:pPr>
            <a:endParaRPr lang="en-US" altLang="en-US" sz="2400">
              <a:latin typeface="Arial" panose="020B0604020202020204" pitchFamily="34" charset="0"/>
            </a:endParaRPr>
          </a:p>
        </p:txBody>
      </p:sp>
      <p:sp>
        <p:nvSpPr>
          <p:cNvPr id="28" name="Text Box 50" descr="Paper bag">
            <a:extLst>
              <a:ext uri="{FF2B5EF4-FFF2-40B4-BE49-F238E27FC236}">
                <a16:creationId xmlns:a16="http://schemas.microsoft.com/office/drawing/2014/main" id="{D4E208C8-854C-49E1-BA83-69AE431B6C9D}"/>
              </a:ext>
            </a:extLst>
          </p:cNvPr>
          <p:cNvSpPr txBox="1">
            <a:spLocks noChangeArrowheads="1"/>
          </p:cNvSpPr>
          <p:nvPr/>
        </p:nvSpPr>
        <p:spPr bwMode="auto">
          <a:xfrm>
            <a:off x="7173913" y="3349624"/>
            <a:ext cx="1447800" cy="457200"/>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2400">
                <a:latin typeface="Arial" panose="020B0604020202020204" pitchFamily="34" charset="0"/>
              </a:rPr>
              <a:t>sendto()</a:t>
            </a:r>
          </a:p>
        </p:txBody>
      </p:sp>
      <p:sp>
        <p:nvSpPr>
          <p:cNvPr id="29" name="Text Box 51" descr="Paper bag">
            <a:extLst>
              <a:ext uri="{FF2B5EF4-FFF2-40B4-BE49-F238E27FC236}">
                <a16:creationId xmlns:a16="http://schemas.microsoft.com/office/drawing/2014/main" id="{3A03F460-3007-4235-BDCE-47C5844F5A52}"/>
              </a:ext>
            </a:extLst>
          </p:cNvPr>
          <p:cNvSpPr txBox="1">
            <a:spLocks noChangeArrowheads="1"/>
          </p:cNvSpPr>
          <p:nvPr/>
        </p:nvSpPr>
        <p:spPr bwMode="auto">
          <a:xfrm>
            <a:off x="6896100" y="6016624"/>
            <a:ext cx="2057400" cy="457200"/>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2400">
                <a:latin typeface="Arial" panose="020B0604020202020204" pitchFamily="34" charset="0"/>
              </a:rPr>
              <a:t>CLIENT</a:t>
            </a:r>
          </a:p>
        </p:txBody>
      </p:sp>
    </p:spTree>
    <p:extLst>
      <p:ext uri="{BB962C8B-B14F-4D97-AF65-F5344CB8AC3E}">
        <p14:creationId xmlns:p14="http://schemas.microsoft.com/office/powerpoint/2010/main" val="2038275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705A48-BD4A-4ECA-BD14-D5DADCFAC9C9}"/>
              </a:ext>
            </a:extLst>
          </p:cNvPr>
          <p:cNvSpPr>
            <a:spLocks noGrp="1"/>
          </p:cNvSpPr>
          <p:nvPr>
            <p:ph type="title"/>
          </p:nvPr>
        </p:nvSpPr>
        <p:spPr/>
        <p:txBody>
          <a:bodyPr/>
          <a:lstStyle/>
          <a:p>
            <a:r>
              <a:rPr lang="en-US" altLang="zh-TW" dirty="0"/>
              <a:t>UDP Server example</a:t>
            </a:r>
            <a:endParaRPr lang="zh-TW" altLang="en-US" dirty="0"/>
          </a:p>
        </p:txBody>
      </p:sp>
      <p:sp>
        <p:nvSpPr>
          <p:cNvPr id="3" name="內容版面配置區 2">
            <a:extLst>
              <a:ext uri="{FF2B5EF4-FFF2-40B4-BE49-F238E27FC236}">
                <a16:creationId xmlns:a16="http://schemas.microsoft.com/office/drawing/2014/main" id="{C5551D80-8BF9-488A-A415-4BFB81C3517B}"/>
              </a:ext>
            </a:extLst>
          </p:cNvPr>
          <p:cNvSpPr>
            <a:spLocks noGrp="1"/>
          </p:cNvSpPr>
          <p:nvPr>
            <p:ph idx="1"/>
          </p:nvPr>
        </p:nvSpPr>
        <p:spPr/>
        <p:txBody>
          <a:bodyPr>
            <a:normAutofit fontScale="92500" lnSpcReduction="10000"/>
          </a:bodyPr>
          <a:lstStyle/>
          <a:p>
            <a:pPr marL="0" indent="0">
              <a:buNone/>
            </a:pPr>
            <a:r>
              <a:rPr lang="en-US" altLang="en-US" b="1" dirty="0">
                <a:latin typeface="Courier New" panose="02070309020205020404" pitchFamily="49" charset="0"/>
              </a:rPr>
              <a:t>from socket import socket, AF_INET, SOCK_DGRAM</a:t>
            </a:r>
          </a:p>
          <a:p>
            <a:pPr marL="0" indent="0">
              <a:buNone/>
            </a:pPr>
            <a:r>
              <a:rPr lang="en-US" altLang="en-US" b="1" dirty="0">
                <a:latin typeface="Courier New" panose="02070309020205020404" pitchFamily="49" charset="0"/>
              </a:rPr>
              <a:t>s = socket(AF_INET, SOCK_DGRAM)</a:t>
            </a:r>
          </a:p>
          <a:p>
            <a:pPr marL="0" indent="0">
              <a:buNone/>
            </a:pPr>
            <a:r>
              <a:rPr lang="en-US" altLang="en-US" b="1" dirty="0" err="1">
                <a:latin typeface="Courier New" panose="02070309020205020404" pitchFamily="49" charset="0"/>
              </a:rPr>
              <a:t>s.bind</a:t>
            </a:r>
            <a:r>
              <a:rPr lang="en-US" altLang="en-US" b="1" dirty="0">
                <a:latin typeface="Courier New" panose="02070309020205020404" pitchFamily="49" charset="0"/>
              </a:rPr>
              <a:t>(</a:t>
            </a:r>
            <a:r>
              <a:rPr lang="en-US" altLang="en-US" b="1" dirty="0">
                <a:solidFill>
                  <a:srgbClr val="B40000"/>
                </a:solidFill>
                <a:latin typeface="Courier New" panose="02070309020205020404" pitchFamily="49" charset="0"/>
              </a:rPr>
              <a:t>('127.0.0.1', 11111)</a:t>
            </a:r>
            <a:r>
              <a:rPr lang="en-US" altLang="en-US" b="1" dirty="0">
                <a:latin typeface="Courier New" panose="02070309020205020404" pitchFamily="49" charset="0"/>
              </a:rPr>
              <a:t>)</a:t>
            </a:r>
          </a:p>
          <a:p>
            <a:pPr marL="0" indent="0">
              <a:buNone/>
            </a:pPr>
            <a:r>
              <a:rPr lang="en-US" altLang="en-US" b="1" dirty="0">
                <a:latin typeface="Courier New" panose="02070309020205020404" pitchFamily="49" charset="0"/>
              </a:rPr>
              <a:t>while True:</a:t>
            </a:r>
          </a:p>
          <a:p>
            <a:pPr marL="0" indent="0">
              <a:buNone/>
            </a:pPr>
            <a:r>
              <a:rPr lang="en-US" altLang="en-US" b="1" dirty="0">
                <a:latin typeface="Courier New" panose="02070309020205020404" pitchFamily="49" charset="0"/>
              </a:rPr>
              <a:t>    data, </a:t>
            </a:r>
            <a:r>
              <a:rPr lang="en-US" altLang="en-US" b="1" dirty="0" err="1">
                <a:latin typeface="Courier New" panose="02070309020205020404" pitchFamily="49" charset="0"/>
              </a:rPr>
              <a:t>addr</a:t>
            </a:r>
            <a:r>
              <a:rPr lang="en-US" altLang="en-US" b="1" dirty="0">
                <a:latin typeface="Courier New" panose="02070309020205020404" pitchFamily="49" charset="0"/>
              </a:rPr>
              <a:t> = </a:t>
            </a:r>
            <a:r>
              <a:rPr lang="en-US" altLang="en-US" b="1" dirty="0" err="1">
                <a:latin typeface="Courier New" panose="02070309020205020404" pitchFamily="49" charset="0"/>
              </a:rPr>
              <a:t>s.recvfrom</a:t>
            </a:r>
            <a:r>
              <a:rPr lang="en-US" altLang="en-US" b="1" dirty="0">
                <a:latin typeface="Courier New" panose="02070309020205020404" pitchFamily="49" charset="0"/>
              </a:rPr>
              <a:t>(1024)</a:t>
            </a:r>
          </a:p>
          <a:p>
            <a:pPr marL="0" indent="0">
              <a:buNone/>
            </a:pPr>
            <a:r>
              <a:rPr lang="en-US" altLang="en-US" b="1" dirty="0">
                <a:latin typeface="Courier New" panose="02070309020205020404" pitchFamily="49" charset="0"/>
              </a:rPr>
              <a:t>    print "Connection from", </a:t>
            </a:r>
            <a:r>
              <a:rPr lang="en-US" altLang="en-US" b="1" dirty="0" err="1">
                <a:latin typeface="Courier New" panose="02070309020205020404" pitchFamily="49" charset="0"/>
              </a:rPr>
              <a:t>addr</a:t>
            </a:r>
            <a:endParaRPr lang="en-US" altLang="en-US" b="1" dirty="0">
              <a:latin typeface="Courier New" panose="02070309020205020404" pitchFamily="49" charset="0"/>
            </a:endParaRPr>
          </a:p>
          <a:p>
            <a:pPr marL="0" indent="0">
              <a:buNone/>
            </a:pPr>
            <a:r>
              <a:rPr lang="en-US" altLang="en-US" b="1" dirty="0">
                <a:latin typeface="Courier New" panose="02070309020205020404" pitchFamily="49" charset="0"/>
              </a:rPr>
              <a:t>    </a:t>
            </a:r>
            <a:r>
              <a:rPr lang="en-US" altLang="en-US" b="1" dirty="0" err="1">
                <a:latin typeface="Courier New" panose="02070309020205020404" pitchFamily="49" charset="0"/>
              </a:rPr>
              <a:t>s.sendto</a:t>
            </a:r>
            <a:r>
              <a:rPr lang="en-US" altLang="en-US" b="1" dirty="0">
                <a:latin typeface="Courier New" panose="02070309020205020404" pitchFamily="49" charset="0"/>
              </a:rPr>
              <a:t>(</a:t>
            </a:r>
            <a:r>
              <a:rPr lang="en-US" altLang="en-US" b="1" dirty="0" err="1">
                <a:latin typeface="Courier New" panose="02070309020205020404" pitchFamily="49" charset="0"/>
              </a:rPr>
              <a:t>data.upper</a:t>
            </a:r>
            <a:r>
              <a:rPr lang="en-US" altLang="en-US" b="1" dirty="0">
                <a:latin typeface="Courier New" panose="02070309020205020404" pitchFamily="49" charset="0"/>
              </a:rPr>
              <a:t>(), </a:t>
            </a:r>
            <a:r>
              <a:rPr lang="en-US" altLang="en-US" b="1" dirty="0" err="1">
                <a:latin typeface="Courier New" panose="02070309020205020404" pitchFamily="49" charset="0"/>
              </a:rPr>
              <a:t>addr</a:t>
            </a:r>
            <a:r>
              <a:rPr lang="en-US" altLang="en-US" b="1" dirty="0">
                <a:latin typeface="Courier New" panose="02070309020205020404" pitchFamily="49" charset="0"/>
              </a:rPr>
              <a:t>)</a:t>
            </a:r>
          </a:p>
          <a:p>
            <a:pPr marL="0" indent="0">
              <a:buNone/>
            </a:pPr>
            <a:endParaRPr lang="en-US" altLang="en-US" b="1" dirty="0">
              <a:latin typeface="Courier New" panose="02070309020205020404" pitchFamily="49" charset="0"/>
            </a:endParaRPr>
          </a:p>
          <a:p>
            <a:pPr marL="0" indent="0">
              <a:buNone/>
            </a:pPr>
            <a:br>
              <a:rPr lang="en-US" altLang="en-US" dirty="0"/>
            </a:br>
            <a:r>
              <a:rPr lang="en-US" altLang="en-US" sz="2400" dirty="0"/>
              <a:t>Note that the </a:t>
            </a:r>
            <a:r>
              <a:rPr lang="en-US" altLang="en-US" sz="2400" i="1" dirty="0"/>
              <a:t>bind()</a:t>
            </a:r>
            <a:r>
              <a:rPr lang="en-US" altLang="en-US" sz="2400" dirty="0"/>
              <a:t> argument is a two-element tuple of address and port number</a:t>
            </a:r>
          </a:p>
          <a:p>
            <a:endParaRPr lang="zh-TW" altLang="en-US" dirty="0"/>
          </a:p>
        </p:txBody>
      </p:sp>
    </p:spTree>
    <p:extLst>
      <p:ext uri="{BB962C8B-B14F-4D97-AF65-F5344CB8AC3E}">
        <p14:creationId xmlns:p14="http://schemas.microsoft.com/office/powerpoint/2010/main" val="3838056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774FFE-0D12-47B7-824F-5447F22EBB57}"/>
              </a:ext>
            </a:extLst>
          </p:cNvPr>
          <p:cNvSpPr>
            <a:spLocks noGrp="1"/>
          </p:cNvSpPr>
          <p:nvPr>
            <p:ph type="title"/>
          </p:nvPr>
        </p:nvSpPr>
        <p:spPr/>
        <p:txBody>
          <a:bodyPr/>
          <a:lstStyle/>
          <a:p>
            <a:r>
              <a:rPr lang="en-US" altLang="zh-TW" dirty="0"/>
              <a:t>UDP Client Example</a:t>
            </a:r>
            <a:endParaRPr lang="zh-TW" altLang="en-US" dirty="0"/>
          </a:p>
        </p:txBody>
      </p:sp>
      <p:sp>
        <p:nvSpPr>
          <p:cNvPr id="3" name="內容版面配置區 2">
            <a:extLst>
              <a:ext uri="{FF2B5EF4-FFF2-40B4-BE49-F238E27FC236}">
                <a16:creationId xmlns:a16="http://schemas.microsoft.com/office/drawing/2014/main" id="{0F523027-561B-4E98-8FC1-47952173A9C4}"/>
              </a:ext>
            </a:extLst>
          </p:cNvPr>
          <p:cNvSpPr>
            <a:spLocks noGrp="1"/>
          </p:cNvSpPr>
          <p:nvPr>
            <p:ph idx="1"/>
          </p:nvPr>
        </p:nvSpPr>
        <p:spPr/>
        <p:txBody>
          <a:bodyPr>
            <a:normAutofit lnSpcReduction="10000"/>
          </a:bodyPr>
          <a:lstStyle/>
          <a:p>
            <a:pPr>
              <a:buNone/>
            </a:pPr>
            <a:r>
              <a:rPr lang="en-US" altLang="en-US" b="1" dirty="0">
                <a:latin typeface="Courier New" panose="02070309020205020404" pitchFamily="49" charset="0"/>
              </a:rPr>
              <a:t>from socket import socket, AF_INET, SOCK_DGRAM</a:t>
            </a:r>
          </a:p>
          <a:p>
            <a:pPr>
              <a:buNone/>
            </a:pPr>
            <a:r>
              <a:rPr lang="en-US" altLang="en-US" b="1" dirty="0">
                <a:latin typeface="Courier New" panose="02070309020205020404" pitchFamily="49" charset="0"/>
              </a:rPr>
              <a:t>s = socket(AF_INET, SOCK_DGRAM)</a:t>
            </a:r>
          </a:p>
          <a:p>
            <a:pPr>
              <a:buNone/>
            </a:pPr>
            <a:r>
              <a:rPr lang="en-US" altLang="en-US" b="1" dirty="0" err="1">
                <a:latin typeface="Courier New" panose="02070309020205020404" pitchFamily="49" charset="0"/>
              </a:rPr>
              <a:t>s.bind</a:t>
            </a:r>
            <a:r>
              <a:rPr lang="en-US" altLang="en-US" b="1" dirty="0">
                <a:latin typeface="Courier New" panose="02070309020205020404" pitchFamily="49" charset="0"/>
              </a:rPr>
              <a:t>(('127.0.0.1', 0)) </a:t>
            </a:r>
            <a:r>
              <a:rPr lang="en-US" altLang="en-US" b="1" dirty="0">
                <a:solidFill>
                  <a:srgbClr val="FF0000"/>
                </a:solidFill>
                <a:latin typeface="Courier New" panose="02070309020205020404" pitchFamily="49" charset="0"/>
              </a:rPr>
              <a:t># OS chooses port</a:t>
            </a:r>
          </a:p>
          <a:p>
            <a:pPr>
              <a:buNone/>
            </a:pPr>
            <a:r>
              <a:rPr lang="en-US" altLang="en-US" b="1" dirty="0">
                <a:latin typeface="Courier New" panose="02070309020205020404" pitchFamily="49" charset="0"/>
              </a:rPr>
              <a:t>print "using", </a:t>
            </a:r>
            <a:r>
              <a:rPr lang="en-US" altLang="en-US" b="1" dirty="0" err="1">
                <a:latin typeface="Courier New" panose="02070309020205020404" pitchFamily="49" charset="0"/>
              </a:rPr>
              <a:t>s.getsocketname</a:t>
            </a:r>
            <a:r>
              <a:rPr lang="en-US" altLang="en-US" b="1" dirty="0">
                <a:latin typeface="Courier New" panose="02070309020205020404" pitchFamily="49" charset="0"/>
              </a:rPr>
              <a:t>()</a:t>
            </a:r>
          </a:p>
          <a:p>
            <a:pPr>
              <a:buNone/>
            </a:pPr>
            <a:r>
              <a:rPr lang="en-US" altLang="en-US" b="1" dirty="0">
                <a:latin typeface="Courier New" panose="02070309020205020404" pitchFamily="49" charset="0"/>
              </a:rPr>
              <a:t>server = ('127.0.0.1', 11111)</a:t>
            </a:r>
          </a:p>
          <a:p>
            <a:pPr>
              <a:buNone/>
            </a:pPr>
            <a:r>
              <a:rPr lang="en-US" altLang="en-US" b="1" dirty="0" err="1">
                <a:latin typeface="Courier New" panose="02070309020205020404" pitchFamily="49" charset="0"/>
              </a:rPr>
              <a:t>s.sendto</a:t>
            </a:r>
            <a:r>
              <a:rPr lang="en-US" altLang="en-US" b="1" dirty="0">
                <a:latin typeface="Courier New" panose="02070309020205020404" pitchFamily="49" charset="0"/>
              </a:rPr>
              <a:t>("</a:t>
            </a:r>
            <a:r>
              <a:rPr lang="en-US" altLang="en-US" b="1" dirty="0" err="1">
                <a:latin typeface="Courier New" panose="02070309020205020404" pitchFamily="49" charset="0"/>
              </a:rPr>
              <a:t>MixedCaseString</a:t>
            </a:r>
            <a:r>
              <a:rPr lang="en-US" altLang="en-US" b="1" dirty="0">
                <a:latin typeface="Courier New" panose="02070309020205020404" pitchFamily="49" charset="0"/>
              </a:rPr>
              <a:t>", server)</a:t>
            </a:r>
          </a:p>
          <a:p>
            <a:pPr>
              <a:buNone/>
            </a:pPr>
            <a:r>
              <a:rPr lang="en-US" altLang="en-US" b="1" dirty="0">
                <a:latin typeface="Courier New" panose="02070309020205020404" pitchFamily="49" charset="0"/>
              </a:rPr>
              <a:t>data, </a:t>
            </a:r>
            <a:r>
              <a:rPr lang="en-US" altLang="en-US" b="1" dirty="0" err="1">
                <a:latin typeface="Courier New" panose="02070309020205020404" pitchFamily="49" charset="0"/>
              </a:rPr>
              <a:t>addr</a:t>
            </a:r>
            <a:r>
              <a:rPr lang="en-US" altLang="en-US" b="1" dirty="0">
                <a:latin typeface="Courier New" panose="02070309020205020404" pitchFamily="49" charset="0"/>
              </a:rPr>
              <a:t> = </a:t>
            </a:r>
            <a:r>
              <a:rPr lang="en-US" altLang="en-US" b="1" dirty="0" err="1">
                <a:latin typeface="Courier New" panose="02070309020205020404" pitchFamily="49" charset="0"/>
              </a:rPr>
              <a:t>s.recvfrom</a:t>
            </a:r>
            <a:r>
              <a:rPr lang="en-US" altLang="en-US" b="1" dirty="0">
                <a:latin typeface="Courier New" panose="02070309020205020404" pitchFamily="49" charset="0"/>
              </a:rPr>
              <a:t>(1024)</a:t>
            </a:r>
          </a:p>
          <a:p>
            <a:pPr>
              <a:buNone/>
            </a:pPr>
            <a:r>
              <a:rPr lang="en-US" altLang="en-US" b="1" dirty="0">
                <a:latin typeface="Courier New" panose="02070309020205020404" pitchFamily="49" charset="0"/>
              </a:rPr>
              <a:t>print "received", data, "from", </a:t>
            </a:r>
            <a:r>
              <a:rPr lang="en-US" altLang="en-US" b="1" dirty="0" err="1">
                <a:latin typeface="Courier New" panose="02070309020205020404" pitchFamily="49" charset="0"/>
              </a:rPr>
              <a:t>addr</a:t>
            </a:r>
            <a:endParaRPr lang="en-US" altLang="en-US" b="1" dirty="0">
              <a:latin typeface="Courier New" panose="02070309020205020404" pitchFamily="49" charset="0"/>
            </a:endParaRPr>
          </a:p>
          <a:p>
            <a:pPr>
              <a:buNone/>
            </a:pPr>
            <a:r>
              <a:rPr lang="en-US" altLang="en-US" b="1" dirty="0" err="1">
                <a:latin typeface="Courier New" panose="02070309020205020404" pitchFamily="49" charset="0"/>
              </a:rPr>
              <a:t>s.close</a:t>
            </a:r>
            <a:r>
              <a:rPr lang="en-US" altLang="en-US" b="1" dirty="0">
                <a:latin typeface="Courier New" panose="02070309020205020404" pitchFamily="49" charset="0"/>
              </a:rPr>
              <a:t>()</a:t>
            </a:r>
          </a:p>
          <a:p>
            <a:endParaRPr lang="zh-TW" altLang="en-US" dirty="0"/>
          </a:p>
        </p:txBody>
      </p:sp>
    </p:spTree>
    <p:extLst>
      <p:ext uri="{BB962C8B-B14F-4D97-AF65-F5344CB8AC3E}">
        <p14:creationId xmlns:p14="http://schemas.microsoft.com/office/powerpoint/2010/main" val="685738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631D78A-8E4C-411B-87EE-457717A389B2}"/>
              </a:ext>
            </a:extLst>
          </p:cNvPr>
          <p:cNvSpPr>
            <a:spLocks noGrp="1"/>
          </p:cNvSpPr>
          <p:nvPr>
            <p:ph type="title"/>
          </p:nvPr>
        </p:nvSpPr>
        <p:spPr/>
        <p:txBody>
          <a:bodyPr/>
          <a:lstStyle/>
          <a:p>
            <a:r>
              <a:rPr lang="en-US" altLang="zh-TW" dirty="0"/>
              <a:t>TCP Connection-Oriented</a:t>
            </a:r>
            <a:endParaRPr lang="zh-TW" altLang="en-US" dirty="0"/>
          </a:p>
        </p:txBody>
      </p:sp>
      <p:sp>
        <p:nvSpPr>
          <p:cNvPr id="3" name="內容版面配置區 2">
            <a:extLst>
              <a:ext uri="{FF2B5EF4-FFF2-40B4-BE49-F238E27FC236}">
                <a16:creationId xmlns:a16="http://schemas.microsoft.com/office/drawing/2014/main" id="{DE970855-9B12-4211-80EA-269DCD10F803}"/>
              </a:ext>
            </a:extLst>
          </p:cNvPr>
          <p:cNvSpPr>
            <a:spLocks noGrp="1"/>
          </p:cNvSpPr>
          <p:nvPr>
            <p:ph idx="1"/>
          </p:nvPr>
        </p:nvSpPr>
        <p:spPr/>
        <p:txBody>
          <a:bodyPr/>
          <a:lstStyle/>
          <a:p>
            <a:endParaRPr lang="zh-TW" altLang="en-US"/>
          </a:p>
        </p:txBody>
      </p:sp>
      <p:grpSp>
        <p:nvGrpSpPr>
          <p:cNvPr id="4" name="Group 7">
            <a:extLst>
              <a:ext uri="{FF2B5EF4-FFF2-40B4-BE49-F238E27FC236}">
                <a16:creationId xmlns:a16="http://schemas.microsoft.com/office/drawing/2014/main" id="{924CC83C-DB9B-489A-ADDD-2448F47D5184}"/>
              </a:ext>
            </a:extLst>
          </p:cNvPr>
          <p:cNvGrpSpPr>
            <a:grpSpLocks/>
          </p:cNvGrpSpPr>
          <p:nvPr/>
        </p:nvGrpSpPr>
        <p:grpSpPr bwMode="auto">
          <a:xfrm>
            <a:off x="3057525" y="1876425"/>
            <a:ext cx="1219200" cy="366713"/>
            <a:chOff x="1200" y="896"/>
            <a:chExt cx="768" cy="231"/>
          </a:xfrm>
        </p:grpSpPr>
        <p:sp>
          <p:nvSpPr>
            <p:cNvPr id="56" name="Rectangle 4" descr="Paper bag">
              <a:extLst>
                <a:ext uri="{FF2B5EF4-FFF2-40B4-BE49-F238E27FC236}">
                  <a16:creationId xmlns:a16="http://schemas.microsoft.com/office/drawing/2014/main" id="{265EA868-13E9-49D8-B40D-C350534BFE37}"/>
                </a:ext>
              </a:extLst>
            </p:cNvPr>
            <p:cNvSpPr>
              <a:spLocks noChangeArrowheads="1"/>
            </p:cNvSpPr>
            <p:nvPr/>
          </p:nvSpPr>
          <p:spPr bwMode="auto">
            <a:xfrm>
              <a:off x="1200" y="912"/>
              <a:ext cx="768" cy="192"/>
            </a:xfrm>
            <a:prstGeom prst="rect">
              <a:avLst/>
            </a:prstGeom>
            <a:noFill/>
            <a:ln w="38100">
              <a:solidFill>
                <a:schemeClr val="tx1"/>
              </a:solidFill>
              <a:miter lim="800000"/>
              <a:headEnd/>
              <a:tailEn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0"/>
                </a:spcBef>
                <a:buFontTx/>
                <a:buNone/>
              </a:pPr>
              <a:endParaRPr lang="en-US" altLang="en-US" sz="2400">
                <a:latin typeface="Arial" panose="020B0604020202020204" pitchFamily="34" charset="0"/>
              </a:endParaRPr>
            </a:p>
          </p:txBody>
        </p:sp>
        <p:sp>
          <p:nvSpPr>
            <p:cNvPr id="57" name="Text Box 5" descr="Paper bag">
              <a:extLst>
                <a:ext uri="{FF2B5EF4-FFF2-40B4-BE49-F238E27FC236}">
                  <a16:creationId xmlns:a16="http://schemas.microsoft.com/office/drawing/2014/main" id="{D6929571-92DB-42C8-8374-91E2450F9297}"/>
                </a:ext>
              </a:extLst>
            </p:cNvPr>
            <p:cNvSpPr txBox="1">
              <a:spLocks noChangeArrowheads="1"/>
            </p:cNvSpPr>
            <p:nvPr/>
          </p:nvSpPr>
          <p:spPr bwMode="auto">
            <a:xfrm>
              <a:off x="1200" y="896"/>
              <a:ext cx="768" cy="23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1800">
                  <a:latin typeface="Arial" panose="020B0604020202020204" pitchFamily="34" charset="0"/>
                </a:rPr>
                <a:t>socket()</a:t>
              </a:r>
            </a:p>
          </p:txBody>
        </p:sp>
      </p:grpSp>
      <p:grpSp>
        <p:nvGrpSpPr>
          <p:cNvPr id="5" name="Group 8">
            <a:extLst>
              <a:ext uri="{FF2B5EF4-FFF2-40B4-BE49-F238E27FC236}">
                <a16:creationId xmlns:a16="http://schemas.microsoft.com/office/drawing/2014/main" id="{787192D1-6B10-498E-98B2-CAC595CD04AB}"/>
              </a:ext>
            </a:extLst>
          </p:cNvPr>
          <p:cNvGrpSpPr>
            <a:grpSpLocks/>
          </p:cNvGrpSpPr>
          <p:nvPr/>
        </p:nvGrpSpPr>
        <p:grpSpPr bwMode="auto">
          <a:xfrm>
            <a:off x="3057525" y="2462217"/>
            <a:ext cx="1219200" cy="366713"/>
            <a:chOff x="1200" y="896"/>
            <a:chExt cx="768" cy="231"/>
          </a:xfrm>
        </p:grpSpPr>
        <p:sp>
          <p:nvSpPr>
            <p:cNvPr id="54" name="Rectangle 9" descr="Paper bag">
              <a:extLst>
                <a:ext uri="{FF2B5EF4-FFF2-40B4-BE49-F238E27FC236}">
                  <a16:creationId xmlns:a16="http://schemas.microsoft.com/office/drawing/2014/main" id="{16C6545D-5E61-40D2-B877-6127AB449402}"/>
                </a:ext>
              </a:extLst>
            </p:cNvPr>
            <p:cNvSpPr>
              <a:spLocks noChangeArrowheads="1"/>
            </p:cNvSpPr>
            <p:nvPr/>
          </p:nvSpPr>
          <p:spPr bwMode="auto">
            <a:xfrm>
              <a:off x="1200" y="912"/>
              <a:ext cx="768" cy="192"/>
            </a:xfrm>
            <a:prstGeom prst="rect">
              <a:avLst/>
            </a:prstGeom>
            <a:noFill/>
            <a:ln w="38100">
              <a:solidFill>
                <a:schemeClr val="tx1"/>
              </a:solidFill>
              <a:miter lim="800000"/>
              <a:headEnd/>
              <a:tailEn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0"/>
                </a:spcBef>
                <a:buFontTx/>
                <a:buNone/>
              </a:pPr>
              <a:endParaRPr lang="en-US" altLang="en-US" sz="2400">
                <a:latin typeface="Arial" panose="020B0604020202020204" pitchFamily="34" charset="0"/>
              </a:endParaRPr>
            </a:p>
          </p:txBody>
        </p:sp>
        <p:sp>
          <p:nvSpPr>
            <p:cNvPr id="55" name="Text Box 10" descr="Paper bag">
              <a:extLst>
                <a:ext uri="{FF2B5EF4-FFF2-40B4-BE49-F238E27FC236}">
                  <a16:creationId xmlns:a16="http://schemas.microsoft.com/office/drawing/2014/main" id="{694B3673-3E2C-42A0-BD18-C96D21146616}"/>
                </a:ext>
              </a:extLst>
            </p:cNvPr>
            <p:cNvSpPr txBox="1">
              <a:spLocks noChangeArrowheads="1"/>
            </p:cNvSpPr>
            <p:nvPr/>
          </p:nvSpPr>
          <p:spPr bwMode="auto">
            <a:xfrm>
              <a:off x="1200" y="896"/>
              <a:ext cx="768" cy="23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1800">
                  <a:latin typeface="Arial" panose="020B0604020202020204" pitchFamily="34" charset="0"/>
                </a:rPr>
                <a:t>bind()</a:t>
              </a:r>
            </a:p>
          </p:txBody>
        </p:sp>
      </p:grpSp>
      <p:grpSp>
        <p:nvGrpSpPr>
          <p:cNvPr id="6" name="Group 11">
            <a:extLst>
              <a:ext uri="{FF2B5EF4-FFF2-40B4-BE49-F238E27FC236}">
                <a16:creationId xmlns:a16="http://schemas.microsoft.com/office/drawing/2014/main" id="{2907552E-83AE-47F7-B51F-8582194957D5}"/>
              </a:ext>
            </a:extLst>
          </p:cNvPr>
          <p:cNvGrpSpPr>
            <a:grpSpLocks/>
          </p:cNvGrpSpPr>
          <p:nvPr/>
        </p:nvGrpSpPr>
        <p:grpSpPr bwMode="auto">
          <a:xfrm>
            <a:off x="3057525" y="3060700"/>
            <a:ext cx="1219200" cy="366713"/>
            <a:chOff x="1200" y="896"/>
            <a:chExt cx="768" cy="231"/>
          </a:xfrm>
        </p:grpSpPr>
        <p:sp>
          <p:nvSpPr>
            <p:cNvPr id="52" name="Rectangle 12" descr="Paper bag">
              <a:extLst>
                <a:ext uri="{FF2B5EF4-FFF2-40B4-BE49-F238E27FC236}">
                  <a16:creationId xmlns:a16="http://schemas.microsoft.com/office/drawing/2014/main" id="{8629C9A4-B345-4976-A12C-97A2B93B3F70}"/>
                </a:ext>
              </a:extLst>
            </p:cNvPr>
            <p:cNvSpPr>
              <a:spLocks noChangeArrowheads="1"/>
            </p:cNvSpPr>
            <p:nvPr/>
          </p:nvSpPr>
          <p:spPr bwMode="auto">
            <a:xfrm>
              <a:off x="1200" y="912"/>
              <a:ext cx="768" cy="192"/>
            </a:xfrm>
            <a:prstGeom prst="rect">
              <a:avLst/>
            </a:prstGeom>
            <a:noFill/>
            <a:ln w="38100">
              <a:solidFill>
                <a:schemeClr val="tx1"/>
              </a:solidFill>
              <a:miter lim="800000"/>
              <a:headEnd/>
              <a:tailEn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0"/>
                </a:spcBef>
                <a:buFontTx/>
                <a:buNone/>
              </a:pPr>
              <a:endParaRPr lang="en-US" altLang="en-US" sz="2400">
                <a:latin typeface="Arial" panose="020B0604020202020204" pitchFamily="34" charset="0"/>
              </a:endParaRPr>
            </a:p>
          </p:txBody>
        </p:sp>
        <p:sp>
          <p:nvSpPr>
            <p:cNvPr id="53" name="Text Box 13" descr="Paper bag">
              <a:extLst>
                <a:ext uri="{FF2B5EF4-FFF2-40B4-BE49-F238E27FC236}">
                  <a16:creationId xmlns:a16="http://schemas.microsoft.com/office/drawing/2014/main" id="{18EBCF1A-7F1E-447D-8C43-39CCF53E8F6E}"/>
                </a:ext>
              </a:extLst>
            </p:cNvPr>
            <p:cNvSpPr txBox="1">
              <a:spLocks noChangeArrowheads="1"/>
            </p:cNvSpPr>
            <p:nvPr/>
          </p:nvSpPr>
          <p:spPr bwMode="auto">
            <a:xfrm>
              <a:off x="1200" y="896"/>
              <a:ext cx="768" cy="23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1800">
                  <a:latin typeface="Arial" panose="020B0604020202020204" pitchFamily="34" charset="0"/>
                </a:rPr>
                <a:t>listen()</a:t>
              </a:r>
            </a:p>
          </p:txBody>
        </p:sp>
      </p:grpSp>
      <p:grpSp>
        <p:nvGrpSpPr>
          <p:cNvPr id="7" name="Group 14">
            <a:extLst>
              <a:ext uri="{FF2B5EF4-FFF2-40B4-BE49-F238E27FC236}">
                <a16:creationId xmlns:a16="http://schemas.microsoft.com/office/drawing/2014/main" id="{9D5A802B-2970-41D3-ACC4-24102CAF5F8B}"/>
              </a:ext>
            </a:extLst>
          </p:cNvPr>
          <p:cNvGrpSpPr>
            <a:grpSpLocks/>
          </p:cNvGrpSpPr>
          <p:nvPr/>
        </p:nvGrpSpPr>
        <p:grpSpPr bwMode="auto">
          <a:xfrm>
            <a:off x="3057525" y="3656017"/>
            <a:ext cx="1219200" cy="366713"/>
            <a:chOff x="1200" y="896"/>
            <a:chExt cx="768" cy="231"/>
          </a:xfrm>
        </p:grpSpPr>
        <p:sp>
          <p:nvSpPr>
            <p:cNvPr id="50" name="Rectangle 15" descr="Paper bag">
              <a:extLst>
                <a:ext uri="{FF2B5EF4-FFF2-40B4-BE49-F238E27FC236}">
                  <a16:creationId xmlns:a16="http://schemas.microsoft.com/office/drawing/2014/main" id="{407226F2-C803-470A-BC0F-0B359B78DBC2}"/>
                </a:ext>
              </a:extLst>
            </p:cNvPr>
            <p:cNvSpPr>
              <a:spLocks noChangeArrowheads="1"/>
            </p:cNvSpPr>
            <p:nvPr/>
          </p:nvSpPr>
          <p:spPr bwMode="auto">
            <a:xfrm>
              <a:off x="1200" y="912"/>
              <a:ext cx="768" cy="192"/>
            </a:xfrm>
            <a:prstGeom prst="rect">
              <a:avLst/>
            </a:prstGeom>
            <a:noFill/>
            <a:ln w="38100">
              <a:solidFill>
                <a:schemeClr val="tx1"/>
              </a:solidFill>
              <a:miter lim="800000"/>
              <a:headEnd/>
              <a:tailEn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0"/>
                </a:spcBef>
                <a:buFontTx/>
                <a:buNone/>
              </a:pPr>
              <a:endParaRPr lang="en-US" altLang="en-US" sz="2400">
                <a:latin typeface="Arial" panose="020B0604020202020204" pitchFamily="34" charset="0"/>
              </a:endParaRPr>
            </a:p>
          </p:txBody>
        </p:sp>
        <p:sp>
          <p:nvSpPr>
            <p:cNvPr id="51" name="Text Box 16" descr="Paper bag">
              <a:extLst>
                <a:ext uri="{FF2B5EF4-FFF2-40B4-BE49-F238E27FC236}">
                  <a16:creationId xmlns:a16="http://schemas.microsoft.com/office/drawing/2014/main" id="{A2744B73-97B9-4AD8-9D26-C5D58D08EF88}"/>
                </a:ext>
              </a:extLst>
            </p:cNvPr>
            <p:cNvSpPr txBox="1">
              <a:spLocks noChangeArrowheads="1"/>
            </p:cNvSpPr>
            <p:nvPr/>
          </p:nvSpPr>
          <p:spPr bwMode="auto">
            <a:xfrm>
              <a:off x="1200" y="896"/>
              <a:ext cx="768" cy="23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1800">
                  <a:latin typeface="Arial" panose="020B0604020202020204" pitchFamily="34" charset="0"/>
                </a:rPr>
                <a:t>accept()</a:t>
              </a:r>
            </a:p>
          </p:txBody>
        </p:sp>
      </p:grpSp>
      <p:grpSp>
        <p:nvGrpSpPr>
          <p:cNvPr id="8" name="Group 17">
            <a:extLst>
              <a:ext uri="{FF2B5EF4-FFF2-40B4-BE49-F238E27FC236}">
                <a16:creationId xmlns:a16="http://schemas.microsoft.com/office/drawing/2014/main" id="{D20C7C8A-5072-44ED-97FA-0EFD677A5E33}"/>
              </a:ext>
            </a:extLst>
          </p:cNvPr>
          <p:cNvGrpSpPr>
            <a:grpSpLocks/>
          </p:cNvGrpSpPr>
          <p:nvPr/>
        </p:nvGrpSpPr>
        <p:grpSpPr bwMode="auto">
          <a:xfrm>
            <a:off x="3057525" y="4873625"/>
            <a:ext cx="1219200" cy="366713"/>
            <a:chOff x="1200" y="896"/>
            <a:chExt cx="768" cy="231"/>
          </a:xfrm>
        </p:grpSpPr>
        <p:sp>
          <p:nvSpPr>
            <p:cNvPr id="48" name="Rectangle 18" descr="Paper bag">
              <a:extLst>
                <a:ext uri="{FF2B5EF4-FFF2-40B4-BE49-F238E27FC236}">
                  <a16:creationId xmlns:a16="http://schemas.microsoft.com/office/drawing/2014/main" id="{B79FB398-E97A-494E-AB1A-C6CFD35533E1}"/>
                </a:ext>
              </a:extLst>
            </p:cNvPr>
            <p:cNvSpPr>
              <a:spLocks noChangeArrowheads="1"/>
            </p:cNvSpPr>
            <p:nvPr/>
          </p:nvSpPr>
          <p:spPr bwMode="auto">
            <a:xfrm>
              <a:off x="1200" y="912"/>
              <a:ext cx="768" cy="192"/>
            </a:xfrm>
            <a:prstGeom prst="rect">
              <a:avLst/>
            </a:prstGeom>
            <a:noFill/>
            <a:ln w="38100">
              <a:solidFill>
                <a:schemeClr val="tx1"/>
              </a:solidFill>
              <a:miter lim="800000"/>
              <a:headEnd/>
              <a:tailEn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0"/>
                </a:spcBef>
                <a:buFontTx/>
                <a:buNone/>
              </a:pPr>
              <a:endParaRPr lang="en-US" altLang="en-US" sz="2400">
                <a:latin typeface="Arial" panose="020B0604020202020204" pitchFamily="34" charset="0"/>
              </a:endParaRPr>
            </a:p>
          </p:txBody>
        </p:sp>
        <p:sp>
          <p:nvSpPr>
            <p:cNvPr id="49" name="Text Box 19" descr="Paper bag">
              <a:extLst>
                <a:ext uri="{FF2B5EF4-FFF2-40B4-BE49-F238E27FC236}">
                  <a16:creationId xmlns:a16="http://schemas.microsoft.com/office/drawing/2014/main" id="{BF78B630-65D0-4FAA-A628-66282304927B}"/>
                </a:ext>
              </a:extLst>
            </p:cNvPr>
            <p:cNvSpPr txBox="1">
              <a:spLocks noChangeArrowheads="1"/>
            </p:cNvSpPr>
            <p:nvPr/>
          </p:nvSpPr>
          <p:spPr bwMode="auto">
            <a:xfrm>
              <a:off x="1200" y="896"/>
              <a:ext cx="768" cy="23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1800">
                  <a:latin typeface="Arial" panose="020B0604020202020204" pitchFamily="34" charset="0"/>
                </a:rPr>
                <a:t>read()</a:t>
              </a:r>
            </a:p>
          </p:txBody>
        </p:sp>
      </p:grpSp>
      <p:grpSp>
        <p:nvGrpSpPr>
          <p:cNvPr id="9" name="Group 20">
            <a:extLst>
              <a:ext uri="{FF2B5EF4-FFF2-40B4-BE49-F238E27FC236}">
                <a16:creationId xmlns:a16="http://schemas.microsoft.com/office/drawing/2014/main" id="{CE6A262F-B54A-4660-A346-D6A19A6E9CF4}"/>
              </a:ext>
            </a:extLst>
          </p:cNvPr>
          <p:cNvGrpSpPr>
            <a:grpSpLocks/>
          </p:cNvGrpSpPr>
          <p:nvPr/>
        </p:nvGrpSpPr>
        <p:grpSpPr bwMode="auto">
          <a:xfrm>
            <a:off x="3057525" y="6056317"/>
            <a:ext cx="1219200" cy="366713"/>
            <a:chOff x="1200" y="896"/>
            <a:chExt cx="768" cy="231"/>
          </a:xfrm>
        </p:grpSpPr>
        <p:sp>
          <p:nvSpPr>
            <p:cNvPr id="46" name="Rectangle 21" descr="Paper bag">
              <a:extLst>
                <a:ext uri="{FF2B5EF4-FFF2-40B4-BE49-F238E27FC236}">
                  <a16:creationId xmlns:a16="http://schemas.microsoft.com/office/drawing/2014/main" id="{FF7F6B85-7DB4-4368-A80C-12B876932C0E}"/>
                </a:ext>
              </a:extLst>
            </p:cNvPr>
            <p:cNvSpPr>
              <a:spLocks noChangeArrowheads="1"/>
            </p:cNvSpPr>
            <p:nvPr/>
          </p:nvSpPr>
          <p:spPr bwMode="auto">
            <a:xfrm>
              <a:off x="1200" y="912"/>
              <a:ext cx="768" cy="192"/>
            </a:xfrm>
            <a:prstGeom prst="rect">
              <a:avLst/>
            </a:prstGeom>
            <a:noFill/>
            <a:ln w="38100">
              <a:solidFill>
                <a:schemeClr val="tx1"/>
              </a:solidFill>
              <a:miter lim="800000"/>
              <a:headEnd/>
              <a:tailEn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0"/>
                </a:spcBef>
                <a:buFontTx/>
                <a:buNone/>
              </a:pPr>
              <a:endParaRPr lang="en-US" altLang="en-US" sz="2400">
                <a:latin typeface="Arial" panose="020B0604020202020204" pitchFamily="34" charset="0"/>
              </a:endParaRPr>
            </a:p>
          </p:txBody>
        </p:sp>
        <p:sp>
          <p:nvSpPr>
            <p:cNvPr id="47" name="Text Box 22" descr="Paper bag">
              <a:extLst>
                <a:ext uri="{FF2B5EF4-FFF2-40B4-BE49-F238E27FC236}">
                  <a16:creationId xmlns:a16="http://schemas.microsoft.com/office/drawing/2014/main" id="{40D1B670-EF94-4BFC-88C3-3732AB9AD8F9}"/>
                </a:ext>
              </a:extLst>
            </p:cNvPr>
            <p:cNvSpPr txBox="1">
              <a:spLocks noChangeArrowheads="1"/>
            </p:cNvSpPr>
            <p:nvPr/>
          </p:nvSpPr>
          <p:spPr bwMode="auto">
            <a:xfrm>
              <a:off x="1200" y="896"/>
              <a:ext cx="768" cy="23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1800">
                  <a:latin typeface="Arial" panose="020B0604020202020204" pitchFamily="34" charset="0"/>
                </a:rPr>
                <a:t>write()</a:t>
              </a:r>
            </a:p>
          </p:txBody>
        </p:sp>
      </p:grpSp>
      <p:sp>
        <p:nvSpPr>
          <p:cNvPr id="10" name="Line 23">
            <a:extLst>
              <a:ext uri="{FF2B5EF4-FFF2-40B4-BE49-F238E27FC236}">
                <a16:creationId xmlns:a16="http://schemas.microsoft.com/office/drawing/2014/main" id="{AFFCD535-0BF3-4743-8CD5-4E1BAB8D3F35}"/>
              </a:ext>
            </a:extLst>
          </p:cNvPr>
          <p:cNvSpPr>
            <a:spLocks noChangeShapeType="1"/>
          </p:cNvSpPr>
          <p:nvPr/>
        </p:nvSpPr>
        <p:spPr bwMode="auto">
          <a:xfrm>
            <a:off x="3667125" y="2206625"/>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endParaRPr lang="zh-TW" altLang="en-US"/>
          </a:p>
        </p:txBody>
      </p:sp>
      <p:sp>
        <p:nvSpPr>
          <p:cNvPr id="11" name="Line 24">
            <a:extLst>
              <a:ext uri="{FF2B5EF4-FFF2-40B4-BE49-F238E27FC236}">
                <a16:creationId xmlns:a16="http://schemas.microsoft.com/office/drawing/2014/main" id="{04B835DA-A1E8-46B7-8845-DA14C720036A}"/>
              </a:ext>
            </a:extLst>
          </p:cNvPr>
          <p:cNvSpPr>
            <a:spLocks noChangeShapeType="1"/>
          </p:cNvSpPr>
          <p:nvPr/>
        </p:nvSpPr>
        <p:spPr bwMode="auto">
          <a:xfrm>
            <a:off x="3667125" y="2790825"/>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endParaRPr lang="zh-TW" altLang="en-US"/>
          </a:p>
        </p:txBody>
      </p:sp>
      <p:sp>
        <p:nvSpPr>
          <p:cNvPr id="12" name="Line 25">
            <a:extLst>
              <a:ext uri="{FF2B5EF4-FFF2-40B4-BE49-F238E27FC236}">
                <a16:creationId xmlns:a16="http://schemas.microsoft.com/office/drawing/2014/main" id="{030261AF-8CCB-4969-9359-A509BE8AB213}"/>
              </a:ext>
            </a:extLst>
          </p:cNvPr>
          <p:cNvSpPr>
            <a:spLocks noChangeShapeType="1"/>
          </p:cNvSpPr>
          <p:nvPr/>
        </p:nvSpPr>
        <p:spPr bwMode="auto">
          <a:xfrm>
            <a:off x="3667125" y="3389313"/>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endParaRPr lang="zh-TW" altLang="en-US"/>
          </a:p>
        </p:txBody>
      </p:sp>
      <p:sp>
        <p:nvSpPr>
          <p:cNvPr id="13" name="Line 26">
            <a:extLst>
              <a:ext uri="{FF2B5EF4-FFF2-40B4-BE49-F238E27FC236}">
                <a16:creationId xmlns:a16="http://schemas.microsoft.com/office/drawing/2014/main" id="{3A027F9E-6019-4DC6-AF43-264E269C41ED}"/>
              </a:ext>
            </a:extLst>
          </p:cNvPr>
          <p:cNvSpPr>
            <a:spLocks noChangeShapeType="1"/>
          </p:cNvSpPr>
          <p:nvPr/>
        </p:nvSpPr>
        <p:spPr bwMode="auto">
          <a:xfrm>
            <a:off x="3667125" y="3971925"/>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endParaRPr lang="zh-TW" altLang="en-US"/>
          </a:p>
        </p:txBody>
      </p:sp>
      <p:sp>
        <p:nvSpPr>
          <p:cNvPr id="14" name="Text Box 27" descr="Paper bag">
            <a:extLst>
              <a:ext uri="{FF2B5EF4-FFF2-40B4-BE49-F238E27FC236}">
                <a16:creationId xmlns:a16="http://schemas.microsoft.com/office/drawing/2014/main" id="{31751F54-B6D1-4532-9596-291171620832}"/>
              </a:ext>
            </a:extLst>
          </p:cNvPr>
          <p:cNvSpPr txBox="1">
            <a:spLocks noChangeArrowheads="1"/>
          </p:cNvSpPr>
          <p:nvPr/>
        </p:nvSpPr>
        <p:spPr bwMode="auto">
          <a:xfrm>
            <a:off x="2752725" y="4187825"/>
            <a:ext cx="1905000" cy="366713"/>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1800" i="1">
                <a:latin typeface="Arial" panose="020B0604020202020204" pitchFamily="34" charset="0"/>
              </a:rPr>
              <a:t>[blocked]</a:t>
            </a:r>
          </a:p>
        </p:txBody>
      </p:sp>
      <p:grpSp>
        <p:nvGrpSpPr>
          <p:cNvPr id="15" name="Group 28">
            <a:extLst>
              <a:ext uri="{FF2B5EF4-FFF2-40B4-BE49-F238E27FC236}">
                <a16:creationId xmlns:a16="http://schemas.microsoft.com/office/drawing/2014/main" id="{096D957E-02CD-4BB4-9AB5-7BACBAE3793D}"/>
              </a:ext>
            </a:extLst>
          </p:cNvPr>
          <p:cNvGrpSpPr>
            <a:grpSpLocks/>
          </p:cNvGrpSpPr>
          <p:nvPr/>
        </p:nvGrpSpPr>
        <p:grpSpPr bwMode="auto">
          <a:xfrm>
            <a:off x="7578725" y="2587625"/>
            <a:ext cx="1219200" cy="366713"/>
            <a:chOff x="1200" y="896"/>
            <a:chExt cx="768" cy="231"/>
          </a:xfrm>
        </p:grpSpPr>
        <p:sp>
          <p:nvSpPr>
            <p:cNvPr id="44" name="Rectangle 29" descr="Paper bag">
              <a:extLst>
                <a:ext uri="{FF2B5EF4-FFF2-40B4-BE49-F238E27FC236}">
                  <a16:creationId xmlns:a16="http://schemas.microsoft.com/office/drawing/2014/main" id="{EB53C881-E9B6-4A6A-9D5D-815F6FCB8E7E}"/>
                </a:ext>
              </a:extLst>
            </p:cNvPr>
            <p:cNvSpPr>
              <a:spLocks noChangeArrowheads="1"/>
            </p:cNvSpPr>
            <p:nvPr/>
          </p:nvSpPr>
          <p:spPr bwMode="auto">
            <a:xfrm>
              <a:off x="1200" y="912"/>
              <a:ext cx="768" cy="192"/>
            </a:xfrm>
            <a:prstGeom prst="rect">
              <a:avLst/>
            </a:prstGeom>
            <a:noFill/>
            <a:ln w="38100">
              <a:solidFill>
                <a:schemeClr val="tx1"/>
              </a:solidFill>
              <a:miter lim="800000"/>
              <a:headEnd/>
              <a:tailEn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0"/>
                </a:spcBef>
                <a:buFontTx/>
                <a:buNone/>
              </a:pPr>
              <a:endParaRPr lang="en-US" altLang="en-US" sz="2400">
                <a:latin typeface="Arial" panose="020B0604020202020204" pitchFamily="34" charset="0"/>
              </a:endParaRPr>
            </a:p>
          </p:txBody>
        </p:sp>
        <p:sp>
          <p:nvSpPr>
            <p:cNvPr id="45" name="Text Box 30" descr="Paper bag">
              <a:extLst>
                <a:ext uri="{FF2B5EF4-FFF2-40B4-BE49-F238E27FC236}">
                  <a16:creationId xmlns:a16="http://schemas.microsoft.com/office/drawing/2014/main" id="{684B71D1-3F23-46F0-98EC-FCDF25C45A7B}"/>
                </a:ext>
              </a:extLst>
            </p:cNvPr>
            <p:cNvSpPr txBox="1">
              <a:spLocks noChangeArrowheads="1"/>
            </p:cNvSpPr>
            <p:nvPr/>
          </p:nvSpPr>
          <p:spPr bwMode="auto">
            <a:xfrm>
              <a:off x="1200" y="896"/>
              <a:ext cx="768" cy="23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1800">
                  <a:latin typeface="Arial" panose="020B0604020202020204" pitchFamily="34" charset="0"/>
                </a:rPr>
                <a:t>socket()</a:t>
              </a:r>
            </a:p>
          </p:txBody>
        </p:sp>
      </p:grpSp>
      <p:grpSp>
        <p:nvGrpSpPr>
          <p:cNvPr id="16" name="Group 31">
            <a:extLst>
              <a:ext uri="{FF2B5EF4-FFF2-40B4-BE49-F238E27FC236}">
                <a16:creationId xmlns:a16="http://schemas.microsoft.com/office/drawing/2014/main" id="{80712529-2BC7-4614-9CB1-180BB00E1D34}"/>
              </a:ext>
            </a:extLst>
          </p:cNvPr>
          <p:cNvGrpSpPr>
            <a:grpSpLocks/>
          </p:cNvGrpSpPr>
          <p:nvPr/>
        </p:nvGrpSpPr>
        <p:grpSpPr bwMode="auto">
          <a:xfrm>
            <a:off x="7578725" y="3197225"/>
            <a:ext cx="1219200" cy="366713"/>
            <a:chOff x="1200" y="896"/>
            <a:chExt cx="768" cy="231"/>
          </a:xfrm>
        </p:grpSpPr>
        <p:sp>
          <p:nvSpPr>
            <p:cNvPr id="42" name="Rectangle 32" descr="Paper bag">
              <a:extLst>
                <a:ext uri="{FF2B5EF4-FFF2-40B4-BE49-F238E27FC236}">
                  <a16:creationId xmlns:a16="http://schemas.microsoft.com/office/drawing/2014/main" id="{830B68C2-4D73-483B-82EF-3E1C3BB8B405}"/>
                </a:ext>
              </a:extLst>
            </p:cNvPr>
            <p:cNvSpPr>
              <a:spLocks noChangeArrowheads="1"/>
            </p:cNvSpPr>
            <p:nvPr/>
          </p:nvSpPr>
          <p:spPr bwMode="auto">
            <a:xfrm>
              <a:off x="1200" y="912"/>
              <a:ext cx="768" cy="192"/>
            </a:xfrm>
            <a:prstGeom prst="rect">
              <a:avLst/>
            </a:prstGeom>
            <a:noFill/>
            <a:ln w="38100">
              <a:solidFill>
                <a:schemeClr val="tx1"/>
              </a:solidFill>
              <a:miter lim="800000"/>
              <a:headEnd/>
              <a:tailEn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0"/>
                </a:spcBef>
                <a:buFontTx/>
                <a:buNone/>
              </a:pPr>
              <a:endParaRPr lang="en-US" altLang="en-US" sz="2400">
                <a:latin typeface="Arial" panose="020B0604020202020204" pitchFamily="34" charset="0"/>
              </a:endParaRPr>
            </a:p>
          </p:txBody>
        </p:sp>
        <p:sp>
          <p:nvSpPr>
            <p:cNvPr id="43" name="Text Box 33" descr="Paper bag">
              <a:extLst>
                <a:ext uri="{FF2B5EF4-FFF2-40B4-BE49-F238E27FC236}">
                  <a16:creationId xmlns:a16="http://schemas.microsoft.com/office/drawing/2014/main" id="{848A0C87-654D-4020-BD4A-A0036DA7829D}"/>
                </a:ext>
              </a:extLst>
            </p:cNvPr>
            <p:cNvSpPr txBox="1">
              <a:spLocks noChangeArrowheads="1"/>
            </p:cNvSpPr>
            <p:nvPr/>
          </p:nvSpPr>
          <p:spPr bwMode="auto">
            <a:xfrm>
              <a:off x="1200" y="896"/>
              <a:ext cx="768" cy="23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1800">
                  <a:latin typeface="Arial" panose="020B0604020202020204" pitchFamily="34" charset="0"/>
                </a:rPr>
                <a:t>connect()</a:t>
              </a:r>
            </a:p>
          </p:txBody>
        </p:sp>
      </p:grpSp>
      <p:grpSp>
        <p:nvGrpSpPr>
          <p:cNvPr id="17" name="Group 34">
            <a:extLst>
              <a:ext uri="{FF2B5EF4-FFF2-40B4-BE49-F238E27FC236}">
                <a16:creationId xmlns:a16="http://schemas.microsoft.com/office/drawing/2014/main" id="{66B0308F-F8B1-483C-88C8-20C5F4776531}"/>
              </a:ext>
            </a:extLst>
          </p:cNvPr>
          <p:cNvGrpSpPr>
            <a:grpSpLocks/>
          </p:cNvGrpSpPr>
          <p:nvPr/>
        </p:nvGrpSpPr>
        <p:grpSpPr bwMode="auto">
          <a:xfrm>
            <a:off x="7578725" y="3806825"/>
            <a:ext cx="1219200" cy="366713"/>
            <a:chOff x="1200" y="896"/>
            <a:chExt cx="768" cy="231"/>
          </a:xfrm>
        </p:grpSpPr>
        <p:sp>
          <p:nvSpPr>
            <p:cNvPr id="40" name="Rectangle 35" descr="Paper bag">
              <a:extLst>
                <a:ext uri="{FF2B5EF4-FFF2-40B4-BE49-F238E27FC236}">
                  <a16:creationId xmlns:a16="http://schemas.microsoft.com/office/drawing/2014/main" id="{39B9ED90-7CC6-4A71-A48D-C8459D4D614B}"/>
                </a:ext>
              </a:extLst>
            </p:cNvPr>
            <p:cNvSpPr>
              <a:spLocks noChangeArrowheads="1"/>
            </p:cNvSpPr>
            <p:nvPr/>
          </p:nvSpPr>
          <p:spPr bwMode="auto">
            <a:xfrm>
              <a:off x="1200" y="912"/>
              <a:ext cx="768" cy="192"/>
            </a:xfrm>
            <a:prstGeom prst="rect">
              <a:avLst/>
            </a:prstGeom>
            <a:noFill/>
            <a:ln w="38100">
              <a:solidFill>
                <a:schemeClr val="tx1"/>
              </a:solidFill>
              <a:miter lim="800000"/>
              <a:headEnd/>
              <a:tailEn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0"/>
                </a:spcBef>
                <a:buFontTx/>
                <a:buNone/>
              </a:pPr>
              <a:endParaRPr lang="en-US" altLang="en-US" sz="2400">
                <a:latin typeface="Arial" panose="020B0604020202020204" pitchFamily="34" charset="0"/>
              </a:endParaRPr>
            </a:p>
          </p:txBody>
        </p:sp>
        <p:sp>
          <p:nvSpPr>
            <p:cNvPr id="41" name="Text Box 36" descr="Paper bag">
              <a:extLst>
                <a:ext uri="{FF2B5EF4-FFF2-40B4-BE49-F238E27FC236}">
                  <a16:creationId xmlns:a16="http://schemas.microsoft.com/office/drawing/2014/main" id="{2A942B17-D547-433C-ABED-D7384BC93315}"/>
                </a:ext>
              </a:extLst>
            </p:cNvPr>
            <p:cNvSpPr txBox="1">
              <a:spLocks noChangeArrowheads="1"/>
            </p:cNvSpPr>
            <p:nvPr/>
          </p:nvSpPr>
          <p:spPr bwMode="auto">
            <a:xfrm>
              <a:off x="1200" y="896"/>
              <a:ext cx="768" cy="23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1800">
                  <a:latin typeface="Arial" panose="020B0604020202020204" pitchFamily="34" charset="0"/>
                </a:rPr>
                <a:t>write()</a:t>
              </a:r>
            </a:p>
          </p:txBody>
        </p:sp>
      </p:grpSp>
      <p:grpSp>
        <p:nvGrpSpPr>
          <p:cNvPr id="18" name="Group 37">
            <a:extLst>
              <a:ext uri="{FF2B5EF4-FFF2-40B4-BE49-F238E27FC236}">
                <a16:creationId xmlns:a16="http://schemas.microsoft.com/office/drawing/2014/main" id="{A9FC7757-DE77-4657-A9A9-B44DAC3C885A}"/>
              </a:ext>
            </a:extLst>
          </p:cNvPr>
          <p:cNvGrpSpPr>
            <a:grpSpLocks/>
          </p:cNvGrpSpPr>
          <p:nvPr/>
        </p:nvGrpSpPr>
        <p:grpSpPr bwMode="auto">
          <a:xfrm>
            <a:off x="7578725" y="4402142"/>
            <a:ext cx="1219200" cy="366713"/>
            <a:chOff x="1200" y="896"/>
            <a:chExt cx="768" cy="231"/>
          </a:xfrm>
        </p:grpSpPr>
        <p:sp>
          <p:nvSpPr>
            <p:cNvPr id="38" name="Rectangle 38" descr="Paper bag">
              <a:extLst>
                <a:ext uri="{FF2B5EF4-FFF2-40B4-BE49-F238E27FC236}">
                  <a16:creationId xmlns:a16="http://schemas.microsoft.com/office/drawing/2014/main" id="{C385816F-FABF-46C9-8480-3C4C015328E9}"/>
                </a:ext>
              </a:extLst>
            </p:cNvPr>
            <p:cNvSpPr>
              <a:spLocks noChangeArrowheads="1"/>
            </p:cNvSpPr>
            <p:nvPr/>
          </p:nvSpPr>
          <p:spPr bwMode="auto">
            <a:xfrm>
              <a:off x="1200" y="912"/>
              <a:ext cx="768" cy="192"/>
            </a:xfrm>
            <a:prstGeom prst="rect">
              <a:avLst/>
            </a:prstGeom>
            <a:noFill/>
            <a:ln w="38100">
              <a:solidFill>
                <a:schemeClr val="tx1"/>
              </a:solidFill>
              <a:miter lim="800000"/>
              <a:headEnd/>
              <a:tailEn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0"/>
                </a:spcBef>
                <a:buFontTx/>
                <a:buNone/>
              </a:pPr>
              <a:endParaRPr lang="en-US" altLang="en-US" sz="2400">
                <a:latin typeface="Arial" panose="020B0604020202020204" pitchFamily="34" charset="0"/>
              </a:endParaRPr>
            </a:p>
          </p:txBody>
        </p:sp>
        <p:sp>
          <p:nvSpPr>
            <p:cNvPr id="39" name="Text Box 39" descr="Paper bag">
              <a:extLst>
                <a:ext uri="{FF2B5EF4-FFF2-40B4-BE49-F238E27FC236}">
                  <a16:creationId xmlns:a16="http://schemas.microsoft.com/office/drawing/2014/main" id="{6C7B3824-8AD8-407C-B343-16DAF39D9028}"/>
                </a:ext>
              </a:extLst>
            </p:cNvPr>
            <p:cNvSpPr txBox="1">
              <a:spLocks noChangeArrowheads="1"/>
            </p:cNvSpPr>
            <p:nvPr/>
          </p:nvSpPr>
          <p:spPr bwMode="auto">
            <a:xfrm>
              <a:off x="1200" y="896"/>
              <a:ext cx="768" cy="23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1800">
                  <a:latin typeface="Arial" panose="020B0604020202020204" pitchFamily="34" charset="0"/>
                </a:rPr>
                <a:t>read()</a:t>
              </a:r>
            </a:p>
          </p:txBody>
        </p:sp>
      </p:grpSp>
      <p:sp>
        <p:nvSpPr>
          <p:cNvPr id="19" name="Line 40">
            <a:extLst>
              <a:ext uri="{FF2B5EF4-FFF2-40B4-BE49-F238E27FC236}">
                <a16:creationId xmlns:a16="http://schemas.microsoft.com/office/drawing/2014/main" id="{270AC9BF-5DCA-4A21-8CED-2D0F0846222B}"/>
              </a:ext>
            </a:extLst>
          </p:cNvPr>
          <p:cNvSpPr>
            <a:spLocks noChangeShapeType="1"/>
          </p:cNvSpPr>
          <p:nvPr/>
        </p:nvSpPr>
        <p:spPr bwMode="auto">
          <a:xfrm>
            <a:off x="8188325" y="2917825"/>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endParaRPr lang="zh-TW" altLang="en-US"/>
          </a:p>
        </p:txBody>
      </p:sp>
      <p:sp>
        <p:nvSpPr>
          <p:cNvPr id="20" name="Line 41">
            <a:extLst>
              <a:ext uri="{FF2B5EF4-FFF2-40B4-BE49-F238E27FC236}">
                <a16:creationId xmlns:a16="http://schemas.microsoft.com/office/drawing/2014/main" id="{99AB6A95-0B20-4E80-909B-CA258C3AE136}"/>
              </a:ext>
            </a:extLst>
          </p:cNvPr>
          <p:cNvSpPr>
            <a:spLocks noChangeShapeType="1"/>
          </p:cNvSpPr>
          <p:nvPr/>
        </p:nvSpPr>
        <p:spPr bwMode="auto">
          <a:xfrm>
            <a:off x="8188325" y="3525838"/>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endParaRPr lang="zh-TW" altLang="en-US"/>
          </a:p>
        </p:txBody>
      </p:sp>
      <p:sp>
        <p:nvSpPr>
          <p:cNvPr id="21" name="Line 42">
            <a:extLst>
              <a:ext uri="{FF2B5EF4-FFF2-40B4-BE49-F238E27FC236}">
                <a16:creationId xmlns:a16="http://schemas.microsoft.com/office/drawing/2014/main" id="{8F3F9387-7974-44D2-BA11-AC55839EE1AA}"/>
              </a:ext>
            </a:extLst>
          </p:cNvPr>
          <p:cNvSpPr>
            <a:spLocks noChangeShapeType="1"/>
          </p:cNvSpPr>
          <p:nvPr/>
        </p:nvSpPr>
        <p:spPr bwMode="auto">
          <a:xfrm>
            <a:off x="8188325" y="4135438"/>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endParaRPr lang="zh-TW" altLang="en-US"/>
          </a:p>
        </p:txBody>
      </p:sp>
      <p:sp>
        <p:nvSpPr>
          <p:cNvPr id="22" name="Line 43">
            <a:extLst>
              <a:ext uri="{FF2B5EF4-FFF2-40B4-BE49-F238E27FC236}">
                <a16:creationId xmlns:a16="http://schemas.microsoft.com/office/drawing/2014/main" id="{206AED90-93AE-4E8D-BF64-B5E1CBA4963A}"/>
              </a:ext>
            </a:extLst>
          </p:cNvPr>
          <p:cNvSpPr>
            <a:spLocks noChangeShapeType="1"/>
          </p:cNvSpPr>
          <p:nvPr/>
        </p:nvSpPr>
        <p:spPr bwMode="auto">
          <a:xfrm>
            <a:off x="8188325" y="4718050"/>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endParaRPr lang="zh-TW" altLang="en-US"/>
          </a:p>
        </p:txBody>
      </p:sp>
      <p:cxnSp>
        <p:nvCxnSpPr>
          <p:cNvPr id="23" name="AutoShape 44">
            <a:extLst>
              <a:ext uri="{FF2B5EF4-FFF2-40B4-BE49-F238E27FC236}">
                <a16:creationId xmlns:a16="http://schemas.microsoft.com/office/drawing/2014/main" id="{2F021D31-338E-42C7-88E0-4321AAEC5351}"/>
              </a:ext>
            </a:extLst>
          </p:cNvPr>
          <p:cNvCxnSpPr>
            <a:cxnSpLocks noChangeShapeType="1"/>
            <a:endCxn id="14" idx="2"/>
          </p:cNvCxnSpPr>
          <p:nvPr/>
        </p:nvCxnSpPr>
        <p:spPr bwMode="auto">
          <a:xfrm rot="10800000" flipV="1">
            <a:off x="3705225" y="3400425"/>
            <a:ext cx="3886200" cy="1154113"/>
          </a:xfrm>
          <a:prstGeom prst="bentConnector4">
            <a:avLst>
              <a:gd name="adj1" fmla="val 68421"/>
              <a:gd name="adj2" fmla="val 101787"/>
            </a:avLst>
          </a:prstGeom>
          <a:noFill/>
          <a:ln w="38100">
            <a:solidFill>
              <a:schemeClr val="tx1"/>
            </a:solidFill>
            <a:prstDash val="sysDot"/>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Line 45">
            <a:extLst>
              <a:ext uri="{FF2B5EF4-FFF2-40B4-BE49-F238E27FC236}">
                <a16:creationId xmlns:a16="http://schemas.microsoft.com/office/drawing/2014/main" id="{64FFA380-99B3-464A-B565-A2B18D46D973}"/>
              </a:ext>
            </a:extLst>
          </p:cNvPr>
          <p:cNvSpPr>
            <a:spLocks noChangeShapeType="1"/>
          </p:cNvSpPr>
          <p:nvPr/>
        </p:nvSpPr>
        <p:spPr bwMode="auto">
          <a:xfrm>
            <a:off x="3667125" y="4568825"/>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endParaRPr lang="zh-TW" altLang="en-US"/>
          </a:p>
        </p:txBody>
      </p:sp>
      <p:sp>
        <p:nvSpPr>
          <p:cNvPr id="25" name="Line 46">
            <a:extLst>
              <a:ext uri="{FF2B5EF4-FFF2-40B4-BE49-F238E27FC236}">
                <a16:creationId xmlns:a16="http://schemas.microsoft.com/office/drawing/2014/main" id="{774E1F26-D692-4A03-BFF7-9D7CEC7878C4}"/>
              </a:ext>
            </a:extLst>
          </p:cNvPr>
          <p:cNvSpPr>
            <a:spLocks noChangeShapeType="1"/>
          </p:cNvSpPr>
          <p:nvPr/>
        </p:nvSpPr>
        <p:spPr bwMode="auto">
          <a:xfrm>
            <a:off x="3667125" y="5191125"/>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endParaRPr lang="zh-TW" altLang="en-US"/>
          </a:p>
        </p:txBody>
      </p:sp>
      <p:sp>
        <p:nvSpPr>
          <p:cNvPr id="26" name="Text Box 47" descr="Paper bag">
            <a:extLst>
              <a:ext uri="{FF2B5EF4-FFF2-40B4-BE49-F238E27FC236}">
                <a16:creationId xmlns:a16="http://schemas.microsoft.com/office/drawing/2014/main" id="{E1C8259E-A8B6-4B04-8D07-4A1DD23845AE}"/>
              </a:ext>
            </a:extLst>
          </p:cNvPr>
          <p:cNvSpPr txBox="1">
            <a:spLocks noChangeArrowheads="1"/>
          </p:cNvSpPr>
          <p:nvPr/>
        </p:nvSpPr>
        <p:spPr bwMode="auto">
          <a:xfrm>
            <a:off x="2752725" y="5407025"/>
            <a:ext cx="1905000" cy="366713"/>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1800" i="1">
                <a:latin typeface="Arial" panose="020B0604020202020204" pitchFamily="34" charset="0"/>
              </a:rPr>
              <a:t>[blocked]</a:t>
            </a:r>
          </a:p>
        </p:txBody>
      </p:sp>
      <p:sp>
        <p:nvSpPr>
          <p:cNvPr id="27" name="Line 48">
            <a:extLst>
              <a:ext uri="{FF2B5EF4-FFF2-40B4-BE49-F238E27FC236}">
                <a16:creationId xmlns:a16="http://schemas.microsoft.com/office/drawing/2014/main" id="{B48D9ABD-B0E4-43E5-BD8F-1E3DE78F5A3D}"/>
              </a:ext>
            </a:extLst>
          </p:cNvPr>
          <p:cNvSpPr>
            <a:spLocks noChangeShapeType="1"/>
          </p:cNvSpPr>
          <p:nvPr/>
        </p:nvSpPr>
        <p:spPr bwMode="auto">
          <a:xfrm>
            <a:off x="3667125" y="5788025"/>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endParaRPr lang="zh-TW" altLang="en-US"/>
          </a:p>
        </p:txBody>
      </p:sp>
      <p:sp>
        <p:nvSpPr>
          <p:cNvPr id="28" name="Text Box 49" descr="Paper bag">
            <a:extLst>
              <a:ext uri="{FF2B5EF4-FFF2-40B4-BE49-F238E27FC236}">
                <a16:creationId xmlns:a16="http://schemas.microsoft.com/office/drawing/2014/main" id="{0E5C0307-5503-4022-BE30-3C374BC5AB3C}"/>
              </a:ext>
            </a:extLst>
          </p:cNvPr>
          <p:cNvSpPr txBox="1">
            <a:spLocks noChangeArrowheads="1"/>
          </p:cNvSpPr>
          <p:nvPr/>
        </p:nvSpPr>
        <p:spPr bwMode="auto">
          <a:xfrm>
            <a:off x="7248525" y="4949825"/>
            <a:ext cx="1905000" cy="366713"/>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1800" i="1">
                <a:latin typeface="Arial" panose="020B0604020202020204" pitchFamily="34" charset="0"/>
              </a:rPr>
              <a:t>[blocked]</a:t>
            </a:r>
          </a:p>
        </p:txBody>
      </p:sp>
      <p:cxnSp>
        <p:nvCxnSpPr>
          <p:cNvPr id="29" name="AutoShape 51">
            <a:extLst>
              <a:ext uri="{FF2B5EF4-FFF2-40B4-BE49-F238E27FC236}">
                <a16:creationId xmlns:a16="http://schemas.microsoft.com/office/drawing/2014/main" id="{308518FC-986F-4D7A-B7B0-7B56CE6EEE43}"/>
              </a:ext>
            </a:extLst>
          </p:cNvPr>
          <p:cNvCxnSpPr>
            <a:cxnSpLocks noChangeShapeType="1"/>
          </p:cNvCxnSpPr>
          <p:nvPr/>
        </p:nvCxnSpPr>
        <p:spPr bwMode="auto">
          <a:xfrm rot="10800000" flipV="1">
            <a:off x="3719513" y="3984625"/>
            <a:ext cx="3854450" cy="1789113"/>
          </a:xfrm>
          <a:prstGeom prst="bentConnector4">
            <a:avLst>
              <a:gd name="adj1" fmla="val 52509"/>
              <a:gd name="adj2" fmla="val 99644"/>
            </a:avLst>
          </a:prstGeom>
          <a:noFill/>
          <a:ln w="76200">
            <a:solidFill>
              <a:schemeClr val="accent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cxnSp>
      <p:cxnSp>
        <p:nvCxnSpPr>
          <p:cNvPr id="30" name="AutoShape 52">
            <a:extLst>
              <a:ext uri="{FF2B5EF4-FFF2-40B4-BE49-F238E27FC236}">
                <a16:creationId xmlns:a16="http://schemas.microsoft.com/office/drawing/2014/main" id="{46187B61-E600-4193-B5AE-CF555756B64B}"/>
              </a:ext>
            </a:extLst>
          </p:cNvPr>
          <p:cNvCxnSpPr>
            <a:cxnSpLocks noChangeShapeType="1"/>
            <a:stCxn id="47" idx="3"/>
          </p:cNvCxnSpPr>
          <p:nvPr/>
        </p:nvCxnSpPr>
        <p:spPr bwMode="auto">
          <a:xfrm flipV="1">
            <a:off x="4276725" y="5311775"/>
            <a:ext cx="3937000" cy="928688"/>
          </a:xfrm>
          <a:prstGeom prst="bentConnector3">
            <a:avLst>
              <a:gd name="adj1" fmla="val 50000"/>
            </a:avLst>
          </a:prstGeom>
          <a:noFill/>
          <a:ln w="76200">
            <a:solidFill>
              <a:schemeClr val="accent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AutoShape 53">
            <a:extLst>
              <a:ext uri="{FF2B5EF4-FFF2-40B4-BE49-F238E27FC236}">
                <a16:creationId xmlns:a16="http://schemas.microsoft.com/office/drawing/2014/main" id="{1EA6C0E4-22C4-4F5C-AB61-C2D4D14495AA}"/>
              </a:ext>
            </a:extLst>
          </p:cNvPr>
          <p:cNvCxnSpPr>
            <a:cxnSpLocks noChangeShapeType="1"/>
            <a:endCxn id="49" idx="1"/>
          </p:cNvCxnSpPr>
          <p:nvPr/>
        </p:nvCxnSpPr>
        <p:spPr bwMode="auto">
          <a:xfrm rot="5400000" flipH="1">
            <a:off x="2619375" y="5495925"/>
            <a:ext cx="1333500" cy="457200"/>
          </a:xfrm>
          <a:prstGeom prst="bentConnector4">
            <a:avLst>
              <a:gd name="adj1" fmla="val -19884"/>
              <a:gd name="adj2" fmla="val 197569"/>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AutoShape 54">
            <a:extLst>
              <a:ext uri="{FF2B5EF4-FFF2-40B4-BE49-F238E27FC236}">
                <a16:creationId xmlns:a16="http://schemas.microsoft.com/office/drawing/2014/main" id="{057C8AB9-A0C7-4B73-875F-D67E87BCA483}"/>
              </a:ext>
            </a:extLst>
          </p:cNvPr>
          <p:cNvCxnSpPr>
            <a:cxnSpLocks noChangeShapeType="1"/>
            <a:stCxn id="28" idx="2"/>
            <a:endCxn id="41" idx="3"/>
          </p:cNvCxnSpPr>
          <p:nvPr/>
        </p:nvCxnSpPr>
        <p:spPr bwMode="auto">
          <a:xfrm rot="5400000" flipH="1" flipV="1">
            <a:off x="7836693" y="4355307"/>
            <a:ext cx="1325563" cy="596900"/>
          </a:xfrm>
          <a:prstGeom prst="bentConnector4">
            <a:avLst>
              <a:gd name="adj1" fmla="val -17245"/>
              <a:gd name="adj2" fmla="val 197870"/>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Text Box 55" descr="Paper bag">
            <a:extLst>
              <a:ext uri="{FF2B5EF4-FFF2-40B4-BE49-F238E27FC236}">
                <a16:creationId xmlns:a16="http://schemas.microsoft.com/office/drawing/2014/main" id="{387C6D33-5F38-4E64-A9C4-6FEE25D38618}"/>
              </a:ext>
            </a:extLst>
          </p:cNvPr>
          <p:cNvSpPr txBox="1">
            <a:spLocks noChangeArrowheads="1"/>
          </p:cNvSpPr>
          <p:nvPr/>
        </p:nvSpPr>
        <p:spPr bwMode="auto">
          <a:xfrm>
            <a:off x="4352925" y="1825625"/>
            <a:ext cx="2057400" cy="457200"/>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spcBef>
                <a:spcPct val="50000"/>
              </a:spcBef>
              <a:buFontTx/>
              <a:buNone/>
            </a:pPr>
            <a:r>
              <a:rPr lang="en-US" altLang="en-US" sz="2400">
                <a:latin typeface="Arial" panose="020B0604020202020204" pitchFamily="34" charset="0"/>
              </a:rPr>
              <a:t>Server</a:t>
            </a:r>
          </a:p>
        </p:txBody>
      </p:sp>
      <p:sp>
        <p:nvSpPr>
          <p:cNvPr id="34" name="Text Box 56" descr="Paper bag">
            <a:extLst>
              <a:ext uri="{FF2B5EF4-FFF2-40B4-BE49-F238E27FC236}">
                <a16:creationId xmlns:a16="http://schemas.microsoft.com/office/drawing/2014/main" id="{D9A58587-F0DA-4B41-8F41-9021FD332106}"/>
              </a:ext>
            </a:extLst>
          </p:cNvPr>
          <p:cNvSpPr txBox="1">
            <a:spLocks noChangeArrowheads="1"/>
          </p:cNvSpPr>
          <p:nvPr/>
        </p:nvSpPr>
        <p:spPr bwMode="auto">
          <a:xfrm>
            <a:off x="7172325" y="1825625"/>
            <a:ext cx="2057400" cy="457200"/>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50000"/>
              </a:spcBef>
              <a:buFontTx/>
              <a:buNone/>
            </a:pPr>
            <a:r>
              <a:rPr lang="en-US" altLang="en-US" sz="2400">
                <a:latin typeface="Arial" panose="020B0604020202020204" pitchFamily="34" charset="0"/>
              </a:rPr>
              <a:t>Client</a:t>
            </a:r>
          </a:p>
        </p:txBody>
      </p:sp>
      <p:cxnSp>
        <p:nvCxnSpPr>
          <p:cNvPr id="35" name="AutoShape 57">
            <a:extLst>
              <a:ext uri="{FF2B5EF4-FFF2-40B4-BE49-F238E27FC236}">
                <a16:creationId xmlns:a16="http://schemas.microsoft.com/office/drawing/2014/main" id="{7428B5EE-E4B9-41F8-B397-F0D01EEBC563}"/>
              </a:ext>
            </a:extLst>
          </p:cNvPr>
          <p:cNvCxnSpPr>
            <a:cxnSpLocks noChangeShapeType="1"/>
            <a:endCxn id="51" idx="1"/>
          </p:cNvCxnSpPr>
          <p:nvPr/>
        </p:nvCxnSpPr>
        <p:spPr bwMode="auto">
          <a:xfrm rot="5400000" flipH="1">
            <a:off x="2163762" y="4733926"/>
            <a:ext cx="2549525" cy="762000"/>
          </a:xfrm>
          <a:prstGeom prst="bentConnector4">
            <a:avLst>
              <a:gd name="adj1" fmla="val -20736"/>
              <a:gd name="adj2" fmla="val 263333"/>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Text Box 58" descr="Paper bag">
            <a:extLst>
              <a:ext uri="{FF2B5EF4-FFF2-40B4-BE49-F238E27FC236}">
                <a16:creationId xmlns:a16="http://schemas.microsoft.com/office/drawing/2014/main" id="{C6E97FF1-60A4-47C3-B526-A0F283786C08}"/>
              </a:ext>
            </a:extLst>
          </p:cNvPr>
          <p:cNvSpPr txBox="1">
            <a:spLocks noChangeArrowheads="1"/>
          </p:cNvSpPr>
          <p:nvPr/>
        </p:nvSpPr>
        <p:spPr bwMode="auto">
          <a:xfrm>
            <a:off x="4032250" y="6361113"/>
            <a:ext cx="5426075" cy="457200"/>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a:spcBef>
                <a:spcPct val="0"/>
              </a:spcBef>
              <a:buFontTx/>
              <a:buNone/>
            </a:pPr>
            <a:endParaRPr lang="en-US" altLang="en-US" sz="2400">
              <a:latin typeface="Arial" panose="020B0604020202020204" pitchFamily="34" charset="0"/>
            </a:endParaRPr>
          </a:p>
        </p:txBody>
      </p:sp>
      <p:sp>
        <p:nvSpPr>
          <p:cNvPr id="37" name="Text Box 59" descr="Paper bag">
            <a:extLst>
              <a:ext uri="{FF2B5EF4-FFF2-40B4-BE49-F238E27FC236}">
                <a16:creationId xmlns:a16="http://schemas.microsoft.com/office/drawing/2014/main" id="{FF7FC0E4-4F1C-4319-93A9-95D85C874929}"/>
              </a:ext>
            </a:extLst>
          </p:cNvPr>
          <p:cNvSpPr txBox="1">
            <a:spLocks noChangeArrowheads="1"/>
          </p:cNvSpPr>
          <p:nvPr/>
        </p:nvSpPr>
        <p:spPr bwMode="auto">
          <a:xfrm>
            <a:off x="3819525" y="6397625"/>
            <a:ext cx="3048000" cy="51752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spcBef>
                <a:spcPct val="50000"/>
              </a:spcBef>
              <a:buFontTx/>
              <a:buNone/>
            </a:pPr>
            <a:r>
              <a:rPr lang="en-US" altLang="en-US" sz="1400" b="1">
                <a:latin typeface="Arial" panose="020B0604020202020204" pitchFamily="34" charset="0"/>
              </a:rPr>
              <a:t>When interaction is over, server loops to accept a new connection</a:t>
            </a:r>
          </a:p>
        </p:txBody>
      </p:sp>
    </p:spTree>
    <p:extLst>
      <p:ext uri="{BB962C8B-B14F-4D97-AF65-F5344CB8AC3E}">
        <p14:creationId xmlns:p14="http://schemas.microsoft.com/office/powerpoint/2010/main" val="2630051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442A9F4-EC5D-45B9-A595-279F80C73AD2}"/>
              </a:ext>
            </a:extLst>
          </p:cNvPr>
          <p:cNvSpPr>
            <a:spLocks noGrp="1"/>
          </p:cNvSpPr>
          <p:nvPr>
            <p:ph type="title"/>
          </p:nvPr>
        </p:nvSpPr>
        <p:spPr/>
        <p:txBody>
          <a:bodyPr/>
          <a:lstStyle/>
          <a:p>
            <a:r>
              <a:rPr lang="en-US" altLang="zh-TW" dirty="0"/>
              <a:t>TCP Server Example</a:t>
            </a:r>
            <a:endParaRPr lang="zh-TW" altLang="en-US" dirty="0"/>
          </a:p>
        </p:txBody>
      </p:sp>
      <p:sp>
        <p:nvSpPr>
          <p:cNvPr id="3" name="內容版面配置區 2">
            <a:extLst>
              <a:ext uri="{FF2B5EF4-FFF2-40B4-BE49-F238E27FC236}">
                <a16:creationId xmlns:a16="http://schemas.microsoft.com/office/drawing/2014/main" id="{09100845-53B6-4BB4-9FC1-C60424473B28}"/>
              </a:ext>
            </a:extLst>
          </p:cNvPr>
          <p:cNvSpPr>
            <a:spLocks noGrp="1"/>
          </p:cNvSpPr>
          <p:nvPr>
            <p:ph idx="1"/>
          </p:nvPr>
        </p:nvSpPr>
        <p:spPr/>
        <p:txBody>
          <a:bodyPr>
            <a:normAutofit lnSpcReduction="10000"/>
          </a:bodyPr>
          <a:lstStyle/>
          <a:p>
            <a:pPr marL="0" indent="0">
              <a:spcBef>
                <a:spcPct val="0"/>
              </a:spcBef>
              <a:buNone/>
            </a:pPr>
            <a:r>
              <a:rPr lang="en-US" altLang="en-US" sz="2400" b="1" dirty="0">
                <a:latin typeface="Courier New" panose="02070309020205020404" pitchFamily="49" charset="0"/>
              </a:rPr>
              <a:t>from socket import socket, AF_INET, SOCK_STREAM</a:t>
            </a:r>
          </a:p>
          <a:p>
            <a:pPr marL="0" indent="0">
              <a:spcBef>
                <a:spcPct val="0"/>
              </a:spcBef>
              <a:buNone/>
            </a:pPr>
            <a:r>
              <a:rPr lang="en-US" altLang="en-US" sz="2400" b="1" dirty="0">
                <a:latin typeface="Courier New" panose="02070309020205020404" pitchFamily="49" charset="0"/>
              </a:rPr>
              <a:t>s = socket(AF_INET, SOCK_STREAM)</a:t>
            </a:r>
          </a:p>
          <a:p>
            <a:pPr marL="0" indent="0">
              <a:spcBef>
                <a:spcPct val="0"/>
              </a:spcBef>
              <a:buNone/>
            </a:pPr>
            <a:r>
              <a:rPr lang="en-US" altLang="en-US" sz="2400" b="1" dirty="0" err="1">
                <a:latin typeface="Courier New" panose="02070309020205020404" pitchFamily="49" charset="0"/>
              </a:rPr>
              <a:t>s.bind</a:t>
            </a:r>
            <a:r>
              <a:rPr lang="en-US" altLang="en-US" sz="2400" b="1" dirty="0">
                <a:latin typeface="Courier New" panose="02070309020205020404" pitchFamily="49" charset="0"/>
              </a:rPr>
              <a:t>(('127.0.0.1', 9999))</a:t>
            </a:r>
          </a:p>
          <a:p>
            <a:pPr marL="0" indent="0">
              <a:spcBef>
                <a:spcPct val="0"/>
              </a:spcBef>
              <a:buNone/>
            </a:pPr>
            <a:r>
              <a:rPr lang="en-US" altLang="en-US" sz="2400" b="1" dirty="0" err="1">
                <a:latin typeface="Courier New" panose="02070309020205020404" pitchFamily="49" charset="0"/>
              </a:rPr>
              <a:t>s.listen</a:t>
            </a:r>
            <a:r>
              <a:rPr lang="en-US" altLang="en-US" sz="2400" b="1" dirty="0">
                <a:latin typeface="Courier New" panose="02070309020205020404" pitchFamily="49" charset="0"/>
              </a:rPr>
              <a:t>(5) # max queued connections</a:t>
            </a:r>
          </a:p>
          <a:p>
            <a:pPr marL="0" indent="0">
              <a:spcBef>
                <a:spcPct val="0"/>
              </a:spcBef>
              <a:buNone/>
            </a:pPr>
            <a:r>
              <a:rPr lang="en-US" altLang="en-US" sz="2400" b="1" dirty="0">
                <a:latin typeface="Courier New" panose="02070309020205020404" pitchFamily="49" charset="0"/>
              </a:rPr>
              <a:t>while True:</a:t>
            </a:r>
          </a:p>
          <a:p>
            <a:pPr marL="0" indent="0">
              <a:spcBef>
                <a:spcPct val="0"/>
              </a:spcBef>
              <a:buNone/>
            </a:pPr>
            <a:r>
              <a:rPr lang="en-US" altLang="en-US" sz="2400" b="1" dirty="0">
                <a:latin typeface="Courier New" panose="02070309020205020404" pitchFamily="49" charset="0"/>
              </a:rPr>
              <a:t>    sock, </a:t>
            </a:r>
            <a:r>
              <a:rPr lang="en-US" altLang="en-US" sz="2400" b="1" dirty="0" err="1">
                <a:latin typeface="Courier New" panose="02070309020205020404" pitchFamily="49" charset="0"/>
              </a:rPr>
              <a:t>addr</a:t>
            </a:r>
            <a:r>
              <a:rPr lang="en-US" altLang="en-US" sz="2400" b="1" dirty="0">
                <a:latin typeface="Courier New" panose="02070309020205020404" pitchFamily="49" charset="0"/>
              </a:rPr>
              <a:t> = </a:t>
            </a:r>
            <a:r>
              <a:rPr lang="en-US" altLang="en-US" sz="2400" b="1" dirty="0" err="1">
                <a:latin typeface="Courier New" panose="02070309020205020404" pitchFamily="49" charset="0"/>
              </a:rPr>
              <a:t>s.accept</a:t>
            </a:r>
            <a:r>
              <a:rPr lang="en-US" altLang="en-US" sz="2400" b="1" dirty="0">
                <a:latin typeface="Courier New" panose="02070309020205020404" pitchFamily="49" charset="0"/>
              </a:rPr>
              <a:t>()</a:t>
            </a:r>
            <a:br>
              <a:rPr lang="en-US" altLang="en-US" sz="2400" b="1" dirty="0">
                <a:latin typeface="Courier New" panose="02070309020205020404" pitchFamily="49" charset="0"/>
              </a:rPr>
            </a:br>
            <a:r>
              <a:rPr lang="en-US" altLang="en-US" sz="2400" b="1" dirty="0">
                <a:latin typeface="Courier New" panose="02070309020205020404" pitchFamily="49" charset="0"/>
              </a:rPr>
              <a:t>    # use socket </a:t>
            </a:r>
            <a:r>
              <a:rPr lang="en-US" altLang="en-US" sz="2400" b="1" i="1" dirty="0">
                <a:latin typeface="Courier New" panose="02070309020205020404" pitchFamily="49" charset="0"/>
              </a:rPr>
              <a:t>sock</a:t>
            </a:r>
            <a:r>
              <a:rPr lang="en-US" altLang="en-US" sz="2400" b="1" dirty="0">
                <a:latin typeface="Courier New" panose="02070309020205020404" pitchFamily="49" charset="0"/>
              </a:rPr>
              <a:t> to communicate</a:t>
            </a:r>
            <a:br>
              <a:rPr lang="en-US" altLang="en-US" sz="2400" b="1" dirty="0">
                <a:latin typeface="Courier New" panose="02070309020205020404" pitchFamily="49" charset="0"/>
              </a:rPr>
            </a:br>
            <a:r>
              <a:rPr lang="en-US" altLang="en-US" sz="2400" b="1" dirty="0">
                <a:latin typeface="Courier New" panose="02070309020205020404" pitchFamily="49" charset="0"/>
              </a:rPr>
              <a:t>    # with client process</a:t>
            </a:r>
            <a:br>
              <a:rPr lang="en-US" altLang="en-US" sz="2400" b="1" dirty="0">
                <a:latin typeface="Courier New" panose="02070309020205020404" pitchFamily="49" charset="0"/>
              </a:rPr>
            </a:br>
            <a:endParaRPr lang="en-US" altLang="en-US" sz="2400" b="1" dirty="0">
              <a:latin typeface="Courier New" panose="02070309020205020404" pitchFamily="49" charset="0"/>
            </a:endParaRPr>
          </a:p>
          <a:p>
            <a:pPr marL="0" indent="0"/>
            <a:r>
              <a:rPr lang="en-US" altLang="en-US" dirty="0">
                <a:latin typeface="Arial Unicode MS" pitchFamily="34" charset="-128"/>
              </a:rPr>
              <a:t>  Client connection creates new socket</a:t>
            </a:r>
          </a:p>
          <a:p>
            <a:pPr lvl="1" indent="-396875"/>
            <a:r>
              <a:rPr lang="en-US" altLang="en-US" dirty="0">
                <a:latin typeface="Arial Unicode MS" pitchFamily="34" charset="-128"/>
              </a:rPr>
              <a:t>Returned with address by </a:t>
            </a:r>
            <a:r>
              <a:rPr lang="en-US" altLang="en-US" b="1" i="1" dirty="0">
                <a:latin typeface="Courier New" panose="02070309020205020404" pitchFamily="49" charset="0"/>
              </a:rPr>
              <a:t>accept()</a:t>
            </a:r>
            <a:endParaRPr lang="en-US" altLang="en-US" dirty="0">
              <a:latin typeface="Courier New" panose="02070309020205020404" pitchFamily="49" charset="0"/>
            </a:endParaRPr>
          </a:p>
          <a:p>
            <a:pPr marL="0" indent="0"/>
            <a:r>
              <a:rPr lang="en-US" altLang="en-US" dirty="0">
                <a:latin typeface="Arial Unicode MS" pitchFamily="34" charset="-128"/>
              </a:rPr>
              <a:t>  Server handles one client at a time</a:t>
            </a:r>
            <a:endParaRPr lang="zh-TW" altLang="en-US" dirty="0"/>
          </a:p>
        </p:txBody>
      </p:sp>
    </p:spTree>
    <p:extLst>
      <p:ext uri="{BB962C8B-B14F-4D97-AF65-F5344CB8AC3E}">
        <p14:creationId xmlns:p14="http://schemas.microsoft.com/office/powerpoint/2010/main" val="871359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4BA3F3-A158-412D-82EC-909EE334C14B}"/>
              </a:ext>
            </a:extLst>
          </p:cNvPr>
          <p:cNvSpPr>
            <a:spLocks noGrp="1"/>
          </p:cNvSpPr>
          <p:nvPr>
            <p:ph type="title"/>
          </p:nvPr>
        </p:nvSpPr>
        <p:spPr/>
        <p:txBody>
          <a:bodyPr/>
          <a:lstStyle/>
          <a:p>
            <a:r>
              <a:rPr lang="en-US" altLang="zh-TW" dirty="0"/>
              <a:t>TCP Client Example</a:t>
            </a:r>
            <a:endParaRPr lang="zh-TW" altLang="en-US" dirty="0"/>
          </a:p>
        </p:txBody>
      </p:sp>
      <p:sp>
        <p:nvSpPr>
          <p:cNvPr id="3" name="內容版面配置區 2">
            <a:extLst>
              <a:ext uri="{FF2B5EF4-FFF2-40B4-BE49-F238E27FC236}">
                <a16:creationId xmlns:a16="http://schemas.microsoft.com/office/drawing/2014/main" id="{C4EDC741-AA51-4B13-8D88-31E60CA1EE8B}"/>
              </a:ext>
            </a:extLst>
          </p:cNvPr>
          <p:cNvSpPr>
            <a:spLocks noGrp="1"/>
          </p:cNvSpPr>
          <p:nvPr>
            <p:ph idx="1"/>
          </p:nvPr>
        </p:nvSpPr>
        <p:spPr/>
        <p:txBody>
          <a:bodyPr/>
          <a:lstStyle/>
          <a:p>
            <a:pPr>
              <a:spcBef>
                <a:spcPct val="0"/>
              </a:spcBef>
              <a:buNone/>
            </a:pPr>
            <a:r>
              <a:rPr lang="en-US" altLang="en-US" sz="2400" b="1" dirty="0">
                <a:latin typeface="Courier New" panose="02070309020205020404" pitchFamily="49" charset="0"/>
              </a:rPr>
              <a:t>from socket import socket, AF_INET, SOCK_STREAM</a:t>
            </a:r>
          </a:p>
          <a:p>
            <a:pPr>
              <a:spcBef>
                <a:spcPct val="0"/>
              </a:spcBef>
              <a:buNone/>
            </a:pPr>
            <a:r>
              <a:rPr lang="en-US" altLang="en-US" sz="2400" b="1" dirty="0">
                <a:latin typeface="Courier New" panose="02070309020205020404" pitchFamily="49" charset="0"/>
              </a:rPr>
              <a:t>(SERVER, PORT) = ('127.0.0.1', 9999)</a:t>
            </a:r>
          </a:p>
          <a:p>
            <a:pPr>
              <a:spcBef>
                <a:spcPct val="0"/>
              </a:spcBef>
              <a:buNone/>
            </a:pPr>
            <a:r>
              <a:rPr lang="en-US" altLang="en-US" sz="2400" b="1" dirty="0">
                <a:latin typeface="Courier New" panose="02070309020205020404" pitchFamily="49" charset="0"/>
              </a:rPr>
              <a:t>s = socket(AF_INET, SOCK_STREAM)</a:t>
            </a:r>
          </a:p>
          <a:p>
            <a:pPr>
              <a:spcBef>
                <a:spcPct val="0"/>
              </a:spcBef>
              <a:buNone/>
            </a:pPr>
            <a:r>
              <a:rPr lang="en-US" altLang="en-US" sz="2400" b="1" dirty="0" err="1">
                <a:latin typeface="Courier New" panose="02070309020205020404" pitchFamily="49" charset="0"/>
              </a:rPr>
              <a:t>s.connect</a:t>
            </a:r>
            <a:r>
              <a:rPr lang="en-US" altLang="en-US" sz="2400" b="1" dirty="0">
                <a:latin typeface="Courier New" panose="02070309020205020404" pitchFamily="49" charset="0"/>
              </a:rPr>
              <a:t>((SERVER, PORT))</a:t>
            </a:r>
          </a:p>
          <a:p>
            <a:pPr>
              <a:spcBef>
                <a:spcPct val="0"/>
              </a:spcBef>
              <a:buNone/>
            </a:pPr>
            <a:r>
              <a:rPr lang="en-US" altLang="en-US" sz="2400" b="1" dirty="0" err="1">
                <a:latin typeface="Courier New" panose="02070309020205020404" pitchFamily="49" charset="0"/>
              </a:rPr>
              <a:t>s.send</a:t>
            </a:r>
            <a:r>
              <a:rPr lang="en-US" altLang="en-US" sz="2400" b="1" dirty="0">
                <a:latin typeface="Courier New" panose="02070309020205020404" pitchFamily="49" charset="0"/>
              </a:rPr>
              <a:t>('Hello, world')</a:t>
            </a:r>
          </a:p>
          <a:p>
            <a:pPr>
              <a:spcBef>
                <a:spcPct val="0"/>
              </a:spcBef>
              <a:buNone/>
            </a:pPr>
            <a:r>
              <a:rPr lang="en-US" altLang="en-US" sz="2400" b="1" dirty="0">
                <a:latin typeface="Courier New" panose="02070309020205020404" pitchFamily="49" charset="0"/>
              </a:rPr>
              <a:t>data = </a:t>
            </a:r>
            <a:r>
              <a:rPr lang="en-US" altLang="en-US" sz="2400" b="1" dirty="0" err="1">
                <a:latin typeface="Courier New" panose="02070309020205020404" pitchFamily="49" charset="0"/>
              </a:rPr>
              <a:t>s.recv</a:t>
            </a:r>
            <a:r>
              <a:rPr lang="en-US" altLang="en-US" sz="2400" b="1" dirty="0">
                <a:latin typeface="Courier New" panose="02070309020205020404" pitchFamily="49" charset="0"/>
              </a:rPr>
              <a:t>(1024)</a:t>
            </a:r>
          </a:p>
          <a:p>
            <a:pPr>
              <a:spcBef>
                <a:spcPct val="0"/>
              </a:spcBef>
              <a:buNone/>
            </a:pPr>
            <a:r>
              <a:rPr lang="en-US" altLang="en-US" sz="2400" b="1" dirty="0" err="1">
                <a:latin typeface="Courier New" panose="02070309020205020404" pitchFamily="49" charset="0"/>
              </a:rPr>
              <a:t>s.close</a:t>
            </a:r>
            <a:r>
              <a:rPr lang="en-US" altLang="en-US" sz="2400" b="1" dirty="0">
                <a:latin typeface="Courier New" panose="02070309020205020404" pitchFamily="49" charset="0"/>
              </a:rPr>
              <a:t>()</a:t>
            </a:r>
          </a:p>
          <a:p>
            <a:pPr>
              <a:spcBef>
                <a:spcPct val="0"/>
              </a:spcBef>
              <a:buNone/>
            </a:pPr>
            <a:r>
              <a:rPr lang="en-US" altLang="en-US" sz="2400" b="1" dirty="0">
                <a:latin typeface="Courier New" panose="02070309020205020404" pitchFamily="49" charset="0"/>
              </a:rPr>
              <a:t>print 'Received', data</a:t>
            </a:r>
          </a:p>
          <a:p>
            <a:pPr>
              <a:spcBef>
                <a:spcPct val="0"/>
              </a:spcBef>
              <a:buNone/>
            </a:pPr>
            <a:endParaRPr lang="en-US" altLang="en-US" sz="1600" b="1" dirty="0">
              <a:latin typeface="Courier New" panose="02070309020205020404" pitchFamily="49" charset="0"/>
            </a:endParaRPr>
          </a:p>
          <a:p>
            <a:pPr>
              <a:spcBef>
                <a:spcPct val="0"/>
              </a:spcBef>
              <a:buNone/>
            </a:pPr>
            <a:r>
              <a:rPr lang="en-US" altLang="en-US" dirty="0"/>
              <a:t>This is a simple example	</a:t>
            </a:r>
          </a:p>
          <a:p>
            <a:pPr lvl="1">
              <a:spcBef>
                <a:spcPct val="0"/>
              </a:spcBef>
            </a:pPr>
            <a:r>
              <a:rPr lang="en-US" altLang="en-US" dirty="0"/>
              <a:t>Sends message, receives response</a:t>
            </a:r>
          </a:p>
          <a:p>
            <a:pPr lvl="1">
              <a:spcBef>
                <a:spcPct val="0"/>
              </a:spcBef>
            </a:pPr>
            <a:r>
              <a:rPr lang="en-US" altLang="en-US" dirty="0"/>
              <a:t>Server receives 0 bytes after </a:t>
            </a:r>
            <a:r>
              <a:rPr lang="en-US" altLang="en-US" b="1" i="1" dirty="0">
                <a:latin typeface="Courier New" panose="02070309020205020404" pitchFamily="49" charset="0"/>
              </a:rPr>
              <a:t>close()</a:t>
            </a:r>
            <a:endParaRPr lang="en-US" altLang="en-US" dirty="0">
              <a:latin typeface="Courier New" panose="02070309020205020404" pitchFamily="49" charset="0"/>
            </a:endParaRPr>
          </a:p>
          <a:p>
            <a:endParaRPr lang="zh-TW" altLang="en-US" dirty="0"/>
          </a:p>
        </p:txBody>
      </p:sp>
    </p:spTree>
    <p:extLst>
      <p:ext uri="{BB962C8B-B14F-4D97-AF65-F5344CB8AC3E}">
        <p14:creationId xmlns:p14="http://schemas.microsoft.com/office/powerpoint/2010/main" val="351138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D5CA53-5126-4F7A-880C-03E3D17131E7}"/>
              </a:ext>
            </a:extLst>
          </p:cNvPr>
          <p:cNvSpPr>
            <a:spLocks noGrp="1"/>
          </p:cNvSpPr>
          <p:nvPr>
            <p:ph type="title"/>
          </p:nvPr>
        </p:nvSpPr>
        <p:spPr/>
        <p:txBody>
          <a:bodyPr/>
          <a:lstStyle/>
          <a:p>
            <a:r>
              <a:rPr lang="en-US" altLang="en-US" dirty="0"/>
              <a:t>Some socket Utility Functions</a:t>
            </a:r>
            <a:endParaRPr lang="zh-TW" altLang="en-US" dirty="0"/>
          </a:p>
        </p:txBody>
      </p:sp>
      <p:sp>
        <p:nvSpPr>
          <p:cNvPr id="3" name="內容版面配置區 2">
            <a:extLst>
              <a:ext uri="{FF2B5EF4-FFF2-40B4-BE49-F238E27FC236}">
                <a16:creationId xmlns:a16="http://schemas.microsoft.com/office/drawing/2014/main" id="{6C8A67D0-7223-47FC-89A6-BE0CBB8EEFC7}"/>
              </a:ext>
            </a:extLst>
          </p:cNvPr>
          <p:cNvSpPr>
            <a:spLocks noGrp="1"/>
          </p:cNvSpPr>
          <p:nvPr>
            <p:ph idx="1"/>
          </p:nvPr>
        </p:nvSpPr>
        <p:spPr/>
        <p:txBody>
          <a:bodyPr/>
          <a:lstStyle/>
          <a:p>
            <a:pPr>
              <a:spcBef>
                <a:spcPts val="1200"/>
              </a:spcBef>
            </a:pPr>
            <a:r>
              <a:rPr lang="en-US" altLang="en-US" sz="2400" b="1" dirty="0" err="1">
                <a:latin typeface="Courier New" panose="02070309020205020404" pitchFamily="49" charset="0"/>
              </a:rPr>
              <a:t>htonl</a:t>
            </a:r>
            <a:r>
              <a:rPr lang="en-US" altLang="en-US" sz="2400" b="1" dirty="0">
                <a:latin typeface="Courier New" panose="02070309020205020404" pitchFamily="49" charset="0"/>
              </a:rPr>
              <a:t>(</a:t>
            </a:r>
            <a:r>
              <a:rPr lang="en-US" altLang="en-US" sz="2400" b="1" dirty="0" err="1">
                <a:latin typeface="Courier New" panose="02070309020205020404" pitchFamily="49" charset="0"/>
              </a:rPr>
              <a:t>i</a:t>
            </a:r>
            <a:r>
              <a:rPr lang="en-US" altLang="en-US" sz="2400" b="1" dirty="0">
                <a:latin typeface="Courier New" panose="02070309020205020404" pitchFamily="49" charset="0"/>
              </a:rPr>
              <a:t>), </a:t>
            </a:r>
            <a:r>
              <a:rPr lang="en-US" altLang="en-US" sz="2400" b="1" dirty="0" err="1">
                <a:latin typeface="Courier New" panose="02070309020205020404" pitchFamily="49" charset="0"/>
              </a:rPr>
              <a:t>htons</a:t>
            </a:r>
            <a:r>
              <a:rPr lang="en-US" altLang="en-US" sz="2400" b="1" dirty="0">
                <a:latin typeface="Courier New" panose="02070309020205020404" pitchFamily="49" charset="0"/>
              </a:rPr>
              <a:t>(</a:t>
            </a:r>
            <a:r>
              <a:rPr lang="en-US" altLang="en-US" sz="2400" b="1" dirty="0" err="1">
                <a:latin typeface="Courier New" panose="02070309020205020404" pitchFamily="49" charset="0"/>
              </a:rPr>
              <a:t>i</a:t>
            </a:r>
            <a:r>
              <a:rPr lang="en-US" altLang="en-US" sz="2400" b="1" dirty="0">
                <a:latin typeface="Courier New" panose="02070309020205020404" pitchFamily="49" charset="0"/>
              </a:rPr>
              <a:t>)</a:t>
            </a:r>
          </a:p>
          <a:p>
            <a:pPr lvl="1">
              <a:spcBef>
                <a:spcPts val="1200"/>
              </a:spcBef>
            </a:pPr>
            <a:r>
              <a:rPr lang="en-US" altLang="en-US" dirty="0"/>
              <a:t>32-bit or 16-bit integer to network format</a:t>
            </a:r>
          </a:p>
          <a:p>
            <a:pPr>
              <a:spcBef>
                <a:spcPts val="1200"/>
              </a:spcBef>
            </a:pPr>
            <a:r>
              <a:rPr lang="en-US" altLang="en-US" sz="2400" b="1" dirty="0" err="1">
                <a:latin typeface="Courier New" panose="02070309020205020404" pitchFamily="49" charset="0"/>
              </a:rPr>
              <a:t>ntohl</a:t>
            </a:r>
            <a:r>
              <a:rPr lang="en-US" altLang="en-US" sz="2400" b="1" dirty="0">
                <a:latin typeface="Courier New" panose="02070309020205020404" pitchFamily="49" charset="0"/>
              </a:rPr>
              <a:t>(</a:t>
            </a:r>
            <a:r>
              <a:rPr lang="en-US" altLang="en-US" sz="2400" b="1" dirty="0" err="1">
                <a:latin typeface="Courier New" panose="02070309020205020404" pitchFamily="49" charset="0"/>
              </a:rPr>
              <a:t>i</a:t>
            </a:r>
            <a:r>
              <a:rPr lang="en-US" altLang="en-US" sz="2400" b="1" dirty="0">
                <a:latin typeface="Courier New" panose="02070309020205020404" pitchFamily="49" charset="0"/>
              </a:rPr>
              <a:t>), </a:t>
            </a:r>
            <a:r>
              <a:rPr lang="en-US" altLang="en-US" sz="2400" b="1" dirty="0" err="1">
                <a:latin typeface="Courier New" panose="02070309020205020404" pitchFamily="49" charset="0"/>
              </a:rPr>
              <a:t>ntohs</a:t>
            </a:r>
            <a:r>
              <a:rPr lang="en-US" altLang="en-US" sz="2400" b="1" dirty="0">
                <a:latin typeface="Courier New" panose="02070309020205020404" pitchFamily="49" charset="0"/>
              </a:rPr>
              <a:t>(</a:t>
            </a:r>
            <a:r>
              <a:rPr lang="en-US" altLang="en-US" sz="2400" b="1" dirty="0" err="1">
                <a:latin typeface="Courier New" panose="02070309020205020404" pitchFamily="49" charset="0"/>
              </a:rPr>
              <a:t>i</a:t>
            </a:r>
            <a:r>
              <a:rPr lang="en-US" altLang="en-US" sz="2400" b="1" dirty="0">
                <a:latin typeface="Courier New" panose="02070309020205020404" pitchFamily="49" charset="0"/>
              </a:rPr>
              <a:t>)</a:t>
            </a:r>
          </a:p>
          <a:p>
            <a:pPr lvl="1">
              <a:spcBef>
                <a:spcPts val="1200"/>
              </a:spcBef>
            </a:pPr>
            <a:r>
              <a:rPr lang="en-US" altLang="en-US" dirty="0"/>
              <a:t>32-bit or 16-bit integer to host format</a:t>
            </a:r>
          </a:p>
          <a:p>
            <a:pPr>
              <a:spcBef>
                <a:spcPts val="1200"/>
              </a:spcBef>
            </a:pPr>
            <a:r>
              <a:rPr lang="en-US" altLang="en-US" sz="2400" b="1" dirty="0" err="1">
                <a:latin typeface="Courier New" panose="02070309020205020404" pitchFamily="49" charset="0"/>
              </a:rPr>
              <a:t>inet_aton</a:t>
            </a:r>
            <a:r>
              <a:rPr lang="en-US" altLang="en-US" sz="2400" b="1" dirty="0">
                <a:latin typeface="Courier New" panose="02070309020205020404" pitchFamily="49" charset="0"/>
              </a:rPr>
              <a:t>(</a:t>
            </a:r>
            <a:r>
              <a:rPr lang="en-US" altLang="en-US" sz="2400" b="1" dirty="0" err="1">
                <a:latin typeface="Courier New" panose="02070309020205020404" pitchFamily="49" charset="0"/>
              </a:rPr>
              <a:t>ipstr</a:t>
            </a:r>
            <a:r>
              <a:rPr lang="en-US" altLang="en-US" sz="2400" b="1" dirty="0">
                <a:latin typeface="Courier New" panose="02070309020205020404" pitchFamily="49" charset="0"/>
              </a:rPr>
              <a:t>), </a:t>
            </a:r>
            <a:r>
              <a:rPr lang="en-US" altLang="en-US" sz="2400" b="1" dirty="0" err="1">
                <a:latin typeface="Courier New" panose="02070309020205020404" pitchFamily="49" charset="0"/>
              </a:rPr>
              <a:t>inet_ntoa</a:t>
            </a:r>
            <a:r>
              <a:rPr lang="en-US" altLang="en-US" sz="2400" b="1" dirty="0">
                <a:latin typeface="Courier New" panose="02070309020205020404" pitchFamily="49" charset="0"/>
              </a:rPr>
              <a:t>(packed)</a:t>
            </a:r>
          </a:p>
          <a:p>
            <a:pPr lvl="1">
              <a:spcBef>
                <a:spcPts val="1200"/>
              </a:spcBef>
            </a:pPr>
            <a:r>
              <a:rPr lang="en-US" altLang="en-US" dirty="0"/>
              <a:t>Convert addresses between regular strings and 4-byte packed strings</a:t>
            </a:r>
          </a:p>
          <a:p>
            <a:endParaRPr lang="zh-TW" altLang="en-US" dirty="0"/>
          </a:p>
        </p:txBody>
      </p:sp>
      <p:sp>
        <p:nvSpPr>
          <p:cNvPr id="4" name="Rectangle 22">
            <a:extLst>
              <a:ext uri="{FF2B5EF4-FFF2-40B4-BE49-F238E27FC236}">
                <a16:creationId xmlns:a16="http://schemas.microsoft.com/office/drawing/2014/main" id="{4283CAAC-A0C4-446C-A80A-4344F85E02D7}"/>
              </a:ext>
            </a:extLst>
          </p:cNvPr>
          <p:cNvSpPr>
            <a:spLocks noChangeArrowheads="1"/>
          </p:cNvSpPr>
          <p:nvPr/>
        </p:nvSpPr>
        <p:spPr bwMode="auto">
          <a:xfrm>
            <a:off x="6238875" y="4805363"/>
            <a:ext cx="3657600" cy="1371600"/>
          </a:xfrm>
          <a:prstGeom prst="rect">
            <a:avLst/>
          </a:prstGeom>
          <a:solidFill>
            <a:schemeClr val="accent2"/>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spcBef>
                <a:spcPct val="0"/>
              </a:spcBef>
              <a:buFontTx/>
              <a:buNone/>
            </a:pPr>
            <a:endParaRPr lang="en-US" altLang="en-US" sz="2400">
              <a:latin typeface="Comic Sans MS" panose="030F0702030302020204" pitchFamily="66" charset="0"/>
            </a:endParaRPr>
          </a:p>
        </p:txBody>
      </p:sp>
      <p:sp>
        <p:nvSpPr>
          <p:cNvPr id="5" name="Rectangle 20">
            <a:extLst>
              <a:ext uri="{FF2B5EF4-FFF2-40B4-BE49-F238E27FC236}">
                <a16:creationId xmlns:a16="http://schemas.microsoft.com/office/drawing/2014/main" id="{6679CA46-F163-4228-BA09-5DFF438CB4F4}"/>
              </a:ext>
            </a:extLst>
          </p:cNvPr>
          <p:cNvSpPr>
            <a:spLocks noChangeArrowheads="1"/>
          </p:cNvSpPr>
          <p:nvPr/>
        </p:nvSpPr>
        <p:spPr bwMode="auto">
          <a:xfrm>
            <a:off x="1209675" y="4881563"/>
            <a:ext cx="3886200" cy="1371600"/>
          </a:xfrm>
          <a:prstGeom prst="rect">
            <a:avLst/>
          </a:prstGeom>
          <a:solidFill>
            <a:schemeClr val="accent2"/>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spcBef>
                <a:spcPct val="0"/>
              </a:spcBef>
              <a:buFontTx/>
              <a:buNone/>
            </a:pPr>
            <a:endParaRPr lang="en-US" altLang="en-US" sz="2400">
              <a:latin typeface="Comic Sans MS" panose="030F0702030302020204" pitchFamily="66" charset="0"/>
            </a:endParaRPr>
          </a:p>
        </p:txBody>
      </p:sp>
      <p:sp>
        <p:nvSpPr>
          <p:cNvPr id="6" name="Text Box 6">
            <a:extLst>
              <a:ext uri="{FF2B5EF4-FFF2-40B4-BE49-F238E27FC236}">
                <a16:creationId xmlns:a16="http://schemas.microsoft.com/office/drawing/2014/main" id="{BB2ABADE-4AC4-4605-A052-F467696D9831}"/>
              </a:ext>
            </a:extLst>
          </p:cNvPr>
          <p:cNvSpPr txBox="1">
            <a:spLocks noChangeArrowheads="1"/>
          </p:cNvSpPr>
          <p:nvPr/>
        </p:nvSpPr>
        <p:spPr bwMode="auto">
          <a:xfrm>
            <a:off x="1362075" y="5186363"/>
            <a:ext cx="1905000" cy="366713"/>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spcBef>
                <a:spcPct val="50000"/>
              </a:spcBef>
              <a:buFontTx/>
              <a:buNone/>
            </a:pPr>
            <a:r>
              <a:rPr lang="en-US" altLang="en-US" sz="1800">
                <a:latin typeface="Comic Sans MS" panose="030F0702030302020204" pitchFamily="66" charset="0"/>
              </a:rPr>
              <a:t>128.119.40.12</a:t>
            </a:r>
          </a:p>
        </p:txBody>
      </p:sp>
      <p:grpSp>
        <p:nvGrpSpPr>
          <p:cNvPr id="7" name="Group 13">
            <a:extLst>
              <a:ext uri="{FF2B5EF4-FFF2-40B4-BE49-F238E27FC236}">
                <a16:creationId xmlns:a16="http://schemas.microsoft.com/office/drawing/2014/main" id="{2D11BC16-C6F3-4BB6-BE6F-FAE489AEB049}"/>
              </a:ext>
            </a:extLst>
          </p:cNvPr>
          <p:cNvGrpSpPr>
            <a:grpSpLocks/>
          </p:cNvGrpSpPr>
          <p:nvPr/>
        </p:nvGrpSpPr>
        <p:grpSpPr bwMode="auto">
          <a:xfrm>
            <a:off x="2428875" y="5795963"/>
            <a:ext cx="2438400" cy="398463"/>
            <a:chOff x="1392" y="3936"/>
            <a:chExt cx="1536" cy="251"/>
          </a:xfrm>
        </p:grpSpPr>
        <p:sp>
          <p:nvSpPr>
            <p:cNvPr id="18" name="Text Box 8">
              <a:extLst>
                <a:ext uri="{FF2B5EF4-FFF2-40B4-BE49-F238E27FC236}">
                  <a16:creationId xmlns:a16="http://schemas.microsoft.com/office/drawing/2014/main" id="{870583E7-E56C-497D-917F-C176CE0A856F}"/>
                </a:ext>
              </a:extLst>
            </p:cNvPr>
            <p:cNvSpPr txBox="1">
              <a:spLocks noChangeArrowheads="1"/>
            </p:cNvSpPr>
            <p:nvPr/>
          </p:nvSpPr>
          <p:spPr bwMode="auto">
            <a:xfrm>
              <a:off x="1392" y="3936"/>
              <a:ext cx="384" cy="251"/>
            </a:xfrm>
            <a:prstGeom prst="rect">
              <a:avLst/>
            </a:prstGeom>
            <a:solidFill>
              <a:srgbClr val="FFFF00"/>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spcBef>
                  <a:spcPct val="50000"/>
                </a:spcBef>
                <a:buFontTx/>
                <a:buNone/>
              </a:pPr>
              <a:r>
                <a:rPr lang="en-US" altLang="en-US" sz="1800">
                  <a:latin typeface="Comic Sans MS" panose="030F0702030302020204" pitchFamily="66" charset="0"/>
                </a:rPr>
                <a:t>128</a:t>
              </a:r>
            </a:p>
          </p:txBody>
        </p:sp>
        <p:sp>
          <p:nvSpPr>
            <p:cNvPr id="19" name="Text Box 9">
              <a:extLst>
                <a:ext uri="{FF2B5EF4-FFF2-40B4-BE49-F238E27FC236}">
                  <a16:creationId xmlns:a16="http://schemas.microsoft.com/office/drawing/2014/main" id="{FDEE95A4-F16E-4C70-93D0-C4FC3FB234F1}"/>
                </a:ext>
              </a:extLst>
            </p:cNvPr>
            <p:cNvSpPr txBox="1">
              <a:spLocks noChangeArrowheads="1"/>
            </p:cNvSpPr>
            <p:nvPr/>
          </p:nvSpPr>
          <p:spPr bwMode="auto">
            <a:xfrm>
              <a:off x="1776" y="3936"/>
              <a:ext cx="384" cy="251"/>
            </a:xfrm>
            <a:prstGeom prst="rect">
              <a:avLst/>
            </a:prstGeom>
            <a:solidFill>
              <a:srgbClr val="FFFF00"/>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spcBef>
                  <a:spcPct val="50000"/>
                </a:spcBef>
                <a:buFontTx/>
                <a:buNone/>
              </a:pPr>
              <a:r>
                <a:rPr lang="en-US" altLang="en-US" sz="1800">
                  <a:latin typeface="Comic Sans MS" panose="030F0702030302020204" pitchFamily="66" charset="0"/>
                </a:rPr>
                <a:t>119</a:t>
              </a:r>
            </a:p>
          </p:txBody>
        </p:sp>
        <p:sp>
          <p:nvSpPr>
            <p:cNvPr id="20" name="Text Box 10">
              <a:extLst>
                <a:ext uri="{FF2B5EF4-FFF2-40B4-BE49-F238E27FC236}">
                  <a16:creationId xmlns:a16="http://schemas.microsoft.com/office/drawing/2014/main" id="{E56E0437-02F0-4BE5-B432-1972AB26D1A1}"/>
                </a:ext>
              </a:extLst>
            </p:cNvPr>
            <p:cNvSpPr txBox="1">
              <a:spLocks noChangeArrowheads="1"/>
            </p:cNvSpPr>
            <p:nvPr/>
          </p:nvSpPr>
          <p:spPr bwMode="auto">
            <a:xfrm>
              <a:off x="2160" y="3936"/>
              <a:ext cx="384" cy="251"/>
            </a:xfrm>
            <a:prstGeom prst="rect">
              <a:avLst/>
            </a:prstGeom>
            <a:solidFill>
              <a:srgbClr val="FFFF00"/>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spcBef>
                  <a:spcPct val="50000"/>
                </a:spcBef>
                <a:buFontTx/>
                <a:buNone/>
              </a:pPr>
              <a:r>
                <a:rPr lang="en-US" altLang="en-US" sz="1800">
                  <a:latin typeface="Comic Sans MS" panose="030F0702030302020204" pitchFamily="66" charset="0"/>
                </a:rPr>
                <a:t>40</a:t>
              </a:r>
            </a:p>
          </p:txBody>
        </p:sp>
        <p:sp>
          <p:nvSpPr>
            <p:cNvPr id="21" name="Text Box 11">
              <a:extLst>
                <a:ext uri="{FF2B5EF4-FFF2-40B4-BE49-F238E27FC236}">
                  <a16:creationId xmlns:a16="http://schemas.microsoft.com/office/drawing/2014/main" id="{7BC91A9B-3B5E-4A5D-AF7F-5F65952BFCFC}"/>
                </a:ext>
              </a:extLst>
            </p:cNvPr>
            <p:cNvSpPr txBox="1">
              <a:spLocks noChangeArrowheads="1"/>
            </p:cNvSpPr>
            <p:nvPr/>
          </p:nvSpPr>
          <p:spPr bwMode="auto">
            <a:xfrm>
              <a:off x="2544" y="3936"/>
              <a:ext cx="384" cy="251"/>
            </a:xfrm>
            <a:prstGeom prst="rect">
              <a:avLst/>
            </a:prstGeom>
            <a:solidFill>
              <a:srgbClr val="FFFF00"/>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spcBef>
                  <a:spcPct val="50000"/>
                </a:spcBef>
                <a:buFontTx/>
                <a:buNone/>
              </a:pPr>
              <a:r>
                <a:rPr lang="en-US" altLang="en-US" sz="1800">
                  <a:latin typeface="Comic Sans MS" panose="030F0702030302020204" pitchFamily="66" charset="0"/>
                </a:rPr>
                <a:t>12</a:t>
              </a:r>
            </a:p>
          </p:txBody>
        </p:sp>
      </p:grpSp>
      <p:sp>
        <p:nvSpPr>
          <p:cNvPr id="8" name="Text Box 12">
            <a:extLst>
              <a:ext uri="{FF2B5EF4-FFF2-40B4-BE49-F238E27FC236}">
                <a16:creationId xmlns:a16="http://schemas.microsoft.com/office/drawing/2014/main" id="{AAA69B3D-726F-4207-B840-2EA2365434EB}"/>
              </a:ext>
            </a:extLst>
          </p:cNvPr>
          <p:cNvSpPr txBox="1">
            <a:spLocks noChangeArrowheads="1"/>
          </p:cNvSpPr>
          <p:nvPr/>
        </p:nvSpPr>
        <p:spPr bwMode="auto">
          <a:xfrm>
            <a:off x="7991475" y="5033963"/>
            <a:ext cx="1905000" cy="366713"/>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spcBef>
                <a:spcPct val="50000"/>
              </a:spcBef>
              <a:buFontTx/>
              <a:buNone/>
            </a:pPr>
            <a:r>
              <a:rPr lang="en-US" altLang="en-US" sz="1800">
                <a:latin typeface="Comic Sans MS" panose="030F0702030302020204" pitchFamily="66" charset="0"/>
              </a:rPr>
              <a:t>12.40.119.128</a:t>
            </a:r>
          </a:p>
        </p:txBody>
      </p:sp>
      <p:grpSp>
        <p:nvGrpSpPr>
          <p:cNvPr id="9" name="Group 14">
            <a:extLst>
              <a:ext uri="{FF2B5EF4-FFF2-40B4-BE49-F238E27FC236}">
                <a16:creationId xmlns:a16="http://schemas.microsoft.com/office/drawing/2014/main" id="{378FB057-3C5E-4A2C-ABC4-C8EE420962B5}"/>
              </a:ext>
            </a:extLst>
          </p:cNvPr>
          <p:cNvGrpSpPr>
            <a:grpSpLocks/>
          </p:cNvGrpSpPr>
          <p:nvPr/>
        </p:nvGrpSpPr>
        <p:grpSpPr bwMode="auto">
          <a:xfrm>
            <a:off x="6467475" y="5719763"/>
            <a:ext cx="2438400" cy="398463"/>
            <a:chOff x="1392" y="3936"/>
            <a:chExt cx="1536" cy="251"/>
          </a:xfrm>
        </p:grpSpPr>
        <p:sp>
          <p:nvSpPr>
            <p:cNvPr id="14" name="Text Box 15">
              <a:extLst>
                <a:ext uri="{FF2B5EF4-FFF2-40B4-BE49-F238E27FC236}">
                  <a16:creationId xmlns:a16="http://schemas.microsoft.com/office/drawing/2014/main" id="{75CAE1C6-B2A3-4705-8395-7F497598577D}"/>
                </a:ext>
              </a:extLst>
            </p:cNvPr>
            <p:cNvSpPr txBox="1">
              <a:spLocks noChangeArrowheads="1"/>
            </p:cNvSpPr>
            <p:nvPr/>
          </p:nvSpPr>
          <p:spPr bwMode="auto">
            <a:xfrm>
              <a:off x="1392" y="3936"/>
              <a:ext cx="384" cy="251"/>
            </a:xfrm>
            <a:prstGeom prst="rect">
              <a:avLst/>
            </a:prstGeom>
            <a:solidFill>
              <a:srgbClr val="FFFF00"/>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spcBef>
                  <a:spcPct val="50000"/>
                </a:spcBef>
                <a:buFontTx/>
                <a:buNone/>
              </a:pPr>
              <a:r>
                <a:rPr lang="en-US" altLang="en-US" sz="1800">
                  <a:latin typeface="Comic Sans MS" panose="030F0702030302020204" pitchFamily="66" charset="0"/>
                </a:rPr>
                <a:t>128</a:t>
              </a:r>
            </a:p>
          </p:txBody>
        </p:sp>
        <p:sp>
          <p:nvSpPr>
            <p:cNvPr id="15" name="Text Box 16">
              <a:extLst>
                <a:ext uri="{FF2B5EF4-FFF2-40B4-BE49-F238E27FC236}">
                  <a16:creationId xmlns:a16="http://schemas.microsoft.com/office/drawing/2014/main" id="{836DCA33-342B-45B6-AC5D-AEC924429A95}"/>
                </a:ext>
              </a:extLst>
            </p:cNvPr>
            <p:cNvSpPr txBox="1">
              <a:spLocks noChangeArrowheads="1"/>
            </p:cNvSpPr>
            <p:nvPr/>
          </p:nvSpPr>
          <p:spPr bwMode="auto">
            <a:xfrm>
              <a:off x="1776" y="3936"/>
              <a:ext cx="384" cy="251"/>
            </a:xfrm>
            <a:prstGeom prst="rect">
              <a:avLst/>
            </a:prstGeom>
            <a:solidFill>
              <a:srgbClr val="FFFF00"/>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spcBef>
                  <a:spcPct val="50000"/>
                </a:spcBef>
                <a:buFontTx/>
                <a:buNone/>
              </a:pPr>
              <a:r>
                <a:rPr lang="en-US" altLang="en-US" sz="1800">
                  <a:latin typeface="Comic Sans MS" panose="030F0702030302020204" pitchFamily="66" charset="0"/>
                </a:rPr>
                <a:t>119</a:t>
              </a:r>
            </a:p>
          </p:txBody>
        </p:sp>
        <p:sp>
          <p:nvSpPr>
            <p:cNvPr id="16" name="Text Box 17">
              <a:extLst>
                <a:ext uri="{FF2B5EF4-FFF2-40B4-BE49-F238E27FC236}">
                  <a16:creationId xmlns:a16="http://schemas.microsoft.com/office/drawing/2014/main" id="{272C9655-BDED-4C22-AA8D-D19A92DEE31C}"/>
                </a:ext>
              </a:extLst>
            </p:cNvPr>
            <p:cNvSpPr txBox="1">
              <a:spLocks noChangeArrowheads="1"/>
            </p:cNvSpPr>
            <p:nvPr/>
          </p:nvSpPr>
          <p:spPr bwMode="auto">
            <a:xfrm>
              <a:off x="2160" y="3936"/>
              <a:ext cx="384" cy="251"/>
            </a:xfrm>
            <a:prstGeom prst="rect">
              <a:avLst/>
            </a:prstGeom>
            <a:solidFill>
              <a:srgbClr val="FFFF00"/>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spcBef>
                  <a:spcPct val="50000"/>
                </a:spcBef>
                <a:buFontTx/>
                <a:buNone/>
              </a:pPr>
              <a:r>
                <a:rPr lang="en-US" altLang="en-US" sz="1800">
                  <a:latin typeface="Comic Sans MS" panose="030F0702030302020204" pitchFamily="66" charset="0"/>
                </a:rPr>
                <a:t>40</a:t>
              </a:r>
            </a:p>
          </p:txBody>
        </p:sp>
        <p:sp>
          <p:nvSpPr>
            <p:cNvPr id="17" name="Text Box 18">
              <a:extLst>
                <a:ext uri="{FF2B5EF4-FFF2-40B4-BE49-F238E27FC236}">
                  <a16:creationId xmlns:a16="http://schemas.microsoft.com/office/drawing/2014/main" id="{59EC71FC-167C-40E4-9F81-B53D3A9A654D}"/>
                </a:ext>
              </a:extLst>
            </p:cNvPr>
            <p:cNvSpPr txBox="1">
              <a:spLocks noChangeArrowheads="1"/>
            </p:cNvSpPr>
            <p:nvPr/>
          </p:nvSpPr>
          <p:spPr bwMode="auto">
            <a:xfrm>
              <a:off x="2544" y="3936"/>
              <a:ext cx="384" cy="251"/>
            </a:xfrm>
            <a:prstGeom prst="rect">
              <a:avLst/>
            </a:prstGeom>
            <a:solidFill>
              <a:srgbClr val="FFFF00"/>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spcBef>
                  <a:spcPct val="50000"/>
                </a:spcBef>
                <a:buFontTx/>
                <a:buNone/>
              </a:pPr>
              <a:r>
                <a:rPr lang="en-US" altLang="en-US" sz="1800">
                  <a:latin typeface="Comic Sans MS" panose="030F0702030302020204" pitchFamily="66" charset="0"/>
                </a:rPr>
                <a:t>12</a:t>
              </a:r>
            </a:p>
          </p:txBody>
        </p:sp>
      </p:grpSp>
      <p:sp>
        <p:nvSpPr>
          <p:cNvPr id="10" name="Text Box 21">
            <a:extLst>
              <a:ext uri="{FF2B5EF4-FFF2-40B4-BE49-F238E27FC236}">
                <a16:creationId xmlns:a16="http://schemas.microsoft.com/office/drawing/2014/main" id="{FFA6B8F3-B3FD-424E-A0A1-646C6682841B}"/>
              </a:ext>
            </a:extLst>
          </p:cNvPr>
          <p:cNvSpPr txBox="1">
            <a:spLocks noChangeArrowheads="1"/>
          </p:cNvSpPr>
          <p:nvPr/>
        </p:nvSpPr>
        <p:spPr bwMode="auto">
          <a:xfrm>
            <a:off x="3397250" y="4730751"/>
            <a:ext cx="1698625" cy="838200"/>
          </a:xfrm>
          <a:prstGeom prst="rect">
            <a:avLst/>
          </a:prstGeom>
          <a:solidFill>
            <a:schemeClr val="bg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1">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spcBef>
                <a:spcPct val="0"/>
              </a:spcBef>
              <a:buFontTx/>
              <a:buNone/>
            </a:pPr>
            <a:r>
              <a:rPr lang="en-US" altLang="en-US" sz="2400">
                <a:latin typeface="Comic Sans MS" panose="030F0702030302020204" pitchFamily="66" charset="0"/>
              </a:rPr>
              <a:t>Big-Endian</a:t>
            </a:r>
          </a:p>
          <a:p>
            <a:pPr>
              <a:spcBef>
                <a:spcPct val="0"/>
              </a:spcBef>
              <a:buFontTx/>
              <a:buNone/>
            </a:pPr>
            <a:r>
              <a:rPr lang="en-US" altLang="en-US" sz="2400">
                <a:latin typeface="Comic Sans MS" panose="030F0702030302020204" pitchFamily="66" charset="0"/>
              </a:rPr>
              <a:t>machine</a:t>
            </a:r>
          </a:p>
        </p:txBody>
      </p:sp>
      <p:sp>
        <p:nvSpPr>
          <p:cNvPr id="11" name="Text Box 23">
            <a:extLst>
              <a:ext uri="{FF2B5EF4-FFF2-40B4-BE49-F238E27FC236}">
                <a16:creationId xmlns:a16="http://schemas.microsoft.com/office/drawing/2014/main" id="{B06F3623-2A4C-4C63-858C-A7ADACAB9453}"/>
              </a:ext>
            </a:extLst>
          </p:cNvPr>
          <p:cNvSpPr txBox="1">
            <a:spLocks noChangeArrowheads="1"/>
          </p:cNvSpPr>
          <p:nvPr/>
        </p:nvSpPr>
        <p:spPr bwMode="auto">
          <a:xfrm>
            <a:off x="5759450" y="4729163"/>
            <a:ext cx="2049463" cy="838200"/>
          </a:xfrm>
          <a:prstGeom prst="rect">
            <a:avLst/>
          </a:prstGeom>
          <a:solidFill>
            <a:schemeClr val="bg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1">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spcBef>
                <a:spcPct val="0"/>
              </a:spcBef>
              <a:buFontTx/>
              <a:buNone/>
            </a:pPr>
            <a:r>
              <a:rPr lang="en-US" altLang="en-US" sz="2400">
                <a:latin typeface="Comic Sans MS" panose="030F0702030302020204" pitchFamily="66" charset="0"/>
              </a:rPr>
              <a:t>Little-Endian</a:t>
            </a:r>
          </a:p>
          <a:p>
            <a:pPr>
              <a:spcBef>
                <a:spcPct val="0"/>
              </a:spcBef>
              <a:buFontTx/>
              <a:buNone/>
            </a:pPr>
            <a:r>
              <a:rPr lang="en-US" altLang="en-US" sz="2400">
                <a:latin typeface="Comic Sans MS" panose="030F0702030302020204" pitchFamily="66" charset="0"/>
              </a:rPr>
              <a:t>machine</a:t>
            </a:r>
          </a:p>
        </p:txBody>
      </p:sp>
      <p:sp>
        <p:nvSpPr>
          <p:cNvPr id="12" name="Line 19">
            <a:extLst>
              <a:ext uri="{FF2B5EF4-FFF2-40B4-BE49-F238E27FC236}">
                <a16:creationId xmlns:a16="http://schemas.microsoft.com/office/drawing/2014/main" id="{5C85D553-995D-4D7E-AA0A-86A3DCAC6022}"/>
              </a:ext>
            </a:extLst>
          </p:cNvPr>
          <p:cNvSpPr>
            <a:spLocks noChangeShapeType="1"/>
          </p:cNvSpPr>
          <p:nvPr/>
        </p:nvSpPr>
        <p:spPr bwMode="auto">
          <a:xfrm>
            <a:off x="4943475" y="5948363"/>
            <a:ext cx="1524000" cy="0"/>
          </a:xfrm>
          <a:prstGeom prst="line">
            <a:avLst/>
          </a:prstGeom>
          <a:noFill/>
          <a:ln w="317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endParaRPr lang="zh-TW" altLang="en-US"/>
          </a:p>
        </p:txBody>
      </p:sp>
      <p:sp>
        <p:nvSpPr>
          <p:cNvPr id="13" name="Text Box 24">
            <a:extLst>
              <a:ext uri="{FF2B5EF4-FFF2-40B4-BE49-F238E27FC236}">
                <a16:creationId xmlns:a16="http://schemas.microsoft.com/office/drawing/2014/main" id="{BFFAF873-B4A5-4A61-881B-690BB5C8C8ED}"/>
              </a:ext>
            </a:extLst>
          </p:cNvPr>
          <p:cNvSpPr txBox="1">
            <a:spLocks noChangeArrowheads="1"/>
          </p:cNvSpPr>
          <p:nvPr/>
        </p:nvSpPr>
        <p:spPr bwMode="auto">
          <a:xfrm rot="19800000">
            <a:off x="6238875" y="5186363"/>
            <a:ext cx="2590800" cy="641350"/>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spcBef>
                <a:spcPct val="50000"/>
              </a:spcBef>
              <a:buFontTx/>
              <a:buNone/>
            </a:pPr>
            <a:r>
              <a:rPr lang="en-US" altLang="en-US" sz="3600">
                <a:solidFill>
                  <a:srgbClr val="FF3300"/>
                </a:solidFill>
                <a:latin typeface="Comic Sans MS" panose="030F0702030302020204" pitchFamily="66" charset="0"/>
              </a:rPr>
              <a:t>WRONG!!!</a:t>
            </a:r>
          </a:p>
        </p:txBody>
      </p:sp>
    </p:spTree>
    <p:extLst>
      <p:ext uri="{BB962C8B-B14F-4D97-AF65-F5344CB8AC3E}">
        <p14:creationId xmlns:p14="http://schemas.microsoft.com/office/powerpoint/2010/main" val="2128796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ABE6A36-BF35-41E0-9A26-E27C3C8D5140}"/>
              </a:ext>
            </a:extLst>
          </p:cNvPr>
          <p:cNvSpPr>
            <a:spLocks noGrp="1"/>
          </p:cNvSpPr>
          <p:nvPr>
            <p:ph type="title"/>
          </p:nvPr>
        </p:nvSpPr>
        <p:spPr/>
        <p:txBody>
          <a:bodyPr/>
          <a:lstStyle/>
          <a:p>
            <a:r>
              <a:rPr lang="en-US" altLang="en-US" dirty="0"/>
              <a:t>Handling Names &amp; Addresses</a:t>
            </a:r>
            <a:endParaRPr lang="zh-TW" altLang="en-US" dirty="0"/>
          </a:p>
        </p:txBody>
      </p:sp>
      <p:sp>
        <p:nvSpPr>
          <p:cNvPr id="3" name="內容版面配置區 2">
            <a:extLst>
              <a:ext uri="{FF2B5EF4-FFF2-40B4-BE49-F238E27FC236}">
                <a16:creationId xmlns:a16="http://schemas.microsoft.com/office/drawing/2014/main" id="{FD08540F-5D42-4D84-B821-1C7B1C1A3321}"/>
              </a:ext>
            </a:extLst>
          </p:cNvPr>
          <p:cNvSpPr>
            <a:spLocks noGrp="1"/>
          </p:cNvSpPr>
          <p:nvPr>
            <p:ph idx="1"/>
          </p:nvPr>
        </p:nvSpPr>
        <p:spPr/>
        <p:txBody>
          <a:bodyPr/>
          <a:lstStyle/>
          <a:p>
            <a:r>
              <a:rPr lang="en-US" altLang="en-US" sz="2400" b="1" dirty="0" err="1">
                <a:latin typeface="Courier New" panose="02070309020205020404" pitchFamily="49" charset="0"/>
              </a:rPr>
              <a:t>getfqdn</a:t>
            </a:r>
            <a:r>
              <a:rPr lang="en-US" altLang="en-US" sz="2400" b="1" dirty="0">
                <a:latin typeface="Courier New" panose="02070309020205020404" pitchFamily="49" charset="0"/>
              </a:rPr>
              <a:t>(host='')</a:t>
            </a:r>
          </a:p>
          <a:p>
            <a:pPr lvl="1"/>
            <a:r>
              <a:rPr lang="en-US" altLang="en-US" dirty="0"/>
              <a:t>Get  canonical host name for host</a:t>
            </a:r>
          </a:p>
          <a:p>
            <a:pPr lvl="1"/>
            <a:endParaRPr lang="en-US" altLang="en-US" dirty="0"/>
          </a:p>
          <a:p>
            <a:r>
              <a:rPr lang="en-US" altLang="en-US" sz="2400" b="1" dirty="0" err="1">
                <a:latin typeface="Courier New" panose="02070309020205020404" pitchFamily="49" charset="0"/>
              </a:rPr>
              <a:t>gethostbyaddr</a:t>
            </a:r>
            <a:r>
              <a:rPr lang="en-US" altLang="en-US" sz="2400" b="1" dirty="0">
                <a:latin typeface="Courier New" panose="02070309020205020404" pitchFamily="49" charset="0"/>
              </a:rPr>
              <a:t>(</a:t>
            </a:r>
            <a:r>
              <a:rPr lang="en-US" altLang="en-US" sz="2400" b="1" dirty="0" err="1">
                <a:latin typeface="Courier New" panose="02070309020205020404" pitchFamily="49" charset="0"/>
              </a:rPr>
              <a:t>ipaddr</a:t>
            </a:r>
            <a:r>
              <a:rPr lang="en-US" altLang="en-US" sz="2400" b="1" dirty="0">
                <a:latin typeface="Courier New" panose="02070309020205020404" pitchFamily="49" charset="0"/>
              </a:rPr>
              <a:t>)</a:t>
            </a:r>
          </a:p>
          <a:p>
            <a:r>
              <a:rPr lang="en-US" altLang="en-US" sz="2400" b="1" dirty="0" err="1">
                <a:latin typeface="Courier New" panose="02070309020205020404" pitchFamily="49" charset="0"/>
              </a:rPr>
              <a:t>gethostbyname_ex</a:t>
            </a:r>
            <a:r>
              <a:rPr lang="en-US" altLang="en-US" sz="2400" b="1" dirty="0">
                <a:latin typeface="Courier New" panose="02070309020205020404" pitchFamily="49" charset="0"/>
              </a:rPr>
              <a:t>(hostname)</a:t>
            </a:r>
          </a:p>
          <a:p>
            <a:pPr lvl="1"/>
            <a:r>
              <a:rPr lang="en-US" altLang="en-US" dirty="0"/>
              <a:t>Returns (hostname, aliases, addresses)</a:t>
            </a:r>
          </a:p>
          <a:p>
            <a:pPr lvl="2"/>
            <a:r>
              <a:rPr lang="en-US" altLang="en-US" dirty="0"/>
              <a:t>Hostname is canonical name</a:t>
            </a:r>
          </a:p>
          <a:p>
            <a:pPr lvl="2"/>
            <a:r>
              <a:rPr lang="en-US" altLang="en-US" dirty="0"/>
              <a:t>Aliases is a list of other names</a:t>
            </a:r>
          </a:p>
          <a:p>
            <a:pPr lvl="2"/>
            <a:r>
              <a:rPr lang="en-US" altLang="en-US" dirty="0"/>
              <a:t>Addresses is a list of IP address strings</a:t>
            </a:r>
          </a:p>
          <a:p>
            <a:endParaRPr lang="zh-TW" altLang="en-US" dirty="0"/>
          </a:p>
        </p:txBody>
      </p:sp>
    </p:spTree>
    <p:extLst>
      <p:ext uri="{BB962C8B-B14F-4D97-AF65-F5344CB8AC3E}">
        <p14:creationId xmlns:p14="http://schemas.microsoft.com/office/powerpoint/2010/main" val="339152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098F321-4CE0-408D-9FFE-9543372CA858}"/>
              </a:ext>
            </a:extLst>
          </p:cNvPr>
          <p:cNvSpPr>
            <a:spLocks noGrp="1"/>
          </p:cNvSpPr>
          <p:nvPr>
            <p:ph type="title"/>
          </p:nvPr>
        </p:nvSpPr>
        <p:spPr/>
        <p:txBody>
          <a:bodyPr/>
          <a:lstStyle/>
          <a:p>
            <a:r>
              <a:rPr lang="en-US" altLang="en-US" dirty="0"/>
              <a:t>Address Families</a:t>
            </a:r>
            <a:endParaRPr lang="zh-TW" altLang="en-US" dirty="0"/>
          </a:p>
        </p:txBody>
      </p:sp>
      <p:sp>
        <p:nvSpPr>
          <p:cNvPr id="3" name="內容版面配置區 2">
            <a:extLst>
              <a:ext uri="{FF2B5EF4-FFF2-40B4-BE49-F238E27FC236}">
                <a16:creationId xmlns:a16="http://schemas.microsoft.com/office/drawing/2014/main" id="{6EB2FA7F-8E19-4ECA-B47C-355A50BF7586}"/>
              </a:ext>
            </a:extLst>
          </p:cNvPr>
          <p:cNvSpPr>
            <a:spLocks noGrp="1"/>
          </p:cNvSpPr>
          <p:nvPr>
            <p:ph idx="1"/>
          </p:nvPr>
        </p:nvSpPr>
        <p:spPr/>
        <p:txBody>
          <a:bodyPr/>
          <a:lstStyle/>
          <a:p>
            <a:r>
              <a:rPr lang="en-US" altLang="en-US" b="1" dirty="0" err="1">
                <a:latin typeface="Courier New" panose="02070309020205020404" pitchFamily="49" charset="0"/>
              </a:rPr>
              <a:t>socket.AF_UNIX</a:t>
            </a:r>
            <a:endParaRPr lang="en-US" altLang="en-US" b="1" dirty="0">
              <a:latin typeface="Courier New" panose="02070309020205020404" pitchFamily="49" charset="0"/>
            </a:endParaRPr>
          </a:p>
          <a:p>
            <a:pPr lvl="1"/>
            <a:r>
              <a:rPr lang="en-US" altLang="en-US" dirty="0"/>
              <a:t>Unix named pipe (NOT Windows…)</a:t>
            </a:r>
          </a:p>
          <a:p>
            <a:r>
              <a:rPr lang="en-US" altLang="en-US" b="1" dirty="0" err="1">
                <a:latin typeface="Courier New" panose="02070309020205020404" pitchFamily="49" charset="0"/>
              </a:rPr>
              <a:t>socket.AF_INET</a:t>
            </a:r>
            <a:endParaRPr lang="en-US" altLang="en-US" b="1" dirty="0">
              <a:latin typeface="Courier New" panose="02070309020205020404" pitchFamily="49" charset="0"/>
            </a:endParaRPr>
          </a:p>
          <a:p>
            <a:pPr lvl="1"/>
            <a:r>
              <a:rPr lang="en-US" altLang="en-US" dirty="0"/>
              <a:t>Internet – IP version 4</a:t>
            </a:r>
          </a:p>
          <a:p>
            <a:pPr lvl="1"/>
            <a:r>
              <a:rPr lang="en-US" altLang="en-US" dirty="0"/>
              <a:t>The basis of this class</a:t>
            </a:r>
          </a:p>
          <a:p>
            <a:r>
              <a:rPr lang="en-US" altLang="en-US" b="1" dirty="0">
                <a:latin typeface="Courier New" panose="02070309020205020404" pitchFamily="49" charset="0"/>
              </a:rPr>
              <a:t>socket.AF_INET6</a:t>
            </a:r>
          </a:p>
          <a:p>
            <a:pPr lvl="1"/>
            <a:r>
              <a:rPr lang="en-US" altLang="en-US" dirty="0"/>
              <a:t>Internet – IP version 6</a:t>
            </a:r>
          </a:p>
          <a:p>
            <a:pPr lvl="1"/>
            <a:r>
              <a:rPr lang="en-US" altLang="en-US" dirty="0"/>
              <a:t>Rather more complicated … </a:t>
            </a:r>
            <a:endParaRPr lang="zh-TW" altLang="en-US" dirty="0"/>
          </a:p>
        </p:txBody>
      </p:sp>
    </p:spTree>
    <p:extLst>
      <p:ext uri="{BB962C8B-B14F-4D97-AF65-F5344CB8AC3E}">
        <p14:creationId xmlns:p14="http://schemas.microsoft.com/office/powerpoint/2010/main" val="852365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866B154-69A6-4D89-A700-CF37D0772E1E}"/>
              </a:ext>
            </a:extLst>
          </p:cNvPr>
          <p:cNvSpPr>
            <a:spLocks noGrp="1"/>
          </p:cNvSpPr>
          <p:nvPr>
            <p:ph type="title"/>
          </p:nvPr>
        </p:nvSpPr>
        <p:spPr/>
        <p:txBody>
          <a:bodyPr/>
          <a:lstStyle/>
          <a:p>
            <a:r>
              <a:rPr lang="en-US" altLang="en-US" dirty="0"/>
              <a:t>Socket Types</a:t>
            </a:r>
            <a:endParaRPr lang="zh-TW" altLang="en-US" dirty="0"/>
          </a:p>
        </p:txBody>
      </p:sp>
      <p:sp>
        <p:nvSpPr>
          <p:cNvPr id="3" name="內容版面配置區 2">
            <a:extLst>
              <a:ext uri="{FF2B5EF4-FFF2-40B4-BE49-F238E27FC236}">
                <a16:creationId xmlns:a16="http://schemas.microsoft.com/office/drawing/2014/main" id="{D9C93D62-8066-4906-B5E0-1937F2F92A13}"/>
              </a:ext>
            </a:extLst>
          </p:cNvPr>
          <p:cNvSpPr>
            <a:spLocks noGrp="1"/>
          </p:cNvSpPr>
          <p:nvPr>
            <p:ph idx="1"/>
          </p:nvPr>
        </p:nvSpPr>
        <p:spPr/>
        <p:txBody>
          <a:bodyPr/>
          <a:lstStyle/>
          <a:p>
            <a:r>
              <a:rPr lang="en-US" altLang="en-US" b="1" dirty="0" err="1">
                <a:latin typeface="Courier New" panose="02070309020205020404" pitchFamily="49" charset="0"/>
              </a:rPr>
              <a:t>socket.SOCK_STREAM</a:t>
            </a:r>
            <a:endParaRPr lang="en-US" altLang="en-US" b="1" dirty="0">
              <a:latin typeface="Courier New" panose="02070309020205020404" pitchFamily="49" charset="0"/>
            </a:endParaRPr>
          </a:p>
          <a:p>
            <a:pPr lvl="1"/>
            <a:r>
              <a:rPr lang="en-US" altLang="en-US" dirty="0"/>
              <a:t>TCP, connection-oriented</a:t>
            </a:r>
          </a:p>
          <a:p>
            <a:r>
              <a:rPr lang="en-US" altLang="en-US" b="1" dirty="0" err="1">
                <a:latin typeface="Courier New" panose="02070309020205020404" pitchFamily="49" charset="0"/>
              </a:rPr>
              <a:t>socket.SOCK_DGRAM</a:t>
            </a:r>
            <a:endParaRPr lang="en-US" altLang="en-US" b="1" dirty="0">
              <a:latin typeface="Courier New" panose="02070309020205020404" pitchFamily="49" charset="0"/>
            </a:endParaRPr>
          </a:p>
          <a:p>
            <a:pPr lvl="1"/>
            <a:r>
              <a:rPr lang="en-US" altLang="en-US" dirty="0"/>
              <a:t>UDP, connectionless</a:t>
            </a:r>
          </a:p>
          <a:p>
            <a:r>
              <a:rPr lang="en-US" altLang="en-US" b="1" dirty="0" err="1">
                <a:latin typeface="Courier New" panose="02070309020205020404" pitchFamily="49" charset="0"/>
              </a:rPr>
              <a:t>socket.SOCK_RAW</a:t>
            </a:r>
            <a:r>
              <a:rPr lang="en-US" altLang="en-US" dirty="0"/>
              <a:t> </a:t>
            </a:r>
          </a:p>
          <a:p>
            <a:pPr lvl="1"/>
            <a:r>
              <a:rPr lang="en-US" altLang="en-US" dirty="0"/>
              <a:t>Gives access to subnetwork layer</a:t>
            </a:r>
          </a:p>
          <a:p>
            <a:r>
              <a:rPr lang="en-US" altLang="en-US" b="1" dirty="0">
                <a:latin typeface="Courier New" panose="02070309020205020404" pitchFamily="49" charset="0"/>
              </a:rPr>
              <a:t>SOCK_RDM, SOCK_SEQPACKET</a:t>
            </a:r>
          </a:p>
          <a:p>
            <a:pPr lvl="1"/>
            <a:r>
              <a:rPr lang="en-US" altLang="en-US" dirty="0"/>
              <a:t>Very rarely used</a:t>
            </a:r>
          </a:p>
          <a:p>
            <a:endParaRPr lang="zh-TW" altLang="en-US" dirty="0"/>
          </a:p>
        </p:txBody>
      </p:sp>
    </p:spTree>
    <p:extLst>
      <p:ext uri="{BB962C8B-B14F-4D97-AF65-F5344CB8AC3E}">
        <p14:creationId xmlns:p14="http://schemas.microsoft.com/office/powerpoint/2010/main" val="3428161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03AA56-F13B-4CFF-AC6E-0D391919CFEA}"/>
              </a:ext>
            </a:extLst>
          </p:cNvPr>
          <p:cNvSpPr>
            <a:spLocks noGrp="1"/>
          </p:cNvSpPr>
          <p:nvPr>
            <p:ph type="title"/>
          </p:nvPr>
        </p:nvSpPr>
        <p:spPr/>
        <p:txBody>
          <a:bodyPr/>
          <a:lstStyle/>
          <a:p>
            <a:r>
              <a:rPr lang="en-US" altLang="en-US" dirty="0"/>
              <a:t>Timeout Capabilities</a:t>
            </a:r>
            <a:endParaRPr lang="zh-TW" altLang="en-US" dirty="0"/>
          </a:p>
        </p:txBody>
      </p:sp>
      <p:sp>
        <p:nvSpPr>
          <p:cNvPr id="3" name="內容版面配置區 2">
            <a:extLst>
              <a:ext uri="{FF2B5EF4-FFF2-40B4-BE49-F238E27FC236}">
                <a16:creationId xmlns:a16="http://schemas.microsoft.com/office/drawing/2014/main" id="{2EA6C7BD-2A3F-4C86-B22A-D6F74775E66F}"/>
              </a:ext>
            </a:extLst>
          </p:cNvPr>
          <p:cNvSpPr>
            <a:spLocks noGrp="1"/>
          </p:cNvSpPr>
          <p:nvPr>
            <p:ph idx="1"/>
          </p:nvPr>
        </p:nvSpPr>
        <p:spPr/>
        <p:txBody>
          <a:bodyPr/>
          <a:lstStyle/>
          <a:p>
            <a:r>
              <a:rPr lang="en-US" altLang="en-US" dirty="0"/>
              <a:t>Can set a default for all sockets</a:t>
            </a:r>
          </a:p>
          <a:p>
            <a:pPr lvl="1"/>
            <a:r>
              <a:rPr lang="en-US" altLang="en-US" b="1" dirty="0" err="1">
                <a:latin typeface="Courier New" panose="02070309020205020404" pitchFamily="49" charset="0"/>
              </a:rPr>
              <a:t>socket.setdefaulttimeout</a:t>
            </a:r>
            <a:r>
              <a:rPr lang="en-US" altLang="en-US" b="1" dirty="0">
                <a:latin typeface="Courier New" panose="02070309020205020404" pitchFamily="49" charset="0"/>
              </a:rPr>
              <a:t>(seconds)</a:t>
            </a:r>
          </a:p>
          <a:p>
            <a:pPr lvl="1"/>
            <a:r>
              <a:rPr lang="en-US" altLang="en-US" dirty="0"/>
              <a:t>Argument is float # of seconds</a:t>
            </a:r>
          </a:p>
          <a:p>
            <a:pPr lvl="1"/>
            <a:r>
              <a:rPr lang="en-US" altLang="en-US" dirty="0"/>
              <a:t>Or </a:t>
            </a:r>
            <a:r>
              <a:rPr lang="en-US" altLang="en-US" b="1" dirty="0">
                <a:latin typeface="Courier New" panose="02070309020205020404" pitchFamily="49" charset="0"/>
              </a:rPr>
              <a:t>None</a:t>
            </a:r>
            <a:r>
              <a:rPr lang="en-US" altLang="en-US" dirty="0"/>
              <a:t> (indicates no timeout)</a:t>
            </a:r>
          </a:p>
          <a:p>
            <a:pPr lvl="1"/>
            <a:endParaRPr lang="en-US" altLang="en-US" dirty="0"/>
          </a:p>
          <a:p>
            <a:r>
              <a:rPr lang="en-US" altLang="en-US" dirty="0"/>
              <a:t>Can set a timeout on an existing socket </a:t>
            </a:r>
            <a:r>
              <a:rPr lang="en-US" altLang="en-US" b="1" dirty="0">
                <a:latin typeface="Courier New" panose="02070309020205020404" pitchFamily="49" charset="0"/>
              </a:rPr>
              <a:t>s</a:t>
            </a:r>
          </a:p>
          <a:p>
            <a:pPr lvl="1"/>
            <a:r>
              <a:rPr lang="en-US" altLang="en-US" b="1" dirty="0" err="1">
                <a:latin typeface="Courier New" panose="02070309020205020404" pitchFamily="49" charset="0"/>
              </a:rPr>
              <a:t>s.settimeout</a:t>
            </a:r>
            <a:r>
              <a:rPr lang="en-US" altLang="en-US" b="1" dirty="0">
                <a:latin typeface="Courier New" panose="02070309020205020404" pitchFamily="49" charset="0"/>
              </a:rPr>
              <a:t>(seconds)</a:t>
            </a:r>
          </a:p>
          <a:p>
            <a:endParaRPr lang="zh-TW" altLang="en-US" dirty="0"/>
          </a:p>
        </p:txBody>
      </p:sp>
      <p:sp>
        <p:nvSpPr>
          <p:cNvPr id="4" name="矩形 3">
            <a:extLst>
              <a:ext uri="{FF2B5EF4-FFF2-40B4-BE49-F238E27FC236}">
                <a16:creationId xmlns:a16="http://schemas.microsoft.com/office/drawing/2014/main" id="{A03BCCA7-BE86-4788-8C63-8D19E7C3A01A}"/>
              </a:ext>
            </a:extLst>
          </p:cNvPr>
          <p:cNvSpPr/>
          <p:nvPr/>
        </p:nvSpPr>
        <p:spPr>
          <a:xfrm>
            <a:off x="428625" y="5057775"/>
            <a:ext cx="10763249" cy="1569660"/>
          </a:xfrm>
          <a:prstGeom prst="rect">
            <a:avLst/>
          </a:prstGeom>
        </p:spPr>
        <p:txBody>
          <a:bodyPr wrap="square">
            <a:spAutoFit/>
          </a:bodyPr>
          <a:lstStyle/>
          <a:p>
            <a:r>
              <a:rPr lang="en-US" altLang="en-US" sz="1200" dirty="0"/>
              <a:t>A big problem with network programming is: what do you do when the expected responses aren't received?</a:t>
            </a:r>
          </a:p>
          <a:p>
            <a:endParaRPr lang="en-US" altLang="en-US" sz="1200" dirty="0"/>
          </a:p>
          <a:p>
            <a:r>
              <a:rPr lang="en-US" altLang="en-US" sz="1200" dirty="0"/>
              <a:t>In the case of TCP connection attempts, if no reply is received to the initial connection attempt it isn't unusual for the adaptive timeout to keep retrying at exponentially larger intervals, with the result that no exception occurs for over an hour. UDP sockets will hang indefinitely if they are awaiting a message that somehow gets lost, or is never transmitted.</a:t>
            </a:r>
          </a:p>
          <a:p>
            <a:endParaRPr lang="en-US" altLang="en-US" sz="1200" dirty="0"/>
          </a:p>
          <a:p>
            <a:r>
              <a:rPr lang="en-US" altLang="en-US" sz="1200" dirty="0"/>
              <a:t>Timeouts are therefore a valuable way to ensure that failures are detected in a timely manner. </a:t>
            </a:r>
          </a:p>
          <a:p>
            <a:r>
              <a:rPr lang="en-US" altLang="en-US" sz="1200" dirty="0"/>
              <a:t> </a:t>
            </a:r>
            <a:endParaRPr lang="en-US" altLang="en-US" sz="1200" dirty="0">
              <a:sym typeface="Wingdings" panose="05000000000000000000" pitchFamily="2" charset="2"/>
            </a:endParaRPr>
          </a:p>
        </p:txBody>
      </p:sp>
    </p:spTree>
    <p:extLst>
      <p:ext uri="{BB962C8B-B14F-4D97-AF65-F5344CB8AC3E}">
        <p14:creationId xmlns:p14="http://schemas.microsoft.com/office/powerpoint/2010/main" val="5010249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1E11DE8-8612-4B53-A3B5-69D881AC550E}"/>
              </a:ext>
            </a:extLst>
          </p:cNvPr>
          <p:cNvSpPr>
            <a:spLocks noGrp="1"/>
          </p:cNvSpPr>
          <p:nvPr>
            <p:ph type="title"/>
          </p:nvPr>
        </p:nvSpPr>
        <p:spPr/>
        <p:txBody>
          <a:bodyPr/>
          <a:lstStyle/>
          <a:p>
            <a:r>
              <a:rPr lang="en-US" altLang="en-US" dirty="0"/>
              <a:t>Server Libraries</a:t>
            </a:r>
            <a:endParaRPr lang="zh-TW" altLang="en-US" dirty="0"/>
          </a:p>
        </p:txBody>
      </p:sp>
      <p:sp>
        <p:nvSpPr>
          <p:cNvPr id="3" name="內容版面配置區 2">
            <a:extLst>
              <a:ext uri="{FF2B5EF4-FFF2-40B4-BE49-F238E27FC236}">
                <a16:creationId xmlns:a16="http://schemas.microsoft.com/office/drawing/2014/main" id="{D7A7D3FE-39AF-48F1-A10E-D388C1139778}"/>
              </a:ext>
            </a:extLst>
          </p:cNvPr>
          <p:cNvSpPr>
            <a:spLocks noGrp="1"/>
          </p:cNvSpPr>
          <p:nvPr>
            <p:ph idx="1"/>
          </p:nvPr>
        </p:nvSpPr>
        <p:spPr/>
        <p:txBody>
          <a:bodyPr/>
          <a:lstStyle/>
          <a:p>
            <a:r>
              <a:rPr lang="en-US" altLang="en-US" sz="2000" b="1" dirty="0" err="1">
                <a:latin typeface="Courier New" panose="02070309020205020404" pitchFamily="49" charset="0"/>
              </a:rPr>
              <a:t>SocketServer</a:t>
            </a:r>
            <a:r>
              <a:rPr lang="en-US" altLang="en-US" dirty="0"/>
              <a:t> module provides basic server features</a:t>
            </a:r>
          </a:p>
          <a:p>
            <a:r>
              <a:rPr lang="en-US" altLang="en-US" dirty="0"/>
              <a:t>Subclass the </a:t>
            </a:r>
            <a:r>
              <a:rPr lang="en-US" altLang="en-US" sz="2000" b="1" dirty="0" err="1">
                <a:latin typeface="Courier New" panose="02070309020205020404" pitchFamily="49" charset="0"/>
              </a:rPr>
              <a:t>TCPServer</a:t>
            </a:r>
            <a:r>
              <a:rPr lang="en-US" altLang="en-US" dirty="0"/>
              <a:t> and </a:t>
            </a:r>
            <a:r>
              <a:rPr lang="en-US" altLang="en-US" sz="2000" b="1" dirty="0" err="1">
                <a:latin typeface="Courier New" panose="02070309020205020404" pitchFamily="49" charset="0"/>
              </a:rPr>
              <a:t>UDPServer</a:t>
            </a:r>
            <a:r>
              <a:rPr lang="en-US" altLang="en-US" dirty="0"/>
              <a:t> classes to serve specific protocols</a:t>
            </a:r>
          </a:p>
          <a:p>
            <a:r>
              <a:rPr lang="en-US" altLang="en-US" dirty="0"/>
              <a:t>Subclass </a:t>
            </a:r>
            <a:r>
              <a:rPr lang="en-US" altLang="en-US" sz="2000" b="1" dirty="0" err="1">
                <a:latin typeface="Courier New" panose="02070309020205020404" pitchFamily="49" charset="0"/>
              </a:rPr>
              <a:t>BaseRequestHandler</a:t>
            </a:r>
            <a:r>
              <a:rPr lang="en-US" altLang="en-US" dirty="0"/>
              <a:t>, overriding its handle() method, to handle requests</a:t>
            </a:r>
          </a:p>
          <a:p>
            <a:r>
              <a:rPr lang="en-US" altLang="en-US" dirty="0"/>
              <a:t>Mix-in classes allow asynchronous handling via </a:t>
            </a:r>
            <a:r>
              <a:rPr lang="en-US" altLang="en-US" sz="2000" b="1" dirty="0" err="1">
                <a:latin typeface="Courier New" panose="02070309020205020404" pitchFamily="49" charset="0"/>
              </a:rPr>
              <a:t>ThreadingMixIn</a:t>
            </a:r>
            <a:r>
              <a:rPr lang="en-US" altLang="en-US" dirty="0"/>
              <a:t> </a:t>
            </a:r>
          </a:p>
          <a:p>
            <a:endParaRPr lang="zh-TW" altLang="en-US" dirty="0"/>
          </a:p>
        </p:txBody>
      </p:sp>
    </p:spTree>
    <p:extLst>
      <p:ext uri="{BB962C8B-B14F-4D97-AF65-F5344CB8AC3E}">
        <p14:creationId xmlns:p14="http://schemas.microsoft.com/office/powerpoint/2010/main" val="10297173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16F7A91-2522-417C-B57E-0811FDEDE4E7}"/>
              </a:ext>
            </a:extLst>
          </p:cNvPr>
          <p:cNvSpPr>
            <a:spLocks noGrp="1"/>
          </p:cNvSpPr>
          <p:nvPr>
            <p:ph type="title"/>
          </p:nvPr>
        </p:nvSpPr>
        <p:spPr/>
        <p:txBody>
          <a:bodyPr/>
          <a:lstStyle/>
          <a:p>
            <a:r>
              <a:rPr lang="en-US" altLang="en-US" dirty="0"/>
              <a:t>Using </a:t>
            </a:r>
            <a:r>
              <a:rPr lang="en-US" altLang="en-US" dirty="0" err="1"/>
              <a:t>SocketServer</a:t>
            </a:r>
            <a:r>
              <a:rPr lang="en-US" altLang="en-US" dirty="0"/>
              <a:t> Module</a:t>
            </a:r>
            <a:endParaRPr lang="zh-TW" altLang="en-US" dirty="0"/>
          </a:p>
        </p:txBody>
      </p:sp>
      <p:sp>
        <p:nvSpPr>
          <p:cNvPr id="3" name="內容版面配置區 2">
            <a:extLst>
              <a:ext uri="{FF2B5EF4-FFF2-40B4-BE49-F238E27FC236}">
                <a16:creationId xmlns:a16="http://schemas.microsoft.com/office/drawing/2014/main" id="{9693DB7E-B487-444F-B052-7235356D9AAA}"/>
              </a:ext>
            </a:extLst>
          </p:cNvPr>
          <p:cNvSpPr>
            <a:spLocks noGrp="1"/>
          </p:cNvSpPr>
          <p:nvPr>
            <p:ph idx="1"/>
          </p:nvPr>
        </p:nvSpPr>
        <p:spPr/>
        <p:txBody>
          <a:bodyPr/>
          <a:lstStyle/>
          <a:p>
            <a:r>
              <a:rPr lang="en-US" altLang="en-US" dirty="0"/>
              <a:t>Server instance created with address and handler-class as arguments:</a:t>
            </a:r>
            <a:br>
              <a:rPr lang="en-US" altLang="en-US" dirty="0"/>
            </a:br>
            <a:r>
              <a:rPr lang="en-US" altLang="en-US" sz="2000" b="1" dirty="0" err="1">
                <a:latin typeface="Courier New" panose="02070309020205020404" pitchFamily="49" charset="0"/>
              </a:rPr>
              <a:t>SocketServer.UDPServer</a:t>
            </a:r>
            <a:r>
              <a:rPr lang="en-US" altLang="en-US" sz="2000" b="1" dirty="0">
                <a:latin typeface="Courier New" panose="02070309020205020404" pitchFamily="49" charset="0"/>
              </a:rPr>
              <a:t>(</a:t>
            </a:r>
            <a:r>
              <a:rPr lang="en-US" altLang="en-US" sz="2000" b="1" dirty="0" err="1">
                <a:latin typeface="Courier New" panose="02070309020205020404" pitchFamily="49" charset="0"/>
              </a:rPr>
              <a:t>myaddr</a:t>
            </a:r>
            <a:r>
              <a:rPr lang="en-US" altLang="en-US" sz="2000" b="1" dirty="0">
                <a:latin typeface="Courier New" panose="02070309020205020404" pitchFamily="49" charset="0"/>
              </a:rPr>
              <a:t>, </a:t>
            </a:r>
            <a:r>
              <a:rPr lang="en-US" altLang="en-US" sz="2000" b="1" dirty="0" err="1">
                <a:latin typeface="Courier New" panose="02070309020205020404" pitchFamily="49" charset="0"/>
              </a:rPr>
              <a:t>MyHandler</a:t>
            </a:r>
            <a:r>
              <a:rPr lang="en-US" altLang="en-US" sz="2000" b="1" dirty="0">
                <a:latin typeface="Courier New" panose="02070309020205020404" pitchFamily="49" charset="0"/>
              </a:rPr>
              <a:t>)</a:t>
            </a:r>
          </a:p>
          <a:p>
            <a:r>
              <a:rPr lang="en-US" altLang="en-US" dirty="0"/>
              <a:t>Each connection/transmission creates a request handler instance by calling the handler-class*</a:t>
            </a:r>
          </a:p>
          <a:p>
            <a:r>
              <a:rPr lang="en-US" altLang="en-US" dirty="0"/>
              <a:t>Created handler instance handles a message (UDP) or a complete client session (TCP)</a:t>
            </a:r>
          </a:p>
          <a:p>
            <a:pPr>
              <a:buNone/>
            </a:pPr>
            <a:r>
              <a:rPr lang="en-US" altLang="en-US" sz="1600" dirty="0"/>
              <a:t>* In Python you instantiate a class by calling it like a function</a:t>
            </a:r>
          </a:p>
          <a:p>
            <a:endParaRPr lang="zh-TW" altLang="en-US" dirty="0"/>
          </a:p>
        </p:txBody>
      </p:sp>
    </p:spTree>
    <p:extLst>
      <p:ext uri="{BB962C8B-B14F-4D97-AF65-F5344CB8AC3E}">
        <p14:creationId xmlns:p14="http://schemas.microsoft.com/office/powerpoint/2010/main" val="1540300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6848A32-FCA0-4E3A-BC5C-87A056D549B6}"/>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5450936A-43D2-41E7-832D-C9F73E40F91F}"/>
              </a:ext>
            </a:extLst>
          </p:cNvPr>
          <p:cNvSpPr>
            <a:spLocks noGrp="1"/>
          </p:cNvSpPr>
          <p:nvPr>
            <p:ph idx="1"/>
          </p:nvPr>
        </p:nvSpPr>
        <p:spPr/>
        <p:txBody>
          <a:bodyPr/>
          <a:lstStyle/>
          <a:p>
            <a:endParaRPr lang="zh-TW" altLang="en-US"/>
          </a:p>
        </p:txBody>
      </p:sp>
    </p:spTree>
    <p:extLst>
      <p:ext uri="{BB962C8B-B14F-4D97-AF65-F5344CB8AC3E}">
        <p14:creationId xmlns:p14="http://schemas.microsoft.com/office/powerpoint/2010/main" val="375368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5E4C55-3498-465A-8DD1-F9A162B558A4}"/>
              </a:ext>
            </a:extLst>
          </p:cNvPr>
          <p:cNvSpPr>
            <a:spLocks noGrp="1"/>
          </p:cNvSpPr>
          <p:nvPr>
            <p:ph type="title"/>
          </p:nvPr>
        </p:nvSpPr>
        <p:spPr/>
        <p:txBody>
          <a:bodyPr/>
          <a:lstStyle/>
          <a:p>
            <a:r>
              <a:rPr lang="en-US" altLang="zh-TW" dirty="0"/>
              <a:t>Echo Server example 1</a:t>
            </a:r>
            <a:endParaRPr lang="zh-TW" altLang="en-US" dirty="0"/>
          </a:p>
        </p:txBody>
      </p:sp>
      <p:sp>
        <p:nvSpPr>
          <p:cNvPr id="3" name="內容版面配置區 2">
            <a:extLst>
              <a:ext uri="{FF2B5EF4-FFF2-40B4-BE49-F238E27FC236}">
                <a16:creationId xmlns:a16="http://schemas.microsoft.com/office/drawing/2014/main" id="{206CEBBD-D0CF-4878-AA6E-54C017C2F6F5}"/>
              </a:ext>
            </a:extLst>
          </p:cNvPr>
          <p:cNvSpPr>
            <a:spLocks noGrp="1"/>
          </p:cNvSpPr>
          <p:nvPr>
            <p:ph idx="1"/>
          </p:nvPr>
        </p:nvSpPr>
        <p:spPr/>
        <p:txBody>
          <a:bodyPr>
            <a:normAutofit fontScale="40000" lnSpcReduction="20000"/>
          </a:bodyPr>
          <a:lstStyle/>
          <a:p>
            <a:pPr marL="0" indent="0">
              <a:buNone/>
            </a:pPr>
            <a:r>
              <a:rPr lang="en-US" altLang="zh-TW" dirty="0"/>
              <a:t>import socket</a:t>
            </a:r>
          </a:p>
          <a:p>
            <a:pPr marL="0" indent="0">
              <a:buNone/>
            </a:pPr>
            <a:r>
              <a:rPr lang="en-US" altLang="zh-TW" dirty="0"/>
              <a:t>Import sys</a:t>
            </a:r>
          </a:p>
          <a:p>
            <a:pPr marL="0" indent="0">
              <a:buNone/>
            </a:pPr>
            <a:r>
              <a:rPr lang="en-US" altLang="zh-TW" dirty="0"/>
              <a:t>if (</a:t>
            </a:r>
            <a:r>
              <a:rPr lang="en-US" altLang="zh-TW" dirty="0" err="1"/>
              <a:t>sys.argc</a:t>
            </a:r>
            <a:r>
              <a:rPr lang="en-US" altLang="zh-TW" dirty="0"/>
              <a:t> != 2):</a:t>
            </a:r>
          </a:p>
          <a:p>
            <a:pPr marL="0" indent="0">
              <a:buNone/>
            </a:pPr>
            <a:r>
              <a:rPr lang="en-US" altLang="zh-TW" dirty="0"/>
              <a:t>    print(“Usage: ./server </a:t>
            </a:r>
            <a:r>
              <a:rPr lang="en-US" altLang="zh-TW" dirty="0" err="1"/>
              <a:t>portno</a:t>
            </a:r>
            <a:r>
              <a:rPr lang="en-US" altLang="zh-TW" dirty="0"/>
              <a:t>  “);</a:t>
            </a:r>
          </a:p>
          <a:p>
            <a:pPr marL="0" indent="0">
              <a:buNone/>
            </a:pPr>
            <a:r>
              <a:rPr lang="en-US" altLang="zh-TW" dirty="0"/>
              <a:t>HOST = '127.0.0.1’  </a:t>
            </a:r>
          </a:p>
          <a:p>
            <a:pPr marL="0" indent="0">
              <a:buNone/>
            </a:pPr>
            <a:r>
              <a:rPr lang="en-US" altLang="zh-TW" dirty="0"/>
              <a:t>PORT = </a:t>
            </a:r>
            <a:r>
              <a:rPr lang="en-US" altLang="zh-TW" dirty="0" err="1"/>
              <a:t>sys.argv</a:t>
            </a:r>
            <a:r>
              <a:rPr lang="en-US" altLang="zh-TW" dirty="0"/>
              <a:t>[1]</a:t>
            </a:r>
          </a:p>
          <a:p>
            <a:pPr marL="0" indent="0">
              <a:buNone/>
            </a:pPr>
            <a:r>
              <a:rPr lang="en-US" altLang="zh-TW" dirty="0"/>
              <a:t>with </a:t>
            </a:r>
            <a:r>
              <a:rPr lang="en-US" altLang="zh-TW" dirty="0" err="1"/>
              <a:t>socket.socket</a:t>
            </a:r>
            <a:r>
              <a:rPr lang="en-US" altLang="zh-TW" dirty="0"/>
              <a:t>(</a:t>
            </a:r>
            <a:r>
              <a:rPr lang="en-US" altLang="zh-TW" dirty="0" err="1"/>
              <a:t>socket.AF_INET</a:t>
            </a:r>
            <a:r>
              <a:rPr lang="en-US" altLang="zh-TW" dirty="0"/>
              <a:t>, </a:t>
            </a:r>
            <a:r>
              <a:rPr lang="en-US" altLang="zh-TW" dirty="0" err="1"/>
              <a:t>socket.SOCK_STREAM</a:t>
            </a:r>
            <a:r>
              <a:rPr lang="en-US" altLang="zh-TW" dirty="0"/>
              <a:t>) as s:</a:t>
            </a:r>
          </a:p>
          <a:p>
            <a:pPr marL="0" indent="0">
              <a:buNone/>
            </a:pPr>
            <a:r>
              <a:rPr lang="en-US" altLang="zh-TW" dirty="0"/>
              <a:t>    </a:t>
            </a:r>
            <a:r>
              <a:rPr lang="en-US" altLang="zh-TW" dirty="0" err="1"/>
              <a:t>s.bind</a:t>
            </a:r>
            <a:r>
              <a:rPr lang="en-US" altLang="zh-TW" dirty="0"/>
              <a:t>((HOST, PORT))</a:t>
            </a:r>
          </a:p>
          <a:p>
            <a:pPr marL="0" indent="0">
              <a:buNone/>
            </a:pPr>
            <a:r>
              <a:rPr lang="en-US" altLang="zh-TW" dirty="0"/>
              <a:t>    </a:t>
            </a:r>
            <a:r>
              <a:rPr lang="en-US" altLang="zh-TW" dirty="0" err="1"/>
              <a:t>s.listen</a:t>
            </a:r>
            <a:r>
              <a:rPr lang="en-US" altLang="zh-TW" dirty="0"/>
              <a:t>()</a:t>
            </a:r>
          </a:p>
          <a:p>
            <a:pPr marL="0" indent="0">
              <a:buNone/>
            </a:pPr>
            <a:r>
              <a:rPr lang="en-US" altLang="zh-TW" dirty="0"/>
              <a:t>    conn, </a:t>
            </a:r>
            <a:r>
              <a:rPr lang="en-US" altLang="zh-TW" dirty="0" err="1"/>
              <a:t>addr</a:t>
            </a:r>
            <a:r>
              <a:rPr lang="en-US" altLang="zh-TW" dirty="0"/>
              <a:t> = </a:t>
            </a:r>
            <a:r>
              <a:rPr lang="en-US" altLang="zh-TW" dirty="0" err="1"/>
              <a:t>s.accept</a:t>
            </a:r>
            <a:r>
              <a:rPr lang="en-US" altLang="zh-TW" dirty="0"/>
              <a:t>()</a:t>
            </a:r>
          </a:p>
          <a:p>
            <a:pPr marL="0" indent="0">
              <a:buNone/>
            </a:pPr>
            <a:r>
              <a:rPr lang="en-US" altLang="zh-TW" dirty="0"/>
              <a:t>    with conn:</a:t>
            </a:r>
          </a:p>
          <a:p>
            <a:pPr marL="0" indent="0">
              <a:buNone/>
            </a:pPr>
            <a:r>
              <a:rPr lang="en-US" altLang="zh-TW" dirty="0"/>
              <a:t>        print('Connected by', </a:t>
            </a:r>
            <a:r>
              <a:rPr lang="en-US" altLang="zh-TW" dirty="0" err="1"/>
              <a:t>addr</a:t>
            </a:r>
            <a:r>
              <a:rPr lang="en-US" altLang="zh-TW" dirty="0"/>
              <a:t>)</a:t>
            </a:r>
          </a:p>
          <a:p>
            <a:pPr marL="0" indent="0">
              <a:buNone/>
            </a:pPr>
            <a:r>
              <a:rPr lang="en-US" altLang="zh-TW" dirty="0"/>
              <a:t>        while True:</a:t>
            </a:r>
          </a:p>
          <a:p>
            <a:pPr marL="0" indent="0">
              <a:buNone/>
            </a:pPr>
            <a:r>
              <a:rPr lang="en-US" altLang="zh-TW" dirty="0"/>
              <a:t>            data = </a:t>
            </a:r>
            <a:r>
              <a:rPr lang="en-US" altLang="zh-TW" dirty="0" err="1"/>
              <a:t>conn.recv</a:t>
            </a:r>
            <a:r>
              <a:rPr lang="en-US" altLang="zh-TW" dirty="0"/>
              <a:t>(1024)</a:t>
            </a:r>
          </a:p>
          <a:p>
            <a:pPr marL="0" indent="0">
              <a:buNone/>
            </a:pPr>
            <a:r>
              <a:rPr lang="en-US" altLang="zh-TW" dirty="0"/>
              <a:t>            if not data:</a:t>
            </a:r>
          </a:p>
          <a:p>
            <a:pPr marL="0" indent="0">
              <a:buNone/>
            </a:pPr>
            <a:r>
              <a:rPr lang="en-US" altLang="zh-TW" dirty="0"/>
              <a:t>                break</a:t>
            </a:r>
          </a:p>
          <a:p>
            <a:pPr marL="0" indent="0">
              <a:buNone/>
            </a:pPr>
            <a:r>
              <a:rPr lang="en-US" altLang="zh-TW" dirty="0"/>
              <a:t>            </a:t>
            </a:r>
            <a:r>
              <a:rPr lang="en-US" altLang="zh-TW" dirty="0" err="1"/>
              <a:t>conn.sendall</a:t>
            </a:r>
            <a:r>
              <a:rPr lang="en-US" altLang="zh-TW" dirty="0"/>
              <a:t>(data)</a:t>
            </a:r>
            <a:endParaRPr lang="zh-TW" altLang="en-US" dirty="0"/>
          </a:p>
        </p:txBody>
      </p:sp>
    </p:spTree>
    <p:extLst>
      <p:ext uri="{BB962C8B-B14F-4D97-AF65-F5344CB8AC3E}">
        <p14:creationId xmlns:p14="http://schemas.microsoft.com/office/powerpoint/2010/main" val="807907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7273555-961F-4F62-834D-DF14537284F9}"/>
              </a:ext>
            </a:extLst>
          </p:cNvPr>
          <p:cNvSpPr>
            <a:spLocks noGrp="1"/>
          </p:cNvSpPr>
          <p:nvPr>
            <p:ph type="title"/>
          </p:nvPr>
        </p:nvSpPr>
        <p:spPr/>
        <p:txBody>
          <a:bodyPr/>
          <a:lstStyle/>
          <a:p>
            <a:r>
              <a:rPr lang="en-US" altLang="zh-TW" dirty="0"/>
              <a:t>Echo Client example 1</a:t>
            </a:r>
            <a:endParaRPr lang="zh-TW" altLang="en-US" dirty="0"/>
          </a:p>
        </p:txBody>
      </p:sp>
      <p:sp>
        <p:nvSpPr>
          <p:cNvPr id="3" name="內容版面配置區 2">
            <a:extLst>
              <a:ext uri="{FF2B5EF4-FFF2-40B4-BE49-F238E27FC236}">
                <a16:creationId xmlns:a16="http://schemas.microsoft.com/office/drawing/2014/main" id="{CF37E1C8-A582-4CDC-A8FB-F0535804C40A}"/>
              </a:ext>
            </a:extLst>
          </p:cNvPr>
          <p:cNvSpPr>
            <a:spLocks noGrp="1"/>
          </p:cNvSpPr>
          <p:nvPr>
            <p:ph idx="1"/>
          </p:nvPr>
        </p:nvSpPr>
        <p:spPr/>
        <p:txBody>
          <a:bodyPr>
            <a:normAutofit fontScale="85000" lnSpcReduction="20000"/>
          </a:bodyPr>
          <a:lstStyle/>
          <a:p>
            <a:pPr marL="0" indent="0">
              <a:buNone/>
            </a:pPr>
            <a:r>
              <a:rPr lang="en-US" altLang="zh-TW" dirty="0"/>
              <a:t>import socket</a:t>
            </a:r>
          </a:p>
          <a:p>
            <a:pPr marL="0" indent="0">
              <a:buNone/>
            </a:pPr>
            <a:r>
              <a:rPr lang="en-US" altLang="zh-TW" dirty="0"/>
              <a:t>import sys</a:t>
            </a:r>
          </a:p>
          <a:p>
            <a:pPr marL="0" indent="0">
              <a:buNone/>
            </a:pPr>
            <a:r>
              <a:rPr lang="en-US" altLang="zh-TW" dirty="0"/>
              <a:t>HOST = '127.0.0.1’</a:t>
            </a:r>
          </a:p>
          <a:p>
            <a:pPr marL="0" indent="0">
              <a:buNone/>
            </a:pPr>
            <a:r>
              <a:rPr lang="en-US" altLang="zh-TW" dirty="0"/>
              <a:t>PORT = </a:t>
            </a:r>
            <a:r>
              <a:rPr lang="en-US" altLang="zh-TW" dirty="0" err="1"/>
              <a:t>sys.argv</a:t>
            </a:r>
            <a:r>
              <a:rPr lang="en-US" altLang="zh-TW" dirty="0"/>
              <a:t>[1]</a:t>
            </a:r>
          </a:p>
          <a:p>
            <a:pPr marL="0" indent="0">
              <a:buNone/>
            </a:pPr>
            <a:endParaRPr lang="en-US" altLang="zh-TW" dirty="0"/>
          </a:p>
          <a:p>
            <a:pPr marL="0" indent="0">
              <a:buNone/>
            </a:pPr>
            <a:r>
              <a:rPr lang="en-US" altLang="zh-TW" dirty="0"/>
              <a:t>with </a:t>
            </a:r>
            <a:r>
              <a:rPr lang="en-US" altLang="zh-TW" dirty="0" err="1"/>
              <a:t>socket.socket</a:t>
            </a:r>
            <a:r>
              <a:rPr lang="en-US" altLang="zh-TW" dirty="0"/>
              <a:t>(</a:t>
            </a:r>
            <a:r>
              <a:rPr lang="en-US" altLang="zh-TW" dirty="0" err="1"/>
              <a:t>socket.AF_INET</a:t>
            </a:r>
            <a:r>
              <a:rPr lang="en-US" altLang="zh-TW" dirty="0"/>
              <a:t>, </a:t>
            </a:r>
            <a:r>
              <a:rPr lang="en-US" altLang="zh-TW" dirty="0" err="1"/>
              <a:t>socket.SOCK_STREAM</a:t>
            </a:r>
            <a:r>
              <a:rPr lang="en-US" altLang="zh-TW" dirty="0"/>
              <a:t>) as s:</a:t>
            </a:r>
          </a:p>
          <a:p>
            <a:pPr marL="0" indent="0">
              <a:buNone/>
            </a:pPr>
            <a:r>
              <a:rPr lang="en-US" altLang="zh-TW" dirty="0"/>
              <a:t>    </a:t>
            </a:r>
            <a:r>
              <a:rPr lang="en-US" altLang="zh-TW" dirty="0" err="1"/>
              <a:t>s.connect</a:t>
            </a:r>
            <a:r>
              <a:rPr lang="en-US" altLang="zh-TW" dirty="0"/>
              <a:t>((HOST, PORT))</a:t>
            </a:r>
          </a:p>
          <a:p>
            <a:pPr marL="0" indent="0">
              <a:buNone/>
            </a:pPr>
            <a:r>
              <a:rPr lang="en-US" altLang="zh-TW" dirty="0"/>
              <a:t>    </a:t>
            </a:r>
            <a:r>
              <a:rPr lang="en-US" altLang="zh-TW" dirty="0" err="1"/>
              <a:t>s.sendall</a:t>
            </a:r>
            <a:r>
              <a:rPr lang="en-US" altLang="zh-TW" dirty="0"/>
              <a:t>(</a:t>
            </a:r>
            <a:r>
              <a:rPr lang="en-US" altLang="zh-TW" dirty="0" err="1"/>
              <a:t>b'Hello</a:t>
            </a:r>
            <a:r>
              <a:rPr lang="en-US" altLang="zh-TW" dirty="0"/>
              <a:t>, world')</a:t>
            </a:r>
          </a:p>
          <a:p>
            <a:pPr marL="0" indent="0">
              <a:buNone/>
            </a:pPr>
            <a:r>
              <a:rPr lang="en-US" altLang="zh-TW" dirty="0"/>
              <a:t>    data = </a:t>
            </a:r>
            <a:r>
              <a:rPr lang="en-US" altLang="zh-TW" dirty="0" err="1"/>
              <a:t>s.recv</a:t>
            </a:r>
            <a:r>
              <a:rPr lang="en-US" altLang="zh-TW" dirty="0"/>
              <a:t>(1024)</a:t>
            </a:r>
          </a:p>
          <a:p>
            <a:pPr marL="0" indent="0">
              <a:buNone/>
            </a:pPr>
            <a:endParaRPr lang="en-US" altLang="zh-TW" dirty="0"/>
          </a:p>
          <a:p>
            <a:pPr marL="0" indent="0">
              <a:buNone/>
            </a:pPr>
            <a:r>
              <a:rPr lang="en-US" altLang="zh-TW" dirty="0"/>
              <a:t>print('Received', </a:t>
            </a:r>
            <a:r>
              <a:rPr lang="en-US" altLang="zh-TW" dirty="0" err="1"/>
              <a:t>repr</a:t>
            </a:r>
            <a:r>
              <a:rPr lang="en-US" altLang="zh-TW" dirty="0"/>
              <a:t>(data))</a:t>
            </a:r>
            <a:endParaRPr lang="zh-TW" altLang="en-US" dirty="0"/>
          </a:p>
        </p:txBody>
      </p:sp>
    </p:spTree>
    <p:extLst>
      <p:ext uri="{BB962C8B-B14F-4D97-AF65-F5344CB8AC3E}">
        <p14:creationId xmlns:p14="http://schemas.microsoft.com/office/powerpoint/2010/main" val="4287967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E5AF19-1327-4B9E-BB0E-34FC32A5BC0F}"/>
              </a:ext>
            </a:extLst>
          </p:cNvPr>
          <p:cNvSpPr>
            <a:spLocks noGrp="1"/>
          </p:cNvSpPr>
          <p:nvPr>
            <p:ph type="title"/>
          </p:nvPr>
        </p:nvSpPr>
        <p:spPr>
          <a:xfrm>
            <a:off x="838200" y="231775"/>
            <a:ext cx="10515600" cy="1325563"/>
          </a:xfrm>
        </p:spPr>
        <p:txBody>
          <a:bodyPr/>
          <a:lstStyle/>
          <a:p>
            <a:r>
              <a:rPr lang="en-US" altLang="zh-TW" dirty="0"/>
              <a:t>multithread </a:t>
            </a:r>
            <a:r>
              <a:rPr lang="en-US" altLang="zh-TW" dirty="0" err="1"/>
              <a:t>tcp</a:t>
            </a:r>
            <a:r>
              <a:rPr lang="en-US" altLang="zh-TW" dirty="0"/>
              <a:t> file transfer on localhost</a:t>
            </a:r>
            <a:endParaRPr lang="zh-TW" altLang="en-US" dirty="0"/>
          </a:p>
        </p:txBody>
      </p:sp>
      <p:sp>
        <p:nvSpPr>
          <p:cNvPr id="3" name="內容版面配置區 2">
            <a:extLst>
              <a:ext uri="{FF2B5EF4-FFF2-40B4-BE49-F238E27FC236}">
                <a16:creationId xmlns:a16="http://schemas.microsoft.com/office/drawing/2014/main" id="{3F08B2C3-1316-43DC-8F29-AC0AF6F98F26}"/>
              </a:ext>
            </a:extLst>
          </p:cNvPr>
          <p:cNvSpPr>
            <a:spLocks noGrp="1"/>
          </p:cNvSpPr>
          <p:nvPr>
            <p:ph idx="1"/>
          </p:nvPr>
        </p:nvSpPr>
        <p:spPr>
          <a:xfrm>
            <a:off x="838200" y="1409700"/>
            <a:ext cx="10515600" cy="5314950"/>
          </a:xfrm>
        </p:spPr>
        <p:txBody>
          <a:bodyPr>
            <a:normAutofit fontScale="47500" lnSpcReduction="20000"/>
          </a:bodyPr>
          <a:lstStyle/>
          <a:p>
            <a:pPr marL="0" indent="0">
              <a:lnSpc>
                <a:spcPct val="50000"/>
              </a:lnSpc>
              <a:buNone/>
            </a:pPr>
            <a:r>
              <a:rPr lang="en-US" altLang="zh-TW" dirty="0"/>
              <a:t># server2.py</a:t>
            </a:r>
          </a:p>
          <a:p>
            <a:pPr marL="0" indent="0">
              <a:lnSpc>
                <a:spcPct val="50000"/>
              </a:lnSpc>
              <a:buNone/>
            </a:pPr>
            <a:r>
              <a:rPr lang="en-US" altLang="zh-TW" dirty="0"/>
              <a:t>import socket</a:t>
            </a:r>
          </a:p>
          <a:p>
            <a:pPr marL="0" indent="0">
              <a:lnSpc>
                <a:spcPct val="50000"/>
              </a:lnSpc>
              <a:buNone/>
            </a:pPr>
            <a:r>
              <a:rPr lang="en-US" altLang="zh-TW" dirty="0"/>
              <a:t>from threading import Thread</a:t>
            </a:r>
          </a:p>
          <a:p>
            <a:pPr marL="0" indent="0">
              <a:lnSpc>
                <a:spcPct val="50000"/>
              </a:lnSpc>
              <a:buNone/>
            </a:pPr>
            <a:r>
              <a:rPr lang="en-US" altLang="zh-TW" dirty="0"/>
              <a:t>from </a:t>
            </a:r>
            <a:r>
              <a:rPr lang="en-US" altLang="zh-TW" dirty="0" err="1"/>
              <a:t>SocketServer</a:t>
            </a:r>
            <a:r>
              <a:rPr lang="en-US" altLang="zh-TW" dirty="0"/>
              <a:t> import </a:t>
            </a:r>
            <a:r>
              <a:rPr lang="en-US" altLang="zh-TW" dirty="0" err="1"/>
              <a:t>ThreadingMixIn</a:t>
            </a:r>
            <a:endParaRPr lang="en-US" altLang="zh-TW" dirty="0"/>
          </a:p>
          <a:p>
            <a:pPr marL="0" indent="0">
              <a:lnSpc>
                <a:spcPct val="50000"/>
              </a:lnSpc>
              <a:buNone/>
            </a:pPr>
            <a:r>
              <a:rPr lang="en-US" altLang="zh-TW" dirty="0"/>
              <a:t>TCP_IP = 'localhost'</a:t>
            </a:r>
          </a:p>
          <a:p>
            <a:pPr marL="0" indent="0">
              <a:lnSpc>
                <a:spcPct val="50000"/>
              </a:lnSpc>
              <a:buNone/>
            </a:pPr>
            <a:r>
              <a:rPr lang="en-US" altLang="zh-TW" dirty="0"/>
              <a:t>TCP_PORT = 9001</a:t>
            </a:r>
          </a:p>
          <a:p>
            <a:pPr marL="0" indent="0">
              <a:lnSpc>
                <a:spcPct val="50000"/>
              </a:lnSpc>
              <a:buNone/>
            </a:pPr>
            <a:r>
              <a:rPr lang="en-US" altLang="zh-TW" dirty="0"/>
              <a:t>BUFFER_SIZE = 1024</a:t>
            </a:r>
          </a:p>
          <a:p>
            <a:pPr marL="0" indent="0">
              <a:lnSpc>
                <a:spcPct val="50000"/>
              </a:lnSpc>
              <a:buNone/>
            </a:pPr>
            <a:endParaRPr lang="en-US" altLang="zh-TW" dirty="0"/>
          </a:p>
          <a:p>
            <a:pPr marL="0" indent="0">
              <a:lnSpc>
                <a:spcPct val="50000"/>
              </a:lnSpc>
              <a:buNone/>
            </a:pPr>
            <a:r>
              <a:rPr lang="en-US" altLang="zh-TW" dirty="0"/>
              <a:t>class </a:t>
            </a:r>
            <a:r>
              <a:rPr lang="en-US" altLang="zh-TW" dirty="0" err="1"/>
              <a:t>ClientThread</a:t>
            </a:r>
            <a:r>
              <a:rPr lang="en-US" altLang="zh-TW" dirty="0"/>
              <a:t>(Thread):</a:t>
            </a:r>
          </a:p>
          <a:p>
            <a:pPr marL="0" indent="0">
              <a:lnSpc>
                <a:spcPct val="50000"/>
              </a:lnSpc>
              <a:buNone/>
            </a:pPr>
            <a:r>
              <a:rPr lang="en-US" altLang="zh-TW" dirty="0"/>
              <a:t>    def __</a:t>
            </a:r>
            <a:r>
              <a:rPr lang="en-US" altLang="zh-TW" dirty="0" err="1"/>
              <a:t>init</a:t>
            </a:r>
            <a:r>
              <a:rPr lang="en-US" altLang="zh-TW" dirty="0"/>
              <a:t>__(</a:t>
            </a:r>
            <a:r>
              <a:rPr lang="en-US" altLang="zh-TW" dirty="0" err="1"/>
              <a:t>self,ip,port,sock</a:t>
            </a:r>
            <a:r>
              <a:rPr lang="en-US" altLang="zh-TW" dirty="0"/>
              <a:t>):</a:t>
            </a:r>
          </a:p>
          <a:p>
            <a:pPr marL="0" indent="0">
              <a:lnSpc>
                <a:spcPct val="50000"/>
              </a:lnSpc>
              <a:buNone/>
            </a:pPr>
            <a:r>
              <a:rPr lang="en-US" altLang="zh-TW" dirty="0"/>
              <a:t>        Thread.__</a:t>
            </a:r>
            <a:r>
              <a:rPr lang="en-US" altLang="zh-TW" dirty="0" err="1"/>
              <a:t>init</a:t>
            </a:r>
            <a:r>
              <a:rPr lang="en-US" altLang="zh-TW" dirty="0"/>
              <a:t>__(self)</a:t>
            </a:r>
          </a:p>
          <a:p>
            <a:pPr marL="0" indent="0">
              <a:lnSpc>
                <a:spcPct val="50000"/>
              </a:lnSpc>
              <a:buNone/>
            </a:pPr>
            <a:r>
              <a:rPr lang="en-US" altLang="zh-TW" dirty="0"/>
              <a:t>        </a:t>
            </a:r>
            <a:r>
              <a:rPr lang="en-US" altLang="zh-TW" dirty="0" err="1"/>
              <a:t>self.ip</a:t>
            </a:r>
            <a:r>
              <a:rPr lang="en-US" altLang="zh-TW" dirty="0"/>
              <a:t> = </a:t>
            </a:r>
            <a:r>
              <a:rPr lang="en-US" altLang="zh-TW" dirty="0" err="1"/>
              <a:t>ip</a:t>
            </a:r>
            <a:endParaRPr lang="en-US" altLang="zh-TW" dirty="0"/>
          </a:p>
          <a:p>
            <a:pPr marL="0" indent="0">
              <a:lnSpc>
                <a:spcPct val="50000"/>
              </a:lnSpc>
              <a:buNone/>
            </a:pPr>
            <a:r>
              <a:rPr lang="en-US" altLang="zh-TW" dirty="0"/>
              <a:t>        </a:t>
            </a:r>
            <a:r>
              <a:rPr lang="en-US" altLang="zh-TW" dirty="0" err="1"/>
              <a:t>self.port</a:t>
            </a:r>
            <a:r>
              <a:rPr lang="en-US" altLang="zh-TW" dirty="0"/>
              <a:t> = port</a:t>
            </a:r>
          </a:p>
          <a:p>
            <a:pPr marL="0" indent="0">
              <a:lnSpc>
                <a:spcPct val="50000"/>
              </a:lnSpc>
              <a:buNone/>
            </a:pPr>
            <a:r>
              <a:rPr lang="en-US" altLang="zh-TW" dirty="0"/>
              <a:t>        </a:t>
            </a:r>
            <a:r>
              <a:rPr lang="en-US" altLang="zh-TW" dirty="0" err="1"/>
              <a:t>self.sock</a:t>
            </a:r>
            <a:r>
              <a:rPr lang="en-US" altLang="zh-TW" dirty="0"/>
              <a:t> = sock</a:t>
            </a:r>
          </a:p>
          <a:p>
            <a:pPr marL="0" indent="0">
              <a:lnSpc>
                <a:spcPct val="50000"/>
              </a:lnSpc>
              <a:buNone/>
            </a:pPr>
            <a:r>
              <a:rPr lang="en-US" altLang="zh-TW" dirty="0"/>
              <a:t>        print " New thread started for "+</a:t>
            </a:r>
            <a:r>
              <a:rPr lang="en-US" altLang="zh-TW" dirty="0" err="1"/>
              <a:t>ip</a:t>
            </a:r>
            <a:r>
              <a:rPr lang="en-US" altLang="zh-TW" dirty="0"/>
              <a:t>+":"+str(port)</a:t>
            </a:r>
          </a:p>
          <a:p>
            <a:pPr marL="0" indent="0">
              <a:lnSpc>
                <a:spcPct val="50000"/>
              </a:lnSpc>
              <a:buNone/>
            </a:pPr>
            <a:r>
              <a:rPr lang="en-US" altLang="zh-TW" dirty="0"/>
              <a:t>    def run(self):</a:t>
            </a:r>
          </a:p>
          <a:p>
            <a:pPr marL="0" indent="0">
              <a:lnSpc>
                <a:spcPct val="50000"/>
              </a:lnSpc>
              <a:buNone/>
            </a:pPr>
            <a:r>
              <a:rPr lang="en-US" altLang="zh-TW" dirty="0"/>
              <a:t>        filename='mytext.txt'</a:t>
            </a:r>
          </a:p>
          <a:p>
            <a:pPr marL="0" indent="0">
              <a:lnSpc>
                <a:spcPct val="50000"/>
              </a:lnSpc>
              <a:buNone/>
            </a:pPr>
            <a:r>
              <a:rPr lang="en-US" altLang="zh-TW" dirty="0"/>
              <a:t>        f = open(filename,'</a:t>
            </a:r>
            <a:r>
              <a:rPr lang="en-US" altLang="zh-TW" dirty="0" err="1"/>
              <a:t>rb</a:t>
            </a:r>
            <a:r>
              <a:rPr lang="en-US" altLang="zh-TW" dirty="0"/>
              <a:t>')</a:t>
            </a:r>
          </a:p>
          <a:p>
            <a:pPr marL="0" indent="0">
              <a:lnSpc>
                <a:spcPct val="50000"/>
              </a:lnSpc>
              <a:buNone/>
            </a:pPr>
            <a:r>
              <a:rPr lang="en-US" altLang="zh-TW" dirty="0"/>
              <a:t>        while True:</a:t>
            </a:r>
          </a:p>
          <a:p>
            <a:pPr marL="0" indent="0">
              <a:lnSpc>
                <a:spcPct val="50000"/>
              </a:lnSpc>
              <a:buNone/>
            </a:pPr>
            <a:r>
              <a:rPr lang="en-US" altLang="zh-TW" dirty="0"/>
              <a:t>            l = </a:t>
            </a:r>
            <a:r>
              <a:rPr lang="en-US" altLang="zh-TW" dirty="0" err="1"/>
              <a:t>f.read</a:t>
            </a:r>
            <a:r>
              <a:rPr lang="en-US" altLang="zh-TW" dirty="0"/>
              <a:t>(BUFFER_SIZE)</a:t>
            </a:r>
          </a:p>
          <a:p>
            <a:pPr marL="0" indent="0">
              <a:lnSpc>
                <a:spcPct val="50000"/>
              </a:lnSpc>
              <a:buNone/>
            </a:pPr>
            <a:r>
              <a:rPr lang="en-US" altLang="zh-TW" dirty="0"/>
              <a:t>            while (l):</a:t>
            </a:r>
          </a:p>
          <a:p>
            <a:pPr marL="0" indent="0">
              <a:lnSpc>
                <a:spcPct val="50000"/>
              </a:lnSpc>
              <a:buNone/>
            </a:pPr>
            <a:r>
              <a:rPr lang="en-US" altLang="zh-TW" dirty="0"/>
              <a:t>                </a:t>
            </a:r>
            <a:r>
              <a:rPr lang="en-US" altLang="zh-TW" dirty="0" err="1"/>
              <a:t>self.sock.send</a:t>
            </a:r>
            <a:r>
              <a:rPr lang="en-US" altLang="zh-TW" dirty="0"/>
              <a:t>(l)</a:t>
            </a:r>
          </a:p>
          <a:p>
            <a:pPr marL="0" indent="0">
              <a:lnSpc>
                <a:spcPct val="50000"/>
              </a:lnSpc>
              <a:buNone/>
            </a:pPr>
            <a:r>
              <a:rPr lang="en-US" altLang="zh-TW" dirty="0"/>
              <a:t>                #print('Sent ',</a:t>
            </a:r>
            <a:r>
              <a:rPr lang="en-US" altLang="zh-TW" dirty="0" err="1"/>
              <a:t>repr</a:t>
            </a:r>
            <a:r>
              <a:rPr lang="en-US" altLang="zh-TW" dirty="0"/>
              <a:t>(l))</a:t>
            </a:r>
          </a:p>
          <a:p>
            <a:pPr marL="0" indent="0">
              <a:lnSpc>
                <a:spcPct val="50000"/>
              </a:lnSpc>
              <a:buNone/>
            </a:pPr>
            <a:r>
              <a:rPr lang="en-US" altLang="zh-TW" dirty="0"/>
              <a:t>                l = </a:t>
            </a:r>
            <a:r>
              <a:rPr lang="en-US" altLang="zh-TW" dirty="0" err="1"/>
              <a:t>f.read</a:t>
            </a:r>
            <a:r>
              <a:rPr lang="en-US" altLang="zh-TW" dirty="0"/>
              <a:t>(BUFFER_SIZE)</a:t>
            </a:r>
          </a:p>
          <a:p>
            <a:pPr marL="0" indent="0">
              <a:lnSpc>
                <a:spcPct val="50000"/>
              </a:lnSpc>
              <a:buNone/>
            </a:pPr>
            <a:r>
              <a:rPr lang="en-US" altLang="zh-TW" dirty="0"/>
              <a:t>            if not l:</a:t>
            </a:r>
          </a:p>
          <a:p>
            <a:pPr marL="0" indent="0">
              <a:lnSpc>
                <a:spcPct val="50000"/>
              </a:lnSpc>
              <a:buNone/>
            </a:pPr>
            <a:r>
              <a:rPr lang="en-US" altLang="zh-TW" dirty="0"/>
              <a:t>                </a:t>
            </a:r>
            <a:r>
              <a:rPr lang="en-US" altLang="zh-TW" dirty="0" err="1"/>
              <a:t>f.close</a:t>
            </a:r>
            <a:r>
              <a:rPr lang="en-US" altLang="zh-TW" dirty="0"/>
              <a:t>()</a:t>
            </a:r>
          </a:p>
          <a:p>
            <a:pPr marL="0" indent="0">
              <a:lnSpc>
                <a:spcPct val="50000"/>
              </a:lnSpc>
              <a:buNone/>
            </a:pPr>
            <a:r>
              <a:rPr lang="en-US" altLang="zh-TW" dirty="0"/>
              <a:t>                </a:t>
            </a:r>
            <a:r>
              <a:rPr lang="en-US" altLang="zh-TW" dirty="0" err="1"/>
              <a:t>self.sock.close</a:t>
            </a:r>
            <a:r>
              <a:rPr lang="en-US" altLang="zh-TW" dirty="0"/>
              <a:t>()</a:t>
            </a:r>
          </a:p>
          <a:p>
            <a:pPr marL="0" indent="0">
              <a:lnSpc>
                <a:spcPct val="50000"/>
              </a:lnSpc>
              <a:buNone/>
            </a:pPr>
            <a:r>
              <a:rPr lang="en-US" altLang="zh-TW" dirty="0"/>
              <a:t>                break</a:t>
            </a:r>
          </a:p>
          <a:p>
            <a:pPr marL="0" indent="0">
              <a:buNone/>
            </a:pPr>
            <a:endParaRPr lang="zh-TW" altLang="en-US" dirty="0"/>
          </a:p>
        </p:txBody>
      </p:sp>
    </p:spTree>
    <p:extLst>
      <p:ext uri="{BB962C8B-B14F-4D97-AF65-F5344CB8AC3E}">
        <p14:creationId xmlns:p14="http://schemas.microsoft.com/office/powerpoint/2010/main" val="4134308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E5AF19-1327-4B9E-BB0E-34FC32A5BC0F}"/>
              </a:ext>
            </a:extLst>
          </p:cNvPr>
          <p:cNvSpPr>
            <a:spLocks noGrp="1"/>
          </p:cNvSpPr>
          <p:nvPr>
            <p:ph type="title"/>
          </p:nvPr>
        </p:nvSpPr>
        <p:spPr/>
        <p:txBody>
          <a:bodyPr/>
          <a:lstStyle/>
          <a:p>
            <a:r>
              <a:rPr lang="en-US" altLang="zh-TW" dirty="0"/>
              <a:t>multithread </a:t>
            </a:r>
            <a:r>
              <a:rPr lang="en-US" altLang="zh-TW" dirty="0" err="1"/>
              <a:t>tcp</a:t>
            </a:r>
            <a:r>
              <a:rPr lang="en-US" altLang="zh-TW" dirty="0"/>
              <a:t> file transfer on localhost</a:t>
            </a:r>
            <a:endParaRPr lang="zh-TW" altLang="en-US" dirty="0"/>
          </a:p>
        </p:txBody>
      </p:sp>
      <p:sp>
        <p:nvSpPr>
          <p:cNvPr id="3" name="內容版面配置區 2">
            <a:extLst>
              <a:ext uri="{FF2B5EF4-FFF2-40B4-BE49-F238E27FC236}">
                <a16:creationId xmlns:a16="http://schemas.microsoft.com/office/drawing/2014/main" id="{3F08B2C3-1316-43DC-8F29-AC0AF6F98F26}"/>
              </a:ext>
            </a:extLst>
          </p:cNvPr>
          <p:cNvSpPr>
            <a:spLocks noGrp="1"/>
          </p:cNvSpPr>
          <p:nvPr>
            <p:ph idx="1"/>
          </p:nvPr>
        </p:nvSpPr>
        <p:spPr>
          <a:xfrm>
            <a:off x="838200" y="1409700"/>
            <a:ext cx="10515600" cy="5314950"/>
          </a:xfrm>
        </p:spPr>
        <p:txBody>
          <a:bodyPr>
            <a:normAutofit fontScale="55000" lnSpcReduction="20000"/>
          </a:bodyPr>
          <a:lstStyle/>
          <a:p>
            <a:pPr marL="0" indent="0">
              <a:buNone/>
            </a:pPr>
            <a:r>
              <a:rPr lang="en-US" altLang="zh-TW" dirty="0"/>
              <a:t># server2.py</a:t>
            </a:r>
          </a:p>
          <a:p>
            <a:pPr marL="0" indent="0">
              <a:buNone/>
            </a:pPr>
            <a:r>
              <a:rPr lang="en-US" altLang="zh-TW" dirty="0"/>
              <a:t>#main program code</a:t>
            </a:r>
          </a:p>
          <a:p>
            <a:pPr marL="0" indent="0">
              <a:buNone/>
            </a:pPr>
            <a:r>
              <a:rPr lang="en-US" altLang="zh-TW" dirty="0" err="1"/>
              <a:t>tcpsock</a:t>
            </a:r>
            <a:r>
              <a:rPr lang="en-US" altLang="zh-TW" dirty="0"/>
              <a:t> = </a:t>
            </a:r>
            <a:r>
              <a:rPr lang="en-US" altLang="zh-TW" dirty="0" err="1"/>
              <a:t>socket.socket</a:t>
            </a:r>
            <a:r>
              <a:rPr lang="en-US" altLang="zh-TW" dirty="0"/>
              <a:t>(</a:t>
            </a:r>
            <a:r>
              <a:rPr lang="en-US" altLang="zh-TW" dirty="0" err="1"/>
              <a:t>socket.AF_INET</a:t>
            </a:r>
            <a:r>
              <a:rPr lang="en-US" altLang="zh-TW" dirty="0"/>
              <a:t>, </a:t>
            </a:r>
            <a:r>
              <a:rPr lang="en-US" altLang="zh-TW" dirty="0" err="1"/>
              <a:t>socket.SOCK_STREAM</a:t>
            </a:r>
            <a:r>
              <a:rPr lang="en-US" altLang="zh-TW" dirty="0"/>
              <a:t>)</a:t>
            </a:r>
          </a:p>
          <a:p>
            <a:pPr marL="0" indent="0">
              <a:buNone/>
            </a:pPr>
            <a:r>
              <a:rPr lang="en-US" altLang="zh-TW" dirty="0" err="1"/>
              <a:t>tcpsock.setsockopt</a:t>
            </a:r>
            <a:r>
              <a:rPr lang="en-US" altLang="zh-TW" dirty="0"/>
              <a:t>(</a:t>
            </a:r>
            <a:r>
              <a:rPr lang="en-US" altLang="zh-TW" dirty="0" err="1"/>
              <a:t>socket.SOL_SOCKET</a:t>
            </a:r>
            <a:r>
              <a:rPr lang="en-US" altLang="zh-TW" dirty="0"/>
              <a:t>, </a:t>
            </a:r>
            <a:r>
              <a:rPr lang="en-US" altLang="zh-TW" dirty="0" err="1"/>
              <a:t>socket.SO_REUSEADDR</a:t>
            </a:r>
            <a:r>
              <a:rPr lang="en-US" altLang="zh-TW" dirty="0"/>
              <a:t>, 1)</a:t>
            </a:r>
          </a:p>
          <a:p>
            <a:pPr marL="0" indent="0">
              <a:buNone/>
            </a:pPr>
            <a:r>
              <a:rPr lang="en-US" altLang="zh-TW" dirty="0" err="1"/>
              <a:t>tcpsock.bind</a:t>
            </a:r>
            <a:r>
              <a:rPr lang="en-US" altLang="zh-TW" dirty="0"/>
              <a:t>((TCP_IP, TCP_PORT))</a:t>
            </a:r>
          </a:p>
          <a:p>
            <a:pPr marL="0" indent="0">
              <a:buNone/>
            </a:pPr>
            <a:r>
              <a:rPr lang="en-US" altLang="zh-TW" dirty="0"/>
              <a:t>threads = []</a:t>
            </a:r>
          </a:p>
          <a:p>
            <a:pPr marL="0" indent="0">
              <a:buNone/>
            </a:pPr>
            <a:r>
              <a:rPr lang="en-US" altLang="zh-TW" dirty="0"/>
              <a:t>while True:</a:t>
            </a:r>
          </a:p>
          <a:p>
            <a:pPr marL="0" indent="0">
              <a:buNone/>
            </a:pPr>
            <a:r>
              <a:rPr lang="en-US" altLang="zh-TW" dirty="0"/>
              <a:t>    </a:t>
            </a:r>
            <a:r>
              <a:rPr lang="en-US" altLang="zh-TW" dirty="0" err="1"/>
              <a:t>tcpsock.listen</a:t>
            </a:r>
            <a:r>
              <a:rPr lang="en-US" altLang="zh-TW" dirty="0"/>
              <a:t>(5)</a:t>
            </a:r>
          </a:p>
          <a:p>
            <a:pPr marL="0" indent="0">
              <a:buNone/>
            </a:pPr>
            <a:r>
              <a:rPr lang="en-US" altLang="zh-TW" dirty="0"/>
              <a:t>    print "Waiting for incoming connections..."</a:t>
            </a:r>
          </a:p>
          <a:p>
            <a:pPr marL="0" indent="0">
              <a:buNone/>
            </a:pPr>
            <a:r>
              <a:rPr lang="en-US" altLang="zh-TW" dirty="0"/>
              <a:t>    (conn, (</a:t>
            </a:r>
            <a:r>
              <a:rPr lang="en-US" altLang="zh-TW" dirty="0" err="1"/>
              <a:t>ip,port</a:t>
            </a:r>
            <a:r>
              <a:rPr lang="en-US" altLang="zh-TW" dirty="0"/>
              <a:t>)) = </a:t>
            </a:r>
            <a:r>
              <a:rPr lang="en-US" altLang="zh-TW" dirty="0" err="1"/>
              <a:t>tcpsock.accept</a:t>
            </a:r>
            <a:r>
              <a:rPr lang="en-US" altLang="zh-TW" dirty="0"/>
              <a:t>()</a:t>
            </a:r>
          </a:p>
          <a:p>
            <a:pPr marL="0" indent="0">
              <a:buNone/>
            </a:pPr>
            <a:r>
              <a:rPr lang="en-US" altLang="zh-TW" dirty="0"/>
              <a:t>    print 'Got connection from ', (</a:t>
            </a:r>
            <a:r>
              <a:rPr lang="en-US" altLang="zh-TW" dirty="0" err="1"/>
              <a:t>ip,port</a:t>
            </a:r>
            <a:r>
              <a:rPr lang="en-US" altLang="zh-TW" dirty="0"/>
              <a:t>)</a:t>
            </a:r>
          </a:p>
          <a:p>
            <a:pPr marL="0" indent="0">
              <a:buNone/>
            </a:pPr>
            <a:r>
              <a:rPr lang="en-US" altLang="zh-TW" dirty="0"/>
              <a:t>    </a:t>
            </a:r>
            <a:r>
              <a:rPr lang="en-US" altLang="zh-TW" dirty="0" err="1"/>
              <a:t>newthread</a:t>
            </a:r>
            <a:r>
              <a:rPr lang="en-US" altLang="zh-TW" dirty="0"/>
              <a:t> = </a:t>
            </a:r>
            <a:r>
              <a:rPr lang="en-US" altLang="zh-TW" dirty="0" err="1"/>
              <a:t>ClientThread</a:t>
            </a:r>
            <a:r>
              <a:rPr lang="en-US" altLang="zh-TW" dirty="0"/>
              <a:t>(</a:t>
            </a:r>
            <a:r>
              <a:rPr lang="en-US" altLang="zh-TW" dirty="0" err="1"/>
              <a:t>ip,port,conn</a:t>
            </a:r>
            <a:r>
              <a:rPr lang="en-US" altLang="zh-TW" dirty="0"/>
              <a:t>)</a:t>
            </a:r>
          </a:p>
          <a:p>
            <a:pPr marL="0" indent="0">
              <a:buNone/>
            </a:pPr>
            <a:r>
              <a:rPr lang="en-US" altLang="zh-TW" dirty="0"/>
              <a:t>    </a:t>
            </a:r>
            <a:r>
              <a:rPr lang="en-US" altLang="zh-TW" dirty="0" err="1"/>
              <a:t>newthread.start</a:t>
            </a:r>
            <a:r>
              <a:rPr lang="en-US" altLang="zh-TW" dirty="0"/>
              <a:t>()</a:t>
            </a:r>
          </a:p>
          <a:p>
            <a:pPr marL="0" indent="0">
              <a:buNone/>
            </a:pPr>
            <a:r>
              <a:rPr lang="en-US" altLang="zh-TW" dirty="0"/>
              <a:t>    </a:t>
            </a:r>
            <a:r>
              <a:rPr lang="en-US" altLang="zh-TW" dirty="0" err="1"/>
              <a:t>threads.append</a:t>
            </a:r>
            <a:r>
              <a:rPr lang="en-US" altLang="zh-TW" dirty="0"/>
              <a:t>(</a:t>
            </a:r>
            <a:r>
              <a:rPr lang="en-US" altLang="zh-TW" dirty="0" err="1"/>
              <a:t>newthread</a:t>
            </a:r>
            <a:r>
              <a:rPr lang="en-US" altLang="zh-TW" dirty="0"/>
              <a:t>)</a:t>
            </a:r>
          </a:p>
          <a:p>
            <a:pPr marL="0" indent="0">
              <a:buNone/>
            </a:pPr>
            <a:endParaRPr lang="en-US" altLang="zh-TW" dirty="0"/>
          </a:p>
          <a:p>
            <a:pPr marL="0" indent="0">
              <a:buNone/>
            </a:pPr>
            <a:r>
              <a:rPr lang="en-US" altLang="zh-TW" dirty="0"/>
              <a:t>for t in threads:</a:t>
            </a:r>
          </a:p>
          <a:p>
            <a:pPr marL="0" indent="0">
              <a:buNone/>
            </a:pPr>
            <a:r>
              <a:rPr lang="en-US" altLang="zh-TW" dirty="0"/>
              <a:t>    </a:t>
            </a:r>
            <a:r>
              <a:rPr lang="en-US" altLang="zh-TW" dirty="0" err="1"/>
              <a:t>t.join</a:t>
            </a:r>
            <a:r>
              <a:rPr lang="en-US" altLang="zh-TW" dirty="0"/>
              <a:t>()</a:t>
            </a:r>
          </a:p>
        </p:txBody>
      </p:sp>
    </p:spTree>
    <p:extLst>
      <p:ext uri="{BB962C8B-B14F-4D97-AF65-F5344CB8AC3E}">
        <p14:creationId xmlns:p14="http://schemas.microsoft.com/office/powerpoint/2010/main" val="2670907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056C1-FE2D-4675-8228-A373DB9F8B82}"/>
              </a:ext>
            </a:extLst>
          </p:cNvPr>
          <p:cNvSpPr>
            <a:spLocks noGrp="1"/>
          </p:cNvSpPr>
          <p:nvPr>
            <p:ph type="title"/>
          </p:nvPr>
        </p:nvSpPr>
        <p:spPr/>
        <p:txBody>
          <a:bodyPr/>
          <a:lstStyle/>
          <a:p>
            <a:r>
              <a:rPr lang="en-US" altLang="zh-TW" dirty="0"/>
              <a:t>multithread </a:t>
            </a:r>
            <a:r>
              <a:rPr lang="en-US" altLang="zh-TW" dirty="0" err="1"/>
              <a:t>tcp</a:t>
            </a:r>
            <a:r>
              <a:rPr lang="en-US" altLang="zh-TW" dirty="0"/>
              <a:t> file transfer on localhost</a:t>
            </a:r>
            <a:endParaRPr lang="zh-TW" altLang="en-US" dirty="0"/>
          </a:p>
        </p:txBody>
      </p:sp>
      <p:sp>
        <p:nvSpPr>
          <p:cNvPr id="3" name="內容版面配置區 2">
            <a:extLst>
              <a:ext uri="{FF2B5EF4-FFF2-40B4-BE49-F238E27FC236}">
                <a16:creationId xmlns:a16="http://schemas.microsoft.com/office/drawing/2014/main" id="{573739E7-0B6F-407D-A73E-79C6905A8786}"/>
              </a:ext>
            </a:extLst>
          </p:cNvPr>
          <p:cNvSpPr>
            <a:spLocks noGrp="1"/>
          </p:cNvSpPr>
          <p:nvPr>
            <p:ph idx="1"/>
          </p:nvPr>
        </p:nvSpPr>
        <p:spPr>
          <a:xfrm>
            <a:off x="838200" y="1825625"/>
            <a:ext cx="10515600" cy="4351338"/>
          </a:xfrm>
        </p:spPr>
        <p:txBody>
          <a:bodyPr>
            <a:normAutofit fontScale="85000" lnSpcReduction="20000"/>
          </a:bodyPr>
          <a:lstStyle/>
          <a:p>
            <a:pPr marL="0" indent="0">
              <a:lnSpc>
                <a:spcPct val="50000"/>
              </a:lnSpc>
              <a:buNone/>
            </a:pPr>
            <a:r>
              <a:rPr lang="en-US" altLang="zh-TW" sz="1500" dirty="0"/>
              <a:t># client2.py</a:t>
            </a:r>
          </a:p>
          <a:p>
            <a:pPr marL="0" indent="0">
              <a:lnSpc>
                <a:spcPct val="50000"/>
              </a:lnSpc>
              <a:buNone/>
            </a:pPr>
            <a:r>
              <a:rPr lang="en-US" altLang="zh-TW" sz="1500" dirty="0"/>
              <a:t>import socket</a:t>
            </a:r>
          </a:p>
          <a:p>
            <a:pPr marL="0" indent="0">
              <a:lnSpc>
                <a:spcPct val="50000"/>
              </a:lnSpc>
              <a:buNone/>
            </a:pPr>
            <a:r>
              <a:rPr lang="en-US" altLang="zh-TW" sz="1500" dirty="0"/>
              <a:t>TCP_IP = 'localhost'</a:t>
            </a:r>
          </a:p>
          <a:p>
            <a:pPr marL="0" indent="0">
              <a:lnSpc>
                <a:spcPct val="50000"/>
              </a:lnSpc>
              <a:buNone/>
            </a:pPr>
            <a:r>
              <a:rPr lang="en-US" altLang="zh-TW" sz="1500" dirty="0"/>
              <a:t>TCP_PORT = 9001</a:t>
            </a:r>
          </a:p>
          <a:p>
            <a:pPr marL="0" indent="0">
              <a:lnSpc>
                <a:spcPct val="50000"/>
              </a:lnSpc>
              <a:buNone/>
            </a:pPr>
            <a:r>
              <a:rPr lang="en-US" altLang="zh-TW" sz="1500" dirty="0"/>
              <a:t>BUFFER_SIZE = 1024</a:t>
            </a:r>
          </a:p>
          <a:p>
            <a:pPr marL="0" indent="0">
              <a:lnSpc>
                <a:spcPct val="50000"/>
              </a:lnSpc>
              <a:buNone/>
            </a:pPr>
            <a:r>
              <a:rPr lang="en-US" altLang="zh-TW" sz="1500" dirty="0"/>
              <a:t>s = </a:t>
            </a:r>
            <a:r>
              <a:rPr lang="en-US" altLang="zh-TW" sz="1500" dirty="0" err="1"/>
              <a:t>socket.socket</a:t>
            </a:r>
            <a:r>
              <a:rPr lang="en-US" altLang="zh-TW" sz="1500" dirty="0"/>
              <a:t>(</a:t>
            </a:r>
            <a:r>
              <a:rPr lang="en-US" altLang="zh-TW" sz="1500" dirty="0" err="1"/>
              <a:t>socket.AF_INET</a:t>
            </a:r>
            <a:r>
              <a:rPr lang="en-US" altLang="zh-TW" sz="1500" dirty="0"/>
              <a:t>, </a:t>
            </a:r>
            <a:r>
              <a:rPr lang="en-US" altLang="zh-TW" sz="1500" dirty="0" err="1"/>
              <a:t>socket.SOCK_STREAM</a:t>
            </a:r>
            <a:r>
              <a:rPr lang="en-US" altLang="zh-TW" sz="1500" dirty="0"/>
              <a:t>)</a:t>
            </a:r>
          </a:p>
          <a:p>
            <a:pPr marL="0" indent="0">
              <a:lnSpc>
                <a:spcPct val="50000"/>
              </a:lnSpc>
              <a:buNone/>
            </a:pPr>
            <a:r>
              <a:rPr lang="en-US" altLang="zh-TW" sz="1500" dirty="0" err="1"/>
              <a:t>s.connect</a:t>
            </a:r>
            <a:r>
              <a:rPr lang="en-US" altLang="zh-TW" sz="1500" dirty="0"/>
              <a:t>((TCP_IP, TCP_PORT))</a:t>
            </a:r>
          </a:p>
          <a:p>
            <a:pPr marL="0" indent="0">
              <a:lnSpc>
                <a:spcPct val="50000"/>
              </a:lnSpc>
              <a:buNone/>
            </a:pPr>
            <a:r>
              <a:rPr lang="en-US" altLang="zh-TW" sz="1500" dirty="0"/>
              <a:t>with open('</a:t>
            </a:r>
            <a:r>
              <a:rPr lang="en-US" altLang="zh-TW" sz="1500" dirty="0" err="1"/>
              <a:t>received_file</a:t>
            </a:r>
            <a:r>
              <a:rPr lang="en-US" altLang="zh-TW" sz="1500" dirty="0"/>
              <a:t>', '</a:t>
            </a:r>
            <a:r>
              <a:rPr lang="en-US" altLang="zh-TW" sz="1500" dirty="0" err="1"/>
              <a:t>wb</a:t>
            </a:r>
            <a:r>
              <a:rPr lang="en-US" altLang="zh-TW" sz="1500" dirty="0"/>
              <a:t>') as f:</a:t>
            </a:r>
          </a:p>
          <a:p>
            <a:pPr marL="0" indent="0">
              <a:lnSpc>
                <a:spcPct val="50000"/>
              </a:lnSpc>
              <a:buNone/>
            </a:pPr>
            <a:r>
              <a:rPr lang="en-US" altLang="zh-TW" sz="1500" dirty="0"/>
              <a:t>    print 'file opened'</a:t>
            </a:r>
          </a:p>
          <a:p>
            <a:pPr marL="0" indent="0">
              <a:lnSpc>
                <a:spcPct val="50000"/>
              </a:lnSpc>
              <a:buNone/>
            </a:pPr>
            <a:r>
              <a:rPr lang="en-US" altLang="zh-TW" sz="1500" dirty="0"/>
              <a:t>    while True:</a:t>
            </a:r>
          </a:p>
          <a:p>
            <a:pPr marL="0" indent="0">
              <a:lnSpc>
                <a:spcPct val="50000"/>
              </a:lnSpc>
              <a:buNone/>
            </a:pPr>
            <a:r>
              <a:rPr lang="en-US" altLang="zh-TW" sz="1500" dirty="0"/>
              <a:t>        #print('receiving data...')</a:t>
            </a:r>
          </a:p>
          <a:p>
            <a:pPr marL="0" indent="0">
              <a:lnSpc>
                <a:spcPct val="50000"/>
              </a:lnSpc>
              <a:buNone/>
            </a:pPr>
            <a:r>
              <a:rPr lang="en-US" altLang="zh-TW" sz="1500" dirty="0"/>
              <a:t>        data = </a:t>
            </a:r>
            <a:r>
              <a:rPr lang="en-US" altLang="zh-TW" sz="1500" dirty="0" err="1"/>
              <a:t>s.recv</a:t>
            </a:r>
            <a:r>
              <a:rPr lang="en-US" altLang="zh-TW" sz="1500" dirty="0"/>
              <a:t>(BUFFER_SIZE)</a:t>
            </a:r>
          </a:p>
          <a:p>
            <a:pPr marL="0" indent="0">
              <a:lnSpc>
                <a:spcPct val="50000"/>
              </a:lnSpc>
              <a:buNone/>
            </a:pPr>
            <a:r>
              <a:rPr lang="en-US" altLang="zh-TW" sz="1500" dirty="0"/>
              <a:t>        print('data=%s', (data))</a:t>
            </a:r>
          </a:p>
          <a:p>
            <a:pPr marL="0" indent="0">
              <a:lnSpc>
                <a:spcPct val="50000"/>
              </a:lnSpc>
              <a:buNone/>
            </a:pPr>
            <a:r>
              <a:rPr lang="en-US" altLang="zh-TW" sz="1500" dirty="0"/>
              <a:t>        if not data:</a:t>
            </a:r>
          </a:p>
          <a:p>
            <a:pPr marL="0" indent="0">
              <a:lnSpc>
                <a:spcPct val="50000"/>
              </a:lnSpc>
              <a:buNone/>
            </a:pPr>
            <a:r>
              <a:rPr lang="en-US" altLang="zh-TW" sz="1500" dirty="0"/>
              <a:t>            </a:t>
            </a:r>
            <a:r>
              <a:rPr lang="en-US" altLang="zh-TW" sz="1500" dirty="0" err="1"/>
              <a:t>f.close</a:t>
            </a:r>
            <a:r>
              <a:rPr lang="en-US" altLang="zh-TW" sz="1500" dirty="0"/>
              <a:t>()</a:t>
            </a:r>
          </a:p>
          <a:p>
            <a:pPr marL="0" indent="0">
              <a:lnSpc>
                <a:spcPct val="50000"/>
              </a:lnSpc>
              <a:buNone/>
            </a:pPr>
            <a:r>
              <a:rPr lang="en-US" altLang="zh-TW" sz="1500" dirty="0"/>
              <a:t>            print 'file close()'</a:t>
            </a:r>
          </a:p>
          <a:p>
            <a:pPr marL="0" indent="0">
              <a:lnSpc>
                <a:spcPct val="50000"/>
              </a:lnSpc>
              <a:buNone/>
            </a:pPr>
            <a:r>
              <a:rPr lang="en-US" altLang="zh-TW" sz="1500" dirty="0"/>
              <a:t>            break</a:t>
            </a:r>
          </a:p>
          <a:p>
            <a:pPr marL="0" indent="0">
              <a:lnSpc>
                <a:spcPct val="50000"/>
              </a:lnSpc>
              <a:buNone/>
            </a:pPr>
            <a:r>
              <a:rPr lang="en-US" altLang="zh-TW" sz="1500" dirty="0"/>
              <a:t>        # write data to a file</a:t>
            </a:r>
          </a:p>
          <a:p>
            <a:pPr marL="0" indent="0">
              <a:lnSpc>
                <a:spcPct val="50000"/>
              </a:lnSpc>
              <a:buNone/>
            </a:pPr>
            <a:r>
              <a:rPr lang="en-US" altLang="zh-TW" sz="1500" dirty="0"/>
              <a:t>        </a:t>
            </a:r>
            <a:r>
              <a:rPr lang="en-US" altLang="zh-TW" sz="1500" dirty="0" err="1"/>
              <a:t>f.write</a:t>
            </a:r>
            <a:r>
              <a:rPr lang="en-US" altLang="zh-TW" sz="1500" dirty="0"/>
              <a:t>(data)</a:t>
            </a:r>
          </a:p>
          <a:p>
            <a:pPr marL="0" indent="0">
              <a:lnSpc>
                <a:spcPct val="50000"/>
              </a:lnSpc>
              <a:buNone/>
            </a:pPr>
            <a:endParaRPr lang="en-US" altLang="zh-TW" sz="1500" dirty="0"/>
          </a:p>
          <a:p>
            <a:pPr marL="0" indent="0">
              <a:lnSpc>
                <a:spcPct val="50000"/>
              </a:lnSpc>
              <a:buNone/>
            </a:pPr>
            <a:r>
              <a:rPr lang="en-US" altLang="zh-TW" sz="1500" dirty="0"/>
              <a:t>print('Successfully get the file')</a:t>
            </a:r>
          </a:p>
          <a:p>
            <a:pPr marL="0" indent="0">
              <a:lnSpc>
                <a:spcPct val="50000"/>
              </a:lnSpc>
              <a:buNone/>
            </a:pPr>
            <a:r>
              <a:rPr lang="en-US" altLang="zh-TW" sz="1500" dirty="0" err="1"/>
              <a:t>s.close</a:t>
            </a:r>
            <a:r>
              <a:rPr lang="en-US" altLang="zh-TW" sz="1500" dirty="0"/>
              <a:t>()</a:t>
            </a:r>
          </a:p>
          <a:p>
            <a:pPr marL="0" indent="0">
              <a:lnSpc>
                <a:spcPct val="50000"/>
              </a:lnSpc>
              <a:buNone/>
            </a:pPr>
            <a:r>
              <a:rPr lang="en-US" altLang="zh-TW" sz="1500" dirty="0"/>
              <a:t>print('connection closed')</a:t>
            </a:r>
            <a:endParaRPr lang="zh-TW" altLang="en-US" sz="1500" dirty="0"/>
          </a:p>
        </p:txBody>
      </p:sp>
    </p:spTree>
    <p:extLst>
      <p:ext uri="{BB962C8B-B14F-4D97-AF65-F5344CB8AC3E}">
        <p14:creationId xmlns:p14="http://schemas.microsoft.com/office/powerpoint/2010/main" val="363463892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TotalTime>
  <Words>1434</Words>
  <Application>Microsoft Office PowerPoint</Application>
  <PresentationFormat>寬螢幕</PresentationFormat>
  <Paragraphs>250</Paragraphs>
  <Slides>20</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20</vt:i4>
      </vt:variant>
    </vt:vector>
  </HeadingPairs>
  <TitlesOfParts>
    <vt:vector size="27" baseType="lpstr">
      <vt:lpstr>Arial Unicode MS</vt:lpstr>
      <vt:lpstr>Arial</vt:lpstr>
      <vt:lpstr>Calibri</vt:lpstr>
      <vt:lpstr>Calibri Light</vt:lpstr>
      <vt:lpstr>Comic Sans MS</vt:lpstr>
      <vt:lpstr>Courier New</vt:lpstr>
      <vt:lpstr>Office 佈景主題</vt:lpstr>
      <vt:lpstr>Python Network Programming</vt:lpstr>
      <vt:lpstr>UDP Connection less</vt:lpstr>
      <vt:lpstr>UDP Server example</vt:lpstr>
      <vt:lpstr>UDP Client Example</vt:lpstr>
      <vt:lpstr>TCP Connection-Oriented</vt:lpstr>
      <vt:lpstr>TCP Server Example</vt:lpstr>
      <vt:lpstr>TCP Client Example</vt:lpstr>
      <vt:lpstr>Some socket Utility Functions</vt:lpstr>
      <vt:lpstr>Handling Names &amp; Addresses</vt:lpstr>
      <vt:lpstr>Address Families</vt:lpstr>
      <vt:lpstr>Socket Types</vt:lpstr>
      <vt:lpstr>Timeout Capabilities</vt:lpstr>
      <vt:lpstr>Server Libraries</vt:lpstr>
      <vt:lpstr>Using SocketServer Module</vt:lpstr>
      <vt:lpstr>PowerPoint 簡報</vt:lpstr>
      <vt:lpstr>Echo Server example 1</vt:lpstr>
      <vt:lpstr>Echo Client example 1</vt:lpstr>
      <vt:lpstr>multithread tcp file transfer on localhost</vt:lpstr>
      <vt:lpstr>multithread tcp file transfer on localhost</vt:lpstr>
      <vt:lpstr>multithread tcp file transfer on localhost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Network Programming</dc:title>
  <dc:creator>user</dc:creator>
  <cp:lastModifiedBy>user</cp:lastModifiedBy>
  <cp:revision>11</cp:revision>
  <dcterms:created xsi:type="dcterms:W3CDTF">2018-12-13T04:55:58Z</dcterms:created>
  <dcterms:modified xsi:type="dcterms:W3CDTF">2018-12-13T07:40:51Z</dcterms:modified>
</cp:coreProperties>
</file>