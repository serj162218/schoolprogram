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67" r:id="rId6"/>
    <p:sldId id="268" r:id="rId7"/>
    <p:sldId id="270" r:id="rId8"/>
    <p:sldId id="269" r:id="rId9"/>
    <p:sldId id="258" r:id="rId10"/>
    <p:sldId id="260" r:id="rId11"/>
    <p:sldId id="261" r:id="rId12"/>
    <p:sldId id="259" r:id="rId13"/>
    <p:sldId id="263" r:id="rId14"/>
    <p:sldId id="264" r:id="rId15"/>
    <p:sldId id="265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FB9532-9504-4DFE-8D0A-13CD845F5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8ABD811-FE99-4CB8-A599-095E342D5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9ED3EE-3D77-4AFA-9870-542262CBA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925E0B-3A84-4074-A891-A6CC7CE7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AA8812-29B4-41A0-91EE-3D842BE8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64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0FAD4B-FA3A-4F34-A2D3-D276E059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1F81A4-D547-4CB3-8342-BF4680B90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0A40CE-168D-4EF6-9772-1B2791C54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2ADEC2-7067-4108-822D-76593832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A5C3EE-942A-409D-9841-46FEE5EF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04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427ACC-3227-4715-93DC-7D62D86B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733527-0B10-495B-8133-068C83A37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87E567-1BF0-430C-B120-40B37EE5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BC0765-333E-4267-BA2A-00B5D30E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AD1D58-09F7-4ED5-9D45-03D0DB1C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92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E5BB54-61A1-4AAD-B59E-C8E96763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4E3D02-A0C2-4C27-9FB5-FD42282B6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39A0A-DD23-4878-8D1B-7684ABF3A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F5EB78-2C7F-4BD7-8BD2-4D3D32C57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857695-131A-46EC-B921-85868DC3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8A96FF-1E8D-46BD-BC56-84596752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78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42D52-9A0F-44CF-8A35-DA7F54A1E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44DF70-D997-4292-8F36-B334879D3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1A350F-F02D-480F-8D7F-56777BFCE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02261E-33D9-4ED4-A419-669B8C371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379B209-7187-4582-AF5D-FF7A607C9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206C59D-C8BB-4278-82A7-12E645274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69C2852-EE8D-490F-AAB7-41F2E7B7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381FC1-8EE9-4CB2-8536-4D10B7B0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5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45A307-5D4A-426D-8F14-0845056D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F85E85-10D7-4306-B07F-A457E0E2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40FBC6F-8C6C-4059-8526-E8B8B82F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E907D9-A3E0-4744-A06D-EFBDF7A0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324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66D854-6E64-474F-BCF3-41551F02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CD11965-81F4-48B3-9C76-9764AB3C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111E1B-A343-4D06-9A83-35735803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08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3683FC-613B-498B-9CD7-5B01A062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193E79-564F-4521-A860-1D89D7F2C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F670C6-D8E5-4EC0-90FA-23F6540F7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BE27AD-0B7C-40FF-B521-D589BC8B7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5CB0D1-A3CA-46B6-BA03-5DB6B877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6C8722-3137-43EF-82EA-3E8C1A92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29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05C06B-EFE3-4629-BB54-6879A0E47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05773D-D9B7-4A1E-99F0-0D42AFA1E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6395FA-4548-46A9-BAF1-3529CD78A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4A6DC2-2060-4FFB-8926-6623BA87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336CF9-81FD-4FEA-B21A-35F4417F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040623B-58AD-4BDC-9BF9-0A131439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816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1B017D-4182-4F30-B64E-DAB20923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B76D58-E7CD-4698-9982-DBE137E4C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D9FCC9-EF5D-4BDF-8609-E75E5724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B27F21-0414-425B-9E35-60B9D9B2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1E6D04-8EC8-4249-B923-901CBC59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11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4EBDCF8-DC8E-4CAD-A178-A56C53395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116BD3E-5E38-49CA-84F9-AA671705E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4B38FF-7173-43CD-A986-F808D76E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76322D-7EB3-48C3-B303-68ABCFD2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2F098F-7A15-4FBB-91AB-1256DF82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05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5D01CBF-28BB-473C-ADA4-B632B350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2BF163-626A-417C-92BF-A97B9F718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47DBD5-A451-474A-ACC9-CFBA63E5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B7CD1-2BCC-422B-8343-07D0B3E4847D}" type="datetimeFigureOut">
              <a:rPr lang="zh-TW" altLang="en-US" smtClean="0"/>
              <a:t>2018/11/29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8F8C12-337A-49DE-9390-AB85C392F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D86442-6EB6-41D7-A2ED-003FBD30E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9AFAA-DD0F-40A2-81D1-016B391FFA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43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1F6F83-66CB-480A-9828-F8D3F55AC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Object Oriented in Python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CC14AE2-6E63-4DB4-B70D-ACF25A50A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Tien-</a:t>
            </a:r>
            <a:r>
              <a:rPr lang="en-US" altLang="zh-TW" dirty="0" err="1"/>
              <a:t>Hsiung</a:t>
            </a:r>
            <a:r>
              <a:rPr lang="en-US" altLang="zh-TW" dirty="0"/>
              <a:t> Weng</a:t>
            </a:r>
          </a:p>
          <a:p>
            <a:r>
              <a:rPr lang="en-US" altLang="zh-TW" dirty="0"/>
              <a:t>Dept. of Computer Science and Information Engineering</a:t>
            </a:r>
          </a:p>
          <a:p>
            <a:r>
              <a:rPr lang="en-US" altLang="zh-TW" dirty="0"/>
              <a:t>Providence University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37210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184B75-1F6D-4693-AA3E-392AD2FC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Python simplest form of class definition 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B5C02A-CA14-4830-907C-ACCAE5CCE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class  </a:t>
            </a:r>
            <a:r>
              <a:rPr lang="en-US" altLang="zh-TW" i="1" dirty="0" err="1"/>
              <a:t>classname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           statement-1</a:t>
            </a:r>
          </a:p>
          <a:p>
            <a:pPr marL="0" indent="0">
              <a:buNone/>
            </a:pPr>
            <a:r>
              <a:rPr lang="en-US" altLang="zh-TW" dirty="0"/>
              <a:t>           statement-2</a:t>
            </a:r>
          </a:p>
          <a:p>
            <a:pPr marL="0" indent="0">
              <a:buNone/>
            </a:pPr>
            <a:r>
              <a:rPr lang="en-US" altLang="zh-TW" dirty="0"/>
              <a:t>                 ….</a:t>
            </a:r>
          </a:p>
          <a:p>
            <a:pPr marL="0" indent="0">
              <a:buNone/>
            </a:pPr>
            <a:r>
              <a:rPr lang="en-US" altLang="zh-TW" dirty="0"/>
              <a:t>                 ….</a:t>
            </a:r>
          </a:p>
          <a:p>
            <a:pPr marL="0" indent="0">
              <a:buNone/>
            </a:pPr>
            <a:r>
              <a:rPr lang="en-US" altLang="zh-TW" dirty="0"/>
              <a:t>           statement-n</a:t>
            </a:r>
          </a:p>
        </p:txBody>
      </p:sp>
    </p:spTree>
    <p:extLst>
      <p:ext uri="{BB962C8B-B14F-4D97-AF65-F5344CB8AC3E}">
        <p14:creationId xmlns:p14="http://schemas.microsoft.com/office/powerpoint/2010/main" val="3689413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F3C298-21B4-412A-957B-AF4B2E87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24C735-8B61-4850-890F-67BA32AD4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class Employee:</a:t>
            </a:r>
          </a:p>
          <a:p>
            <a:pPr marL="0" indent="0">
              <a:buNone/>
            </a:pPr>
            <a:r>
              <a:rPr lang="en-US" altLang="zh-TW" dirty="0"/>
              <a:t>          pass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E1 = Employee()</a:t>
            </a:r>
          </a:p>
          <a:p>
            <a:pPr marL="0" indent="0">
              <a:buNone/>
            </a:pPr>
            <a:r>
              <a:rPr lang="en-US" altLang="zh-TW" dirty="0"/>
              <a:t>E2 = Employee()</a:t>
            </a:r>
          </a:p>
          <a:p>
            <a:pPr marL="0" indent="0">
              <a:buNone/>
            </a:pPr>
            <a:r>
              <a:rPr lang="en-US" altLang="zh-TW" dirty="0"/>
              <a:t>print(E1)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299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8DAA7-514F-4203-B641-D0DF0F1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1 …continue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CD2871-3C77-46B2-A18C-2CF6F9892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Employee:</a:t>
            </a:r>
          </a:p>
          <a:p>
            <a:pPr marL="0" indent="0">
              <a:buNone/>
            </a:pPr>
            <a:r>
              <a:rPr lang="en-US" altLang="zh-TW" dirty="0"/>
              <a:t>          pass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E1 = Employee()</a:t>
            </a:r>
          </a:p>
          <a:p>
            <a:pPr marL="0" indent="0">
              <a:buNone/>
            </a:pPr>
            <a:r>
              <a:rPr lang="en-US" altLang="zh-TW" dirty="0"/>
              <a:t>E2 = Employee()</a:t>
            </a:r>
          </a:p>
          <a:p>
            <a:pPr marL="0" indent="0">
              <a:buNone/>
            </a:pPr>
            <a:r>
              <a:rPr lang="en-US" altLang="zh-TW" dirty="0"/>
              <a:t>print(E1)</a:t>
            </a:r>
            <a:endParaRPr lang="zh-TW" altLang="en-US" dirty="0"/>
          </a:p>
          <a:p>
            <a:pPr marL="0" indent="0">
              <a:buNone/>
            </a:pPr>
            <a:r>
              <a:rPr lang="en-US" altLang="zh-TW" dirty="0"/>
              <a:t>print(E2)</a:t>
            </a:r>
          </a:p>
          <a:p>
            <a:pPr marL="0" indent="0">
              <a:buNone/>
            </a:pPr>
            <a:r>
              <a:rPr lang="en-US" altLang="zh-TW" dirty="0"/>
              <a:t>E1.fistname = “Tien-</a:t>
            </a:r>
            <a:r>
              <a:rPr lang="en-US" altLang="zh-TW" dirty="0" err="1"/>
              <a:t>Hsiung</a:t>
            </a:r>
            <a:r>
              <a:rPr lang="en-US" altLang="zh-TW" dirty="0"/>
              <a:t>”</a:t>
            </a:r>
          </a:p>
          <a:p>
            <a:pPr marL="0" indent="0">
              <a:buNone/>
            </a:pPr>
            <a:r>
              <a:rPr lang="en-US" altLang="zh-TW" dirty="0"/>
              <a:t>E1.lastname = “Weng”</a:t>
            </a:r>
          </a:p>
          <a:p>
            <a:pPr marL="0" indent="0">
              <a:buNone/>
            </a:pPr>
            <a:r>
              <a:rPr lang="en-US" altLang="zh-TW" dirty="0"/>
              <a:t>E1.age = 89</a:t>
            </a:r>
          </a:p>
          <a:p>
            <a:pPr marL="0" indent="0">
              <a:buNone/>
            </a:pPr>
            <a:r>
              <a:rPr lang="en-US" altLang="zh-TW" dirty="0"/>
              <a:t>E1.salary = 40000</a:t>
            </a:r>
          </a:p>
          <a:p>
            <a:pPr marL="0" indent="0">
              <a:buNone/>
            </a:pPr>
            <a:r>
              <a:rPr lang="en-US" altLang="zh-TW" dirty="0"/>
              <a:t>print(E1.firstname + “,”+ E1.lastname)</a:t>
            </a:r>
          </a:p>
          <a:p>
            <a:pPr marL="0" indent="0">
              <a:buNone/>
            </a:pPr>
            <a:r>
              <a:rPr lang="en-US" altLang="zh-TW" dirty="0"/>
              <a:t>Print(E1.age)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715741-C92C-4D35-8040-EE3B379B48E3}"/>
              </a:ext>
            </a:extLst>
          </p:cNvPr>
          <p:cNvSpPr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class Employee:</a:t>
            </a:r>
          </a:p>
          <a:p>
            <a:r>
              <a:rPr lang="en-US" altLang="zh-TW" dirty="0"/>
              <a:t>          pass</a:t>
            </a:r>
          </a:p>
          <a:p>
            <a:endParaRPr lang="en-US" altLang="zh-TW" dirty="0"/>
          </a:p>
          <a:p>
            <a:r>
              <a:rPr lang="en-US" altLang="zh-TW" dirty="0"/>
              <a:t>E1 = Employee()</a:t>
            </a:r>
          </a:p>
          <a:p>
            <a:r>
              <a:rPr lang="en-US" altLang="zh-TW" dirty="0"/>
              <a:t>E2 = Employee()</a:t>
            </a:r>
          </a:p>
          <a:p>
            <a:r>
              <a:rPr lang="en-US" altLang="zh-TW" dirty="0"/>
              <a:t>print(E1)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071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8DAA7-514F-4203-B641-D0DF0F1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1 …continue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CD2871-3C77-46B2-A18C-2CF6F9892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Employee:</a:t>
            </a:r>
          </a:p>
          <a:p>
            <a:pPr marL="0" indent="0">
              <a:buNone/>
            </a:pPr>
            <a:r>
              <a:rPr lang="en-US" altLang="zh-TW" dirty="0"/>
              <a:t>          def  __</a:t>
            </a:r>
            <a:r>
              <a:rPr lang="en-US" altLang="zh-TW" dirty="0" err="1"/>
              <a:t>init</a:t>
            </a:r>
            <a:r>
              <a:rPr lang="en-US" altLang="zh-TW" dirty="0"/>
              <a:t>__(self):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self.firstname</a:t>
            </a:r>
            <a:r>
              <a:rPr lang="en-US" altLang="zh-TW" dirty="0"/>
              <a:t> = </a:t>
            </a:r>
            <a:r>
              <a:rPr lang="en-US" altLang="zh-TW" dirty="0" err="1"/>
              <a:t>firstname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self.lastname</a:t>
            </a:r>
            <a:r>
              <a:rPr lang="en-US" altLang="zh-TW" dirty="0"/>
              <a:t> =  </a:t>
            </a:r>
            <a:r>
              <a:rPr lang="en-US" altLang="zh-TW" dirty="0" err="1"/>
              <a:t>lastname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self.age</a:t>
            </a:r>
            <a:r>
              <a:rPr lang="en-US" altLang="zh-TW" dirty="0"/>
              <a:t> = age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self.salary</a:t>
            </a:r>
            <a:r>
              <a:rPr lang="en-US" altLang="zh-TW" dirty="0"/>
              <a:t> = salary</a:t>
            </a:r>
            <a:endParaRPr lang="zh-TW" altLang="en-US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E1 = Employee()</a:t>
            </a:r>
          </a:p>
          <a:p>
            <a:pPr marL="0" indent="0">
              <a:buNone/>
            </a:pPr>
            <a:r>
              <a:rPr lang="en-US" altLang="zh-TW" dirty="0"/>
              <a:t>E1.firstname = “Tien-</a:t>
            </a:r>
            <a:r>
              <a:rPr lang="en-US" altLang="zh-TW" dirty="0" err="1"/>
              <a:t>Hsiung</a:t>
            </a:r>
            <a:r>
              <a:rPr lang="en-US" altLang="zh-TW" dirty="0"/>
              <a:t>”</a:t>
            </a:r>
          </a:p>
          <a:p>
            <a:pPr marL="0" indent="0">
              <a:buNone/>
            </a:pPr>
            <a:r>
              <a:rPr lang="en-US" altLang="zh-TW" dirty="0"/>
              <a:t>E1.lastname = “Weng”</a:t>
            </a:r>
          </a:p>
          <a:p>
            <a:pPr marL="0" indent="0">
              <a:buNone/>
            </a:pPr>
            <a:r>
              <a:rPr lang="en-US" altLang="zh-TW" dirty="0"/>
              <a:t>E1.age = 89</a:t>
            </a:r>
          </a:p>
          <a:p>
            <a:pPr marL="0" indent="0">
              <a:buNone/>
            </a:pPr>
            <a:r>
              <a:rPr lang="en-US" altLang="zh-TW" dirty="0"/>
              <a:t>E1.salary = 40000</a:t>
            </a:r>
          </a:p>
          <a:p>
            <a:pPr marL="0" indent="0">
              <a:buNone/>
            </a:pPr>
            <a:r>
              <a:rPr lang="en-US" altLang="zh-TW" dirty="0"/>
              <a:t>print(E1.firstname + “,”+ E1.lastname)</a:t>
            </a:r>
          </a:p>
          <a:p>
            <a:pPr marL="0" indent="0">
              <a:buNone/>
            </a:pPr>
            <a:r>
              <a:rPr lang="en-US" altLang="zh-TW" dirty="0"/>
              <a:t>Print(E1.age)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448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8DAA7-514F-4203-B641-D0DF0F1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1 …continue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CD2871-3C77-46B2-A18C-2CF6F9892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Employee:</a:t>
            </a:r>
          </a:p>
          <a:p>
            <a:pPr marL="0" indent="0">
              <a:buNone/>
            </a:pPr>
            <a:r>
              <a:rPr lang="en-US" altLang="zh-TW" dirty="0"/>
              <a:t>          def  __</a:t>
            </a:r>
            <a:r>
              <a:rPr lang="en-US" altLang="zh-TW" dirty="0" err="1"/>
              <a:t>init</a:t>
            </a:r>
            <a:r>
              <a:rPr lang="en-US" altLang="zh-TW" dirty="0"/>
              <a:t>__(self, </a:t>
            </a:r>
            <a:r>
              <a:rPr lang="en-US" altLang="zh-TW" dirty="0" err="1"/>
              <a:t>firstname</a:t>
            </a:r>
            <a:r>
              <a:rPr lang="en-US" altLang="zh-TW" dirty="0"/>
              <a:t>, </a:t>
            </a:r>
            <a:r>
              <a:rPr lang="en-US" altLang="zh-TW" dirty="0" err="1"/>
              <a:t>lastname</a:t>
            </a:r>
            <a:r>
              <a:rPr lang="en-US" altLang="zh-TW" dirty="0"/>
              <a:t>, age, salary):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self.firstname</a:t>
            </a:r>
            <a:r>
              <a:rPr lang="en-US" altLang="zh-TW" dirty="0"/>
              <a:t> = </a:t>
            </a:r>
            <a:r>
              <a:rPr lang="en-US" altLang="zh-TW" dirty="0" err="1"/>
              <a:t>firstname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self.lastname</a:t>
            </a:r>
            <a:r>
              <a:rPr lang="en-US" altLang="zh-TW" dirty="0"/>
              <a:t> =  </a:t>
            </a:r>
            <a:r>
              <a:rPr lang="en-US" altLang="zh-TW" dirty="0" err="1"/>
              <a:t>lastname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self.age</a:t>
            </a:r>
            <a:r>
              <a:rPr lang="en-US" altLang="zh-TW" dirty="0"/>
              <a:t> = age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self.salary</a:t>
            </a:r>
            <a:r>
              <a:rPr lang="en-US" altLang="zh-TW" dirty="0"/>
              <a:t> = salary</a:t>
            </a:r>
            <a:endParaRPr lang="zh-TW" altLang="en-US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E1 = Employee(“Tien-</a:t>
            </a:r>
            <a:r>
              <a:rPr lang="en-US" altLang="zh-TW" dirty="0" err="1"/>
              <a:t>Hsiung</a:t>
            </a:r>
            <a:r>
              <a:rPr lang="en-US" altLang="zh-TW" dirty="0"/>
              <a:t>”, “Weng”, 89, 40000)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print(E1.firstname + “,”+ E1.lastname)</a:t>
            </a:r>
          </a:p>
          <a:p>
            <a:pPr marL="0" indent="0">
              <a:buNone/>
            </a:pPr>
            <a:r>
              <a:rPr lang="en-US" altLang="zh-TW" dirty="0"/>
              <a:t>Print(E1.age)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036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8DAA7-514F-4203-B641-D0DF0F1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1 …continue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CD2871-3C77-46B2-A18C-2CF6F9892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Employee:</a:t>
            </a:r>
          </a:p>
          <a:p>
            <a:pPr marL="0" indent="0">
              <a:buNone/>
            </a:pPr>
            <a:r>
              <a:rPr lang="en-US" altLang="zh-TW" dirty="0"/>
              <a:t>          </a:t>
            </a:r>
            <a:r>
              <a:rPr lang="en-US" altLang="zh-TW" dirty="0" err="1"/>
              <a:t>num_people</a:t>
            </a:r>
            <a:r>
              <a:rPr lang="en-US" altLang="zh-TW" dirty="0"/>
              <a:t> = 0</a:t>
            </a:r>
          </a:p>
          <a:p>
            <a:pPr marL="0" indent="0">
              <a:buNone/>
            </a:pPr>
            <a:r>
              <a:rPr lang="en-US" altLang="zh-TW" dirty="0"/>
              <a:t>          def  __</a:t>
            </a:r>
            <a:r>
              <a:rPr lang="en-US" altLang="zh-TW" dirty="0" err="1"/>
              <a:t>init</a:t>
            </a:r>
            <a:r>
              <a:rPr lang="en-US" altLang="zh-TW" dirty="0"/>
              <a:t>__(self, </a:t>
            </a:r>
            <a:r>
              <a:rPr lang="en-US" altLang="zh-TW" dirty="0" err="1"/>
              <a:t>firstname</a:t>
            </a:r>
            <a:r>
              <a:rPr lang="en-US" altLang="zh-TW" dirty="0"/>
              <a:t>, </a:t>
            </a:r>
            <a:r>
              <a:rPr lang="en-US" altLang="zh-TW" dirty="0" err="1"/>
              <a:t>lastname</a:t>
            </a:r>
            <a:r>
              <a:rPr lang="en-US" altLang="zh-TW" dirty="0"/>
              <a:t>, age, salary):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self.firstname</a:t>
            </a:r>
            <a:r>
              <a:rPr lang="en-US" altLang="zh-TW" dirty="0"/>
              <a:t> = </a:t>
            </a:r>
            <a:r>
              <a:rPr lang="en-US" altLang="zh-TW" dirty="0" err="1"/>
              <a:t>firstname</a:t>
            </a:r>
            <a:r>
              <a:rPr lang="en-US" altLang="zh-TW" dirty="0"/>
              <a:t>         </a:t>
            </a:r>
            <a:r>
              <a:rPr lang="en-US" altLang="zh-TW" dirty="0">
                <a:solidFill>
                  <a:srgbClr val="FF0000"/>
                </a:solidFill>
              </a:rPr>
              <a:t># instance variable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self.lastname</a:t>
            </a:r>
            <a:r>
              <a:rPr lang="en-US" altLang="zh-TW" dirty="0"/>
              <a:t> =  </a:t>
            </a:r>
            <a:r>
              <a:rPr lang="en-US" altLang="zh-TW" dirty="0" err="1"/>
              <a:t>lastname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self.age</a:t>
            </a:r>
            <a:r>
              <a:rPr lang="en-US" altLang="zh-TW" dirty="0"/>
              <a:t> = age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self.salary</a:t>
            </a:r>
            <a:r>
              <a:rPr lang="en-US" altLang="zh-TW" dirty="0"/>
              <a:t> = salary</a:t>
            </a:r>
            <a:endParaRPr lang="zh-TW" altLang="en-US" dirty="0"/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          </a:t>
            </a:r>
            <a:r>
              <a:rPr lang="en-US" altLang="zh-TW" dirty="0" err="1">
                <a:solidFill>
                  <a:srgbClr val="FF0000"/>
                </a:solidFill>
              </a:rPr>
              <a:t>Employee.num_people</a:t>
            </a:r>
            <a:r>
              <a:rPr lang="en-US" altLang="zh-TW" dirty="0">
                <a:solidFill>
                  <a:srgbClr val="FF0000"/>
                </a:solidFill>
              </a:rPr>
              <a:t> = </a:t>
            </a:r>
            <a:r>
              <a:rPr lang="en-US" altLang="zh-TW" dirty="0" err="1">
                <a:solidFill>
                  <a:srgbClr val="FF0000"/>
                </a:solidFill>
              </a:rPr>
              <a:t>Employee.num_people</a:t>
            </a:r>
            <a:r>
              <a:rPr lang="en-US" altLang="zh-TW" dirty="0">
                <a:solidFill>
                  <a:srgbClr val="FF0000"/>
                </a:solidFill>
              </a:rPr>
              <a:t> +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1   # class variable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          # </a:t>
            </a:r>
            <a:r>
              <a:rPr lang="en-US" altLang="zh-TW" dirty="0" err="1">
                <a:solidFill>
                  <a:srgbClr val="FF0000"/>
                </a:solidFill>
              </a:rPr>
              <a:t>self.num_people</a:t>
            </a:r>
            <a:r>
              <a:rPr lang="zh-TW" altLang="en-US" dirty="0">
                <a:solidFill>
                  <a:srgbClr val="FF0000"/>
                </a:solidFill>
              </a:rPr>
              <a:t>　和　</a:t>
            </a:r>
            <a:r>
              <a:rPr lang="en-US" altLang="zh-TW" dirty="0" err="1">
                <a:solidFill>
                  <a:srgbClr val="FF0000"/>
                </a:solidFill>
              </a:rPr>
              <a:t>Employee.num_people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/>
              <a:t>E1 = Employee(“Tien-</a:t>
            </a:r>
            <a:r>
              <a:rPr lang="en-US" altLang="zh-TW" dirty="0" err="1"/>
              <a:t>Hsiung</a:t>
            </a:r>
            <a:r>
              <a:rPr lang="en-US" altLang="zh-TW" dirty="0"/>
              <a:t>”, “Weng”, 89, 40000)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print(E1.firstname + “,”+ E1.lastname)</a:t>
            </a:r>
          </a:p>
          <a:p>
            <a:pPr marL="0" indent="0">
              <a:buNone/>
            </a:pPr>
            <a:r>
              <a:rPr lang="en-US" altLang="zh-TW" dirty="0"/>
              <a:t>Print(E1.age)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1036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88DAA7-514F-4203-B641-D0DF0F1F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1 …continue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CD2871-3C77-46B2-A18C-2CF6F9892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Employee:</a:t>
            </a:r>
          </a:p>
          <a:p>
            <a:pPr marL="0" indent="0">
              <a:buNone/>
            </a:pPr>
            <a:r>
              <a:rPr lang="en-US" altLang="zh-TW" dirty="0"/>
              <a:t>          def  __</a:t>
            </a:r>
            <a:r>
              <a:rPr lang="en-US" altLang="zh-TW" dirty="0" err="1"/>
              <a:t>init</a:t>
            </a:r>
            <a:r>
              <a:rPr lang="en-US" altLang="zh-TW" dirty="0"/>
              <a:t>__(self, </a:t>
            </a:r>
            <a:r>
              <a:rPr lang="en-US" altLang="zh-TW" dirty="0" err="1"/>
              <a:t>firstname</a:t>
            </a:r>
            <a:r>
              <a:rPr lang="en-US" altLang="zh-TW" dirty="0"/>
              <a:t>, </a:t>
            </a:r>
            <a:r>
              <a:rPr lang="en-US" altLang="zh-TW" dirty="0" err="1"/>
              <a:t>lastname</a:t>
            </a:r>
            <a:r>
              <a:rPr lang="en-US" altLang="zh-TW" dirty="0"/>
              <a:t>, age, salary):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self.firstname</a:t>
            </a:r>
            <a:r>
              <a:rPr lang="en-US" altLang="zh-TW" dirty="0"/>
              <a:t> = </a:t>
            </a:r>
            <a:r>
              <a:rPr lang="en-US" altLang="zh-TW" dirty="0" err="1"/>
              <a:t>firstname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self.lastname</a:t>
            </a:r>
            <a:r>
              <a:rPr lang="en-US" altLang="zh-TW" dirty="0"/>
              <a:t> =  </a:t>
            </a:r>
            <a:r>
              <a:rPr lang="en-US" altLang="zh-TW" dirty="0" err="1"/>
              <a:t>lastname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self.age</a:t>
            </a:r>
            <a:r>
              <a:rPr lang="en-US" altLang="zh-TW" dirty="0"/>
              <a:t> = age</a:t>
            </a:r>
          </a:p>
          <a:p>
            <a:pPr marL="0" indent="0">
              <a:buNone/>
            </a:pPr>
            <a:r>
              <a:rPr lang="en-US" altLang="zh-TW" dirty="0"/>
              <a:t>                  </a:t>
            </a:r>
            <a:r>
              <a:rPr lang="en-US" altLang="zh-TW" dirty="0" err="1"/>
              <a:t>self.salary</a:t>
            </a:r>
            <a:r>
              <a:rPr lang="en-US" altLang="zh-TW" dirty="0"/>
              <a:t> = salary</a:t>
            </a:r>
            <a:endParaRPr lang="zh-TW" altLang="en-US" dirty="0"/>
          </a:p>
          <a:p>
            <a:pPr marL="0" indent="0">
              <a:buNone/>
            </a:pPr>
            <a:r>
              <a:rPr lang="en-US" altLang="zh-TW" dirty="0"/>
              <a:t>          def  </a:t>
            </a:r>
            <a:r>
              <a:rPr lang="en-US" altLang="zh-TW" dirty="0" err="1"/>
              <a:t>isOK</a:t>
            </a:r>
            <a:r>
              <a:rPr lang="en-US" altLang="zh-TW" dirty="0"/>
              <a:t>(self):</a:t>
            </a:r>
          </a:p>
          <a:p>
            <a:pPr marL="0" indent="0">
              <a:buNone/>
            </a:pPr>
            <a:r>
              <a:rPr lang="en-US" altLang="zh-TW" dirty="0"/>
              <a:t>                  if (</a:t>
            </a:r>
            <a:r>
              <a:rPr lang="en-US" altLang="zh-TW" dirty="0" err="1"/>
              <a:t>self.age</a:t>
            </a:r>
            <a:r>
              <a:rPr lang="en-US" altLang="zh-TW" dirty="0"/>
              <a:t> &gt;= 85 and </a:t>
            </a:r>
            <a:r>
              <a:rPr lang="en-US" altLang="zh-TW" dirty="0" err="1"/>
              <a:t>self.salary</a:t>
            </a:r>
            <a:r>
              <a:rPr lang="en-US" altLang="zh-TW" dirty="0"/>
              <a:t> &gt;=1000000):</a:t>
            </a:r>
          </a:p>
          <a:p>
            <a:pPr marL="0" indent="0">
              <a:buNone/>
            </a:pPr>
            <a:r>
              <a:rPr lang="en-US" altLang="zh-TW" dirty="0"/>
              <a:t>                      print(“sorry, ” + </a:t>
            </a:r>
            <a:r>
              <a:rPr lang="en-US" altLang="zh-TW" dirty="0" err="1"/>
              <a:t>self.lastname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                  else:</a:t>
            </a:r>
          </a:p>
          <a:p>
            <a:pPr marL="0" indent="0">
              <a:buNone/>
            </a:pPr>
            <a:r>
              <a:rPr lang="en-US" altLang="zh-TW" dirty="0"/>
              <a:t>                      print(“Welcome, “ + </a:t>
            </a:r>
            <a:r>
              <a:rPr lang="en-US" altLang="zh-TW" dirty="0" err="1"/>
              <a:t>self.lastname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E1 = Employee(“Tien-</a:t>
            </a:r>
            <a:r>
              <a:rPr lang="en-US" altLang="zh-TW" dirty="0" err="1"/>
              <a:t>Hsiung</a:t>
            </a:r>
            <a:r>
              <a:rPr lang="en-US" altLang="zh-TW" dirty="0"/>
              <a:t>”, “Weng”, 89, 40000)</a:t>
            </a:r>
          </a:p>
          <a:p>
            <a:pPr marL="0" indent="0">
              <a:buNone/>
            </a:pPr>
            <a:r>
              <a:rPr lang="en-US" altLang="zh-TW" dirty="0"/>
              <a:t>E2 = Employee(“Ted”, “Lee”, 89, 1230000)</a:t>
            </a:r>
          </a:p>
          <a:p>
            <a:pPr marL="0" indent="0">
              <a:buNone/>
            </a:pPr>
            <a:r>
              <a:rPr lang="en-US" altLang="zh-TW" dirty="0"/>
              <a:t>print(E1.isOK())</a:t>
            </a:r>
          </a:p>
          <a:p>
            <a:pPr marL="0" indent="0">
              <a:buNone/>
            </a:pPr>
            <a:r>
              <a:rPr lang="en-US" altLang="zh-TW" dirty="0"/>
              <a:t>print(E2.isOK())</a:t>
            </a:r>
          </a:p>
          <a:p>
            <a:pPr marL="0" indent="0">
              <a:buNone/>
            </a:pPr>
            <a:r>
              <a:rPr lang="en-US" altLang="zh-TW" dirty="0"/>
              <a:t>print(E1.__dict__)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0454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DFA7DD-1D02-47F8-81AB-38D022D4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 object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CDEA8B-5207-4802-9705-0AFA2378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 </a:t>
            </a:r>
            <a:r>
              <a:rPr lang="en-US" altLang="zh-TW" dirty="0" err="1"/>
              <a:t>MyClass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           j = 100</a:t>
            </a:r>
          </a:p>
          <a:p>
            <a:pPr marL="0" indent="0">
              <a:buNone/>
            </a:pPr>
            <a:r>
              <a:rPr lang="en-US" altLang="zh-TW" dirty="0"/>
              <a:t>           def  p(self):</a:t>
            </a:r>
          </a:p>
          <a:p>
            <a:pPr marL="0" indent="0">
              <a:buNone/>
            </a:pPr>
            <a:r>
              <a:rPr lang="en-US" altLang="zh-TW" dirty="0"/>
              <a:t>                   return “Hello World”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x = </a:t>
            </a:r>
            <a:r>
              <a:rPr lang="en-US" altLang="zh-TW" dirty="0" err="1"/>
              <a:t>MyClass</a:t>
            </a:r>
            <a:r>
              <a:rPr lang="en-US" altLang="zh-TW" dirty="0"/>
              <a:t>()  # Class </a:t>
            </a:r>
            <a:r>
              <a:rPr lang="en-US" altLang="zh-TW" i="1" dirty="0"/>
              <a:t>instantiation</a:t>
            </a:r>
            <a:r>
              <a:rPr lang="en-US" altLang="zh-TW" dirty="0"/>
              <a:t> uses function notation</a:t>
            </a:r>
          </a:p>
          <a:p>
            <a:pPr marL="0" indent="0">
              <a:buNone/>
            </a:pPr>
            <a:r>
              <a:rPr lang="en-US" altLang="zh-TW" dirty="0" err="1"/>
              <a:t>x.j</a:t>
            </a:r>
            <a:r>
              <a:rPr lang="en-US" altLang="zh-TW" dirty="0"/>
              <a:t>  = 200</a:t>
            </a:r>
          </a:p>
          <a:p>
            <a:pPr marL="0" indent="0">
              <a:buNone/>
            </a:pPr>
            <a:r>
              <a:rPr lang="en-US" altLang="zh-TW" dirty="0"/>
              <a:t>print(</a:t>
            </a:r>
            <a:r>
              <a:rPr lang="en-US" altLang="zh-TW" dirty="0" err="1"/>
              <a:t>x.p</a:t>
            </a:r>
            <a:r>
              <a:rPr lang="en-US" altLang="zh-TW" dirty="0"/>
              <a:t>())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# </a:t>
            </a:r>
            <a:r>
              <a:rPr lang="en-US" altLang="zh-TW" dirty="0" err="1"/>
              <a:t>MyClass.j</a:t>
            </a:r>
            <a:r>
              <a:rPr lang="en-US" altLang="zh-TW" dirty="0"/>
              <a:t> and </a:t>
            </a:r>
            <a:r>
              <a:rPr lang="en-US" altLang="zh-TW" dirty="0" err="1"/>
              <a:t>MyClass.p</a:t>
            </a:r>
            <a:r>
              <a:rPr lang="en-US" altLang="zh-TW" dirty="0"/>
              <a:t> are valid attribute references</a:t>
            </a:r>
          </a:p>
          <a:p>
            <a:pPr marL="0" indent="0">
              <a:buNone/>
            </a:pPr>
            <a:r>
              <a:rPr lang="en-US" altLang="zh-TW" dirty="0"/>
              <a:t># Attribute references use the standard syntax used for all attribute references in Python: obj.name. </a:t>
            </a:r>
          </a:p>
          <a:p>
            <a:pPr marL="0" indent="0">
              <a:buNone/>
            </a:pPr>
            <a:r>
              <a:rPr lang="en-US" altLang="zh-TW" dirty="0"/>
              <a:t># Valid attribute names are all the names that were in the class’s namespace when the class object was created.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5789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DFA7DD-1D02-47F8-81AB-38D022D4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 object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CDEA8B-5207-4802-9705-0AFA23780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 </a:t>
            </a:r>
            <a:r>
              <a:rPr lang="en-US" altLang="zh-TW" dirty="0" err="1"/>
              <a:t>MyClass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           j = 100</a:t>
            </a:r>
          </a:p>
          <a:p>
            <a:pPr marL="0" indent="0">
              <a:buNone/>
            </a:pPr>
            <a:r>
              <a:rPr lang="en-US" altLang="zh-TW" dirty="0"/>
              <a:t>           </a:t>
            </a:r>
            <a:r>
              <a:rPr lang="en-US" altLang="zh-TW" dirty="0">
                <a:solidFill>
                  <a:srgbClr val="FF0000"/>
                </a:solidFill>
              </a:rPr>
              <a:t>def  __</a:t>
            </a:r>
            <a:r>
              <a:rPr lang="en-US" altLang="zh-TW" dirty="0" err="1">
                <a:solidFill>
                  <a:srgbClr val="FF0000"/>
                </a:solidFill>
              </a:rPr>
              <a:t>init</a:t>
            </a:r>
            <a:r>
              <a:rPr lang="en-US" altLang="zh-TW" dirty="0">
                <a:solidFill>
                  <a:srgbClr val="FF0000"/>
                </a:solidFill>
              </a:rPr>
              <a:t>__(self):       # like constructor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                  </a:t>
            </a:r>
            <a:r>
              <a:rPr lang="en-US" altLang="zh-TW" dirty="0" err="1">
                <a:solidFill>
                  <a:srgbClr val="FF0000"/>
                </a:solidFill>
              </a:rPr>
              <a:t>self.j</a:t>
            </a:r>
            <a:r>
              <a:rPr lang="en-US" altLang="zh-TW" dirty="0">
                <a:solidFill>
                  <a:srgbClr val="FF0000"/>
                </a:solidFill>
              </a:rPr>
              <a:t> = 0</a:t>
            </a:r>
          </a:p>
          <a:p>
            <a:pPr marL="0" indent="0">
              <a:buNone/>
            </a:pPr>
            <a:r>
              <a:rPr lang="en-US" altLang="zh-TW" dirty="0"/>
              <a:t>           def  p(self):</a:t>
            </a:r>
          </a:p>
          <a:p>
            <a:pPr marL="0" indent="0">
              <a:buNone/>
            </a:pPr>
            <a:r>
              <a:rPr lang="en-US" altLang="zh-TW" dirty="0"/>
              <a:t>                   return “Hello World”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x = </a:t>
            </a:r>
            <a:r>
              <a:rPr lang="en-US" altLang="zh-TW" dirty="0" err="1"/>
              <a:t>MyClass</a:t>
            </a:r>
            <a:r>
              <a:rPr lang="en-US" altLang="zh-TW" dirty="0"/>
              <a:t>()  # Class </a:t>
            </a:r>
            <a:r>
              <a:rPr lang="en-US" altLang="zh-TW" i="1" dirty="0"/>
              <a:t>instantiation</a:t>
            </a:r>
            <a:r>
              <a:rPr lang="en-US" altLang="zh-TW" dirty="0"/>
              <a:t> uses function notation</a:t>
            </a:r>
          </a:p>
          <a:p>
            <a:pPr marL="0" indent="0">
              <a:buNone/>
            </a:pPr>
            <a:r>
              <a:rPr lang="en-US" altLang="zh-TW" dirty="0" err="1"/>
              <a:t>x.j</a:t>
            </a:r>
            <a:r>
              <a:rPr lang="en-US" altLang="zh-TW" dirty="0"/>
              <a:t>  = 200</a:t>
            </a:r>
          </a:p>
          <a:p>
            <a:pPr marL="0" indent="0">
              <a:buNone/>
            </a:pPr>
            <a:r>
              <a:rPr lang="en-US" altLang="zh-TW" dirty="0"/>
              <a:t>print(</a:t>
            </a:r>
            <a:r>
              <a:rPr lang="en-US" altLang="zh-TW" dirty="0" err="1"/>
              <a:t>x.p</a:t>
            </a:r>
            <a:r>
              <a:rPr lang="en-US" altLang="zh-TW" dirty="0"/>
              <a:t>())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#a class may define a special method named __</a:t>
            </a:r>
            <a:r>
              <a:rPr lang="en-US" altLang="zh-TW" dirty="0" err="1"/>
              <a:t>init</a:t>
            </a:r>
            <a:r>
              <a:rPr lang="en-US" altLang="zh-TW" dirty="0"/>
              <a:t>__()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0307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FBBB4D-D8C9-40D2-849A-531D96E8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Scopes and Namespaces Example (</a:t>
            </a:r>
            <a:r>
              <a:rPr lang="zh-TW" altLang="en-US" dirty="0"/>
              <a:t>進階）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5ECD3F-D338-4DBD-836B-00ECBE275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4"/>
            <a:ext cx="10515600" cy="532447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TW" dirty="0"/>
              <a:t>def </a:t>
            </a:r>
            <a:r>
              <a:rPr lang="en-US" altLang="zh-TW" dirty="0" err="1"/>
              <a:t>scope_test</a:t>
            </a:r>
            <a:r>
              <a:rPr lang="en-US" altLang="zh-TW" dirty="0"/>
              <a:t>():</a:t>
            </a:r>
          </a:p>
          <a:p>
            <a:pPr marL="0" indent="0">
              <a:buNone/>
            </a:pPr>
            <a:r>
              <a:rPr lang="en-US" altLang="zh-TW" dirty="0"/>
              <a:t>    def </a:t>
            </a:r>
            <a:r>
              <a:rPr lang="en-US" altLang="zh-TW" dirty="0" err="1"/>
              <a:t>do_local</a:t>
            </a:r>
            <a:r>
              <a:rPr lang="en-US" altLang="zh-TW" dirty="0"/>
              <a:t>():</a:t>
            </a:r>
          </a:p>
          <a:p>
            <a:pPr marL="0" indent="0">
              <a:buNone/>
            </a:pPr>
            <a:r>
              <a:rPr lang="en-US" altLang="zh-TW" dirty="0"/>
              <a:t>        spam = "local spam"</a:t>
            </a:r>
          </a:p>
          <a:p>
            <a:pPr marL="0" indent="0">
              <a:buNone/>
            </a:pPr>
            <a:r>
              <a:rPr lang="en-US" altLang="zh-TW" dirty="0"/>
              <a:t>    def </a:t>
            </a:r>
            <a:r>
              <a:rPr lang="en-US" altLang="zh-TW" dirty="0" err="1"/>
              <a:t>do_nonlocal</a:t>
            </a:r>
            <a:r>
              <a:rPr lang="en-US" altLang="zh-TW" dirty="0"/>
              <a:t>():</a:t>
            </a:r>
          </a:p>
          <a:p>
            <a:pPr marL="0" indent="0">
              <a:buNone/>
            </a:pPr>
            <a:r>
              <a:rPr lang="en-US" altLang="zh-TW" dirty="0"/>
              <a:t>        nonlocal spam</a:t>
            </a:r>
          </a:p>
          <a:p>
            <a:pPr marL="0" indent="0">
              <a:buNone/>
            </a:pPr>
            <a:r>
              <a:rPr lang="en-US" altLang="zh-TW" dirty="0"/>
              <a:t>        spam = "nonlocal spam"</a:t>
            </a:r>
          </a:p>
          <a:p>
            <a:pPr marL="0" indent="0">
              <a:buNone/>
            </a:pPr>
            <a:r>
              <a:rPr lang="en-US" altLang="zh-TW" dirty="0"/>
              <a:t>    def </a:t>
            </a:r>
            <a:r>
              <a:rPr lang="en-US" altLang="zh-TW" dirty="0" err="1"/>
              <a:t>do_global</a:t>
            </a:r>
            <a:r>
              <a:rPr lang="en-US" altLang="zh-TW" dirty="0"/>
              <a:t>():</a:t>
            </a:r>
          </a:p>
          <a:p>
            <a:pPr marL="0" indent="0">
              <a:buNone/>
            </a:pPr>
            <a:r>
              <a:rPr lang="en-US" altLang="zh-TW" dirty="0"/>
              <a:t>        global spam</a:t>
            </a:r>
          </a:p>
          <a:p>
            <a:pPr marL="0" indent="0">
              <a:buNone/>
            </a:pPr>
            <a:r>
              <a:rPr lang="en-US" altLang="zh-TW" dirty="0"/>
              <a:t>        spam = "global spam"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spam = "test spam“       # inside class </a:t>
            </a:r>
          </a:p>
          <a:p>
            <a:pPr marL="0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do_local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    print("After local assignment:", spam)</a:t>
            </a:r>
          </a:p>
          <a:p>
            <a:pPr marL="0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do_nonlocal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    print("After nonlocal assignment:", spam)</a:t>
            </a:r>
          </a:p>
          <a:p>
            <a:pPr marL="0" indent="0">
              <a:buNone/>
            </a:pPr>
            <a:r>
              <a:rPr lang="en-US" altLang="zh-TW" dirty="0"/>
              <a:t>    </a:t>
            </a:r>
            <a:r>
              <a:rPr lang="en-US" altLang="zh-TW" dirty="0" err="1"/>
              <a:t>do_global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    print("After global assignment:", spam)</a:t>
            </a:r>
          </a:p>
          <a:p>
            <a:pPr marL="0" indent="0">
              <a:buNone/>
            </a:pPr>
            <a:r>
              <a:rPr lang="en-US" altLang="zh-TW" dirty="0" err="1"/>
              <a:t>scope_test</a:t>
            </a:r>
            <a:r>
              <a:rPr lang="en-US" altLang="zh-TW" dirty="0"/>
              <a:t>()    # in main program</a:t>
            </a:r>
          </a:p>
          <a:p>
            <a:pPr marL="0" indent="0">
              <a:buNone/>
            </a:pPr>
            <a:r>
              <a:rPr lang="en-US" altLang="zh-TW" dirty="0"/>
              <a:t>print("In global scope:", spam)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E8AF251-9F12-4B0D-9101-68097A02F8C2}"/>
              </a:ext>
            </a:extLst>
          </p:cNvPr>
          <p:cNvSpPr txBox="1"/>
          <p:nvPr/>
        </p:nvSpPr>
        <p:spPr>
          <a:xfrm>
            <a:off x="5772150" y="2647950"/>
            <a:ext cx="4819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Output:</a:t>
            </a:r>
          </a:p>
          <a:p>
            <a:r>
              <a:rPr lang="en-US" altLang="zh-TW" dirty="0"/>
              <a:t>After local assignment: test spam</a:t>
            </a:r>
          </a:p>
          <a:p>
            <a:r>
              <a:rPr lang="en-US" altLang="zh-TW" dirty="0"/>
              <a:t>After nonlocal assignment: nonlocal spam</a:t>
            </a:r>
          </a:p>
          <a:p>
            <a:r>
              <a:rPr lang="en-US" altLang="zh-TW" dirty="0"/>
              <a:t>After global assignment: nonlocal spam</a:t>
            </a:r>
          </a:p>
          <a:p>
            <a:r>
              <a:rPr lang="en-US" altLang="zh-TW" dirty="0"/>
              <a:t>In global scope: global spam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2174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CF0218-8F76-4FFA-B6AA-0180A517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Inheritance in Python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24DAD5-CFB3-41F0-B751-A46E5053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class </a:t>
            </a:r>
            <a:r>
              <a:rPr lang="en-US" altLang="zh-TW" dirty="0" err="1"/>
              <a:t>DerivedClassName</a:t>
            </a:r>
            <a:r>
              <a:rPr lang="en-US" altLang="zh-TW" dirty="0"/>
              <a:t>(</a:t>
            </a:r>
            <a:r>
              <a:rPr lang="en-US" altLang="zh-TW" dirty="0" err="1"/>
              <a:t>BaseClassName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en-US" altLang="zh-TW" dirty="0"/>
              <a:t>         &lt;statement-1&gt;</a:t>
            </a:r>
          </a:p>
          <a:p>
            <a:pPr marL="0" indent="0">
              <a:buNone/>
            </a:pPr>
            <a:r>
              <a:rPr lang="en-US" altLang="zh-TW" dirty="0"/>
              <a:t>          .</a:t>
            </a:r>
          </a:p>
          <a:p>
            <a:pPr marL="0" indent="0">
              <a:buNone/>
            </a:pPr>
            <a:r>
              <a:rPr lang="en-US" altLang="zh-TW" dirty="0"/>
              <a:t>          .</a:t>
            </a:r>
          </a:p>
          <a:p>
            <a:pPr marL="0" indent="0">
              <a:buNone/>
            </a:pPr>
            <a:r>
              <a:rPr lang="en-US" altLang="zh-TW" dirty="0"/>
              <a:t>          .</a:t>
            </a:r>
          </a:p>
          <a:p>
            <a:pPr marL="0" indent="0">
              <a:buNone/>
            </a:pPr>
            <a:r>
              <a:rPr lang="en-US" altLang="zh-TW" dirty="0"/>
              <a:t>        &lt;statement-N&gt;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6536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739183-EB95-4424-A8F1-A592AAEC0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Multiple Inheritance in Python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BEBDDB-BF7A-447E-BB23-39008D6A8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class </a:t>
            </a:r>
            <a:r>
              <a:rPr lang="en-US" altLang="zh-TW" dirty="0" err="1"/>
              <a:t>DerivedClassName</a:t>
            </a:r>
            <a:r>
              <a:rPr lang="en-US" altLang="zh-TW" dirty="0"/>
              <a:t>(Base1, Base2, Base3):</a:t>
            </a:r>
          </a:p>
          <a:p>
            <a:pPr marL="0" indent="0">
              <a:buNone/>
            </a:pPr>
            <a:r>
              <a:rPr lang="en-US" altLang="zh-TW" dirty="0"/>
              <a:t>         &lt;statement-1&gt;</a:t>
            </a:r>
          </a:p>
          <a:p>
            <a:pPr marL="0" indent="0">
              <a:buNone/>
            </a:pPr>
            <a:r>
              <a:rPr lang="en-US" altLang="zh-TW" dirty="0"/>
              <a:t>         .</a:t>
            </a:r>
          </a:p>
          <a:p>
            <a:pPr marL="0" indent="0">
              <a:buNone/>
            </a:pPr>
            <a:r>
              <a:rPr lang="en-US" altLang="zh-TW" dirty="0"/>
              <a:t>         .</a:t>
            </a:r>
          </a:p>
          <a:p>
            <a:pPr marL="0" indent="0">
              <a:buNone/>
            </a:pPr>
            <a:r>
              <a:rPr lang="en-US" altLang="zh-TW" dirty="0"/>
              <a:t>         .</a:t>
            </a:r>
          </a:p>
          <a:p>
            <a:pPr marL="0" indent="0">
              <a:buNone/>
            </a:pPr>
            <a:r>
              <a:rPr lang="en-US" altLang="zh-TW" dirty="0"/>
              <a:t>         &lt;statement-N&gt;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245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64B7C8-3A12-4C9C-877F-7B28E86E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Private Variables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A1E12F-8BB6-49E4-9528-D50FBB365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Private instance variables that cannot be accessed except from inside an object don’t exist in Python. </a:t>
            </a:r>
          </a:p>
          <a:p>
            <a:r>
              <a:rPr lang="en-US" altLang="zh-TW" dirty="0"/>
              <a:t>However, there is a convention that is followed by most Python code: a name prefixed with an underscore (e.g. _spam) should be treated as a non-public part of the API (whether it is a function, a method or a data member). </a:t>
            </a:r>
          </a:p>
          <a:p>
            <a:r>
              <a:rPr lang="en-US" altLang="zh-TW" dirty="0"/>
              <a:t>It should be considered an implementation detail and subject to change without notice.</a:t>
            </a:r>
          </a:p>
          <a:p>
            <a:endParaRPr lang="en-US" altLang="zh-TW" dirty="0"/>
          </a:p>
          <a:p>
            <a:r>
              <a:rPr lang="en-US" altLang="zh-TW" dirty="0"/>
              <a:t>Uses double underscores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629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967CEE-FCC2-45EA-821F-77015BB2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Private variable and method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93AD54-FDFD-4F2B-A49A-CF54A699C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4"/>
            <a:ext cx="10515600" cy="534352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TW" dirty="0"/>
              <a:t>class Mapping:</a:t>
            </a:r>
          </a:p>
          <a:p>
            <a:pPr marL="0" indent="0">
              <a:buNone/>
            </a:pPr>
            <a:r>
              <a:rPr lang="en-US" altLang="zh-TW" dirty="0"/>
              <a:t>    def __</a:t>
            </a:r>
            <a:r>
              <a:rPr lang="en-US" altLang="zh-TW" dirty="0" err="1"/>
              <a:t>init</a:t>
            </a:r>
            <a:r>
              <a:rPr lang="en-US" altLang="zh-TW" dirty="0"/>
              <a:t>__(self, </a:t>
            </a:r>
            <a:r>
              <a:rPr lang="en-US" altLang="zh-TW" dirty="0" err="1"/>
              <a:t>iterable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en-US" altLang="zh-TW" dirty="0"/>
              <a:t>        </a:t>
            </a:r>
            <a:r>
              <a:rPr lang="en-US" altLang="zh-TW" dirty="0" err="1"/>
              <a:t>self.items_list</a:t>
            </a:r>
            <a:r>
              <a:rPr lang="en-US" altLang="zh-TW" dirty="0"/>
              <a:t> = []</a:t>
            </a:r>
          </a:p>
          <a:p>
            <a:pPr marL="0" indent="0">
              <a:buNone/>
            </a:pPr>
            <a:r>
              <a:rPr lang="en-US" altLang="zh-TW" dirty="0"/>
              <a:t>        </a:t>
            </a:r>
            <a:r>
              <a:rPr lang="en-US" altLang="zh-TW" dirty="0" err="1"/>
              <a:t>self.__update</a:t>
            </a:r>
            <a:r>
              <a:rPr lang="en-US" altLang="zh-TW" dirty="0"/>
              <a:t>(</a:t>
            </a:r>
            <a:r>
              <a:rPr lang="en-US" altLang="zh-TW" dirty="0" err="1"/>
              <a:t>iterable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def update(self, </a:t>
            </a:r>
            <a:r>
              <a:rPr lang="en-US" altLang="zh-TW" dirty="0" err="1"/>
              <a:t>iterable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en-US" altLang="zh-TW" dirty="0"/>
              <a:t>        for item in </a:t>
            </a:r>
            <a:r>
              <a:rPr lang="en-US" altLang="zh-TW" dirty="0" err="1"/>
              <a:t>iterable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            </a:t>
            </a:r>
            <a:r>
              <a:rPr lang="en-US" altLang="zh-TW" dirty="0" err="1"/>
              <a:t>self.items_list.append</a:t>
            </a:r>
            <a:r>
              <a:rPr lang="en-US" altLang="zh-TW" dirty="0"/>
              <a:t>(item)</a:t>
            </a:r>
          </a:p>
          <a:p>
            <a:pPr marL="0" indent="0">
              <a:buNone/>
            </a:pPr>
            <a:r>
              <a:rPr lang="en-US" altLang="zh-TW" dirty="0"/>
              <a:t>    __update = update   # private copy of original update() method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class </a:t>
            </a:r>
            <a:r>
              <a:rPr lang="en-US" altLang="zh-TW" dirty="0" err="1"/>
              <a:t>MappingSubclass</a:t>
            </a:r>
            <a:r>
              <a:rPr lang="en-US" altLang="zh-TW" dirty="0"/>
              <a:t>(Mapping):</a:t>
            </a:r>
          </a:p>
          <a:p>
            <a:pPr marL="0" indent="0">
              <a:buNone/>
            </a:pPr>
            <a:r>
              <a:rPr lang="en-US" altLang="zh-TW" dirty="0"/>
              <a:t>    def update(self, keys, values):</a:t>
            </a:r>
          </a:p>
          <a:p>
            <a:pPr marL="0" indent="0">
              <a:buNone/>
            </a:pPr>
            <a:r>
              <a:rPr lang="en-US" altLang="zh-TW" dirty="0"/>
              <a:t>        # provides new signature for update()  but does not break __</a:t>
            </a:r>
            <a:r>
              <a:rPr lang="en-US" altLang="zh-TW" dirty="0" err="1"/>
              <a:t>init</a:t>
            </a:r>
            <a:r>
              <a:rPr lang="en-US" altLang="zh-TW" dirty="0"/>
              <a:t>__()</a:t>
            </a:r>
          </a:p>
          <a:p>
            <a:pPr marL="0" indent="0">
              <a:buNone/>
            </a:pPr>
            <a:r>
              <a:rPr lang="en-US" altLang="zh-TW" dirty="0"/>
              <a:t>        for item in zip(keys, values):</a:t>
            </a:r>
          </a:p>
          <a:p>
            <a:pPr marL="0" indent="0">
              <a:buNone/>
            </a:pPr>
            <a:r>
              <a:rPr lang="en-US" altLang="zh-TW" dirty="0"/>
              <a:t>            </a:t>
            </a:r>
            <a:r>
              <a:rPr lang="en-US" altLang="zh-TW" dirty="0" err="1"/>
              <a:t>self.items_list.append</a:t>
            </a:r>
            <a:r>
              <a:rPr lang="en-US" altLang="zh-TW" dirty="0"/>
              <a:t>(item)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2173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58E39F-377D-4CF7-B7E2-13BC9F64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What is a class method?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86EC73-4C77-42D7-90A3-7F8D20E3E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class method is a method that is bound to a class rather than its object. It doesn't require creation of a class instance, much like </a:t>
            </a:r>
            <a:r>
              <a:rPr lang="en-US" altLang="zh-TW" dirty="0" err="1"/>
              <a:t>staticmethod</a:t>
            </a:r>
            <a:r>
              <a:rPr lang="en-US" altLang="zh-TW" dirty="0"/>
              <a:t>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The difference between a static method and a class method is:</a:t>
            </a:r>
          </a:p>
          <a:p>
            <a:pPr lvl="1"/>
            <a:r>
              <a:rPr lang="en-US" altLang="zh-TW" dirty="0"/>
              <a:t>Static method knows nothing about the class and just deals with the parameters</a:t>
            </a:r>
          </a:p>
          <a:p>
            <a:pPr lvl="1"/>
            <a:r>
              <a:rPr lang="en-US" altLang="zh-TW" dirty="0"/>
              <a:t>Class method works with the class since its parameter is always the class itself.</a:t>
            </a:r>
          </a:p>
          <a:p>
            <a:pPr marL="0" indent="0">
              <a:buNone/>
            </a:pPr>
            <a:r>
              <a:rPr lang="en-US" altLang="zh-TW" dirty="0"/>
              <a:t>The class method can be called both by the class and its object.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6296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989F69-6071-4A4D-9BDB-F90AA2BF9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syntax of </a:t>
            </a:r>
            <a:r>
              <a:rPr lang="en-US" altLang="zh-TW" dirty="0" err="1"/>
              <a:t>classmethod</a:t>
            </a:r>
            <a:r>
              <a:rPr lang="en-US" altLang="zh-TW" dirty="0"/>
              <a:t>() method 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463DFB-C1B1-4128-B8F6-5F98C9CCC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err="1"/>
              <a:t>classmethod</a:t>
            </a:r>
            <a:r>
              <a:rPr lang="en-US" altLang="zh-TW" dirty="0"/>
              <a:t>(function)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classmethod</a:t>
            </a:r>
            <a:r>
              <a:rPr lang="en-US" altLang="zh-TW" dirty="0"/>
              <a:t>() is considered un-Pythonic so in newer Python versions, you can use the @</a:t>
            </a:r>
            <a:r>
              <a:rPr lang="en-US" altLang="zh-TW" dirty="0" err="1"/>
              <a:t>classmethod</a:t>
            </a:r>
            <a:r>
              <a:rPr lang="en-US" altLang="zh-TW" dirty="0"/>
              <a:t> decorator for </a:t>
            </a:r>
            <a:r>
              <a:rPr lang="en-US" altLang="zh-TW" dirty="0" err="1"/>
              <a:t>classmethod</a:t>
            </a:r>
            <a:r>
              <a:rPr lang="en-US" altLang="zh-TW" dirty="0"/>
              <a:t> definition.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The syntax is:</a:t>
            </a:r>
          </a:p>
          <a:p>
            <a:pPr marL="0" indent="0">
              <a:buNone/>
            </a:pPr>
            <a:r>
              <a:rPr lang="en-US" altLang="zh-TW" dirty="0"/>
              <a:t>@</a:t>
            </a:r>
            <a:r>
              <a:rPr lang="en-US" altLang="zh-TW" dirty="0" err="1"/>
              <a:t>classmethod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def </a:t>
            </a:r>
            <a:r>
              <a:rPr lang="en-US" altLang="zh-TW" dirty="0" err="1"/>
              <a:t>func</a:t>
            </a:r>
            <a:r>
              <a:rPr lang="en-US" altLang="zh-TW" dirty="0"/>
              <a:t>(</a:t>
            </a:r>
            <a:r>
              <a:rPr lang="en-US" altLang="zh-TW" dirty="0" err="1"/>
              <a:t>cls</a:t>
            </a:r>
            <a:r>
              <a:rPr lang="en-US" altLang="zh-TW" dirty="0"/>
              <a:t>, </a:t>
            </a:r>
            <a:r>
              <a:rPr lang="en-US" altLang="zh-TW" dirty="0" err="1"/>
              <a:t>args</a:t>
            </a:r>
            <a:r>
              <a:rPr lang="en-US" altLang="zh-TW" dirty="0"/>
              <a:t>...)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9131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9EE7C-B3D0-4A60-812D-6E6C72A0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294AAE-26ED-40CE-9940-C6F726347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TW" dirty="0"/>
              <a:t>from datetime import date</a:t>
            </a:r>
          </a:p>
          <a:p>
            <a:pPr marL="0" indent="0">
              <a:buNone/>
            </a:pPr>
            <a:r>
              <a:rPr lang="en-US" altLang="zh-TW" dirty="0"/>
              <a:t># random Person</a:t>
            </a:r>
          </a:p>
          <a:p>
            <a:pPr marL="0" indent="0">
              <a:buNone/>
            </a:pPr>
            <a:r>
              <a:rPr lang="en-US" altLang="zh-TW" dirty="0"/>
              <a:t>class Person:    </a:t>
            </a:r>
          </a:p>
          <a:p>
            <a:pPr marL="0" indent="0">
              <a:buNone/>
            </a:pPr>
            <a:r>
              <a:rPr lang="zh-TW" altLang="en-US" dirty="0"/>
              <a:t>　　</a:t>
            </a:r>
            <a:r>
              <a:rPr lang="en-US" altLang="zh-TW" dirty="0"/>
              <a:t>def __</a:t>
            </a:r>
            <a:r>
              <a:rPr lang="en-US" altLang="zh-TW" dirty="0" err="1"/>
              <a:t>init</a:t>
            </a:r>
            <a:r>
              <a:rPr lang="en-US" altLang="zh-TW" dirty="0"/>
              <a:t>__(self, name, age):</a:t>
            </a:r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/>
              <a:t>        self.name = name</a:t>
            </a:r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/>
              <a:t>        </a:t>
            </a:r>
            <a:r>
              <a:rPr lang="en-US" altLang="zh-TW" dirty="0" err="1"/>
              <a:t>self.age</a:t>
            </a:r>
            <a:r>
              <a:rPr lang="en-US" altLang="zh-TW" dirty="0"/>
              <a:t> = age</a:t>
            </a:r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/>
              <a:t>    @</a:t>
            </a:r>
            <a:r>
              <a:rPr lang="en-US" altLang="zh-TW" dirty="0" err="1"/>
              <a:t>classmethod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/>
              <a:t>    def </a:t>
            </a:r>
            <a:r>
              <a:rPr lang="en-US" altLang="zh-TW" dirty="0" err="1"/>
              <a:t>fromBirthYear</a:t>
            </a:r>
            <a:r>
              <a:rPr lang="en-US" altLang="zh-TW" dirty="0"/>
              <a:t>(</a:t>
            </a:r>
            <a:r>
              <a:rPr lang="en-US" altLang="zh-TW" dirty="0" err="1"/>
              <a:t>cls</a:t>
            </a:r>
            <a:r>
              <a:rPr lang="en-US" altLang="zh-TW" dirty="0"/>
              <a:t>, name, </a:t>
            </a:r>
            <a:r>
              <a:rPr lang="en-US" altLang="zh-TW" dirty="0" err="1"/>
              <a:t>birthYear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/>
              <a:t>        return </a:t>
            </a:r>
            <a:r>
              <a:rPr lang="en-US" altLang="zh-TW" dirty="0" err="1"/>
              <a:t>cls</a:t>
            </a:r>
            <a:r>
              <a:rPr lang="en-US" altLang="zh-TW" dirty="0"/>
              <a:t>(name, </a:t>
            </a:r>
            <a:r>
              <a:rPr lang="en-US" altLang="zh-TW" dirty="0" err="1"/>
              <a:t>date.today</a:t>
            </a:r>
            <a:r>
              <a:rPr lang="en-US" altLang="zh-TW" dirty="0"/>
              <a:t>().year - </a:t>
            </a:r>
            <a:r>
              <a:rPr lang="en-US" altLang="zh-TW" dirty="0" err="1"/>
              <a:t>birthYear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/>
              <a:t>    def display(self):</a:t>
            </a:r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/>
              <a:t>        print(self.name + "'s age is: " + str(</a:t>
            </a:r>
            <a:r>
              <a:rPr lang="en-US" altLang="zh-TW" dirty="0" err="1"/>
              <a:t>self.age</a:t>
            </a:r>
            <a:r>
              <a:rPr lang="en-US" altLang="zh-TW" dirty="0"/>
              <a:t>))</a:t>
            </a:r>
          </a:p>
          <a:p>
            <a:pPr marL="0" indent="0">
              <a:buNone/>
            </a:pPr>
            <a:r>
              <a:rPr lang="en-US" altLang="zh-TW" dirty="0"/>
              <a:t>person = Person('Adam', 19)</a:t>
            </a:r>
          </a:p>
          <a:p>
            <a:pPr marL="0" indent="0">
              <a:buNone/>
            </a:pPr>
            <a:r>
              <a:rPr lang="en-US" altLang="zh-TW" dirty="0" err="1"/>
              <a:t>person.display</a:t>
            </a:r>
            <a:r>
              <a:rPr lang="en-US" altLang="zh-TW" dirty="0"/>
              <a:t>()</a:t>
            </a:r>
          </a:p>
          <a:p>
            <a:pPr marL="0" indent="0">
              <a:buNone/>
            </a:pPr>
            <a:r>
              <a:rPr lang="en-US" altLang="zh-TW" dirty="0"/>
              <a:t>person1 = </a:t>
            </a:r>
            <a:r>
              <a:rPr lang="en-US" altLang="zh-TW" dirty="0" err="1"/>
              <a:t>Person.fromBirthYear</a:t>
            </a:r>
            <a:r>
              <a:rPr lang="en-US" altLang="zh-TW" dirty="0"/>
              <a:t>('John',  1985)</a:t>
            </a:r>
          </a:p>
          <a:p>
            <a:pPr marL="0" indent="0">
              <a:buNone/>
            </a:pPr>
            <a:r>
              <a:rPr lang="en-US" altLang="zh-TW" dirty="0"/>
              <a:t>person1.display()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719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43D016-11EE-45CA-8C07-E14F1607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2DDAB7-D202-4C02-AD2C-0F153CCD4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TW" dirty="0"/>
              <a:t>from datetime import date</a:t>
            </a:r>
          </a:p>
          <a:p>
            <a:pPr marL="0" indent="0">
              <a:buNone/>
            </a:pPr>
            <a:r>
              <a:rPr lang="en-US" altLang="zh-TW" dirty="0"/>
              <a:t># random </a:t>
            </a:r>
            <a:r>
              <a:rPr lang="en-US" altLang="zh-TW" dirty="0" err="1"/>
              <a:t>Personclass</a:t>
            </a:r>
            <a:r>
              <a:rPr lang="en-US" altLang="zh-TW" dirty="0"/>
              <a:t> Person:</a:t>
            </a:r>
          </a:p>
          <a:p>
            <a:pPr marL="0" indent="0">
              <a:buNone/>
            </a:pPr>
            <a:r>
              <a:rPr lang="en-US" altLang="zh-TW" dirty="0"/>
              <a:t>    def __</a:t>
            </a:r>
            <a:r>
              <a:rPr lang="en-US" altLang="zh-TW" dirty="0" err="1"/>
              <a:t>init</a:t>
            </a:r>
            <a:r>
              <a:rPr lang="en-US" altLang="zh-TW" dirty="0"/>
              <a:t>__(self, name, age):</a:t>
            </a:r>
          </a:p>
          <a:p>
            <a:pPr marL="0" indent="0">
              <a:buNone/>
            </a:pPr>
            <a:r>
              <a:rPr lang="en-US" altLang="zh-TW" dirty="0"/>
              <a:t>        self.name = name</a:t>
            </a:r>
          </a:p>
          <a:p>
            <a:pPr marL="0" indent="0">
              <a:buNone/>
            </a:pPr>
            <a:r>
              <a:rPr lang="en-US" altLang="zh-TW" dirty="0"/>
              <a:t>        </a:t>
            </a:r>
            <a:r>
              <a:rPr lang="en-US" altLang="zh-TW" dirty="0" err="1"/>
              <a:t>self.age</a:t>
            </a:r>
            <a:r>
              <a:rPr lang="en-US" altLang="zh-TW" dirty="0"/>
              <a:t> = age</a:t>
            </a:r>
          </a:p>
          <a:p>
            <a:pPr marL="0" indent="0">
              <a:buNone/>
            </a:pPr>
            <a:r>
              <a:rPr lang="en-US" altLang="zh-TW" dirty="0"/>
              <a:t>    @</a:t>
            </a:r>
            <a:r>
              <a:rPr lang="en-US" altLang="zh-TW" dirty="0" err="1"/>
              <a:t>staticmethod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def </a:t>
            </a:r>
            <a:r>
              <a:rPr lang="en-US" altLang="zh-TW" dirty="0" err="1"/>
              <a:t>fromFathersAge</a:t>
            </a:r>
            <a:r>
              <a:rPr lang="en-US" altLang="zh-TW" dirty="0"/>
              <a:t>(name, </a:t>
            </a:r>
            <a:r>
              <a:rPr lang="en-US" altLang="zh-TW" dirty="0" err="1"/>
              <a:t>fatherAge</a:t>
            </a:r>
            <a:r>
              <a:rPr lang="en-US" altLang="zh-TW" dirty="0"/>
              <a:t>, </a:t>
            </a:r>
            <a:r>
              <a:rPr lang="en-US" altLang="zh-TW" dirty="0" err="1"/>
              <a:t>fatherPersonAgeDiff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en-US" altLang="zh-TW" dirty="0"/>
              <a:t>        return Person(name, </a:t>
            </a:r>
            <a:r>
              <a:rPr lang="en-US" altLang="zh-TW" dirty="0" err="1"/>
              <a:t>date.today</a:t>
            </a:r>
            <a:r>
              <a:rPr lang="en-US" altLang="zh-TW" dirty="0"/>
              <a:t>().year - </a:t>
            </a:r>
            <a:r>
              <a:rPr lang="en-US" altLang="zh-TW" dirty="0" err="1"/>
              <a:t>fatherAge</a:t>
            </a:r>
            <a:r>
              <a:rPr lang="en-US" altLang="zh-TW" dirty="0"/>
              <a:t> + </a:t>
            </a:r>
            <a:r>
              <a:rPr lang="en-US" altLang="zh-TW" dirty="0" err="1"/>
              <a:t>fatherPersonAgeDiff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    @</a:t>
            </a:r>
            <a:r>
              <a:rPr lang="en-US" altLang="zh-TW" dirty="0" err="1"/>
              <a:t>classmethod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    def </a:t>
            </a:r>
            <a:r>
              <a:rPr lang="en-US" altLang="zh-TW" dirty="0" err="1"/>
              <a:t>fromBirthYear</a:t>
            </a:r>
            <a:r>
              <a:rPr lang="en-US" altLang="zh-TW" dirty="0"/>
              <a:t>(</a:t>
            </a:r>
            <a:r>
              <a:rPr lang="en-US" altLang="zh-TW" dirty="0" err="1"/>
              <a:t>cls</a:t>
            </a:r>
            <a:r>
              <a:rPr lang="en-US" altLang="zh-TW" dirty="0"/>
              <a:t>, name, </a:t>
            </a:r>
            <a:r>
              <a:rPr lang="en-US" altLang="zh-TW" dirty="0" err="1"/>
              <a:t>birthYear</a:t>
            </a:r>
            <a:r>
              <a:rPr lang="en-US" altLang="zh-TW" dirty="0"/>
              <a:t>):</a:t>
            </a:r>
          </a:p>
          <a:p>
            <a:pPr marL="0" indent="0">
              <a:buNone/>
            </a:pPr>
            <a:r>
              <a:rPr lang="en-US" altLang="zh-TW" dirty="0"/>
              <a:t>        return </a:t>
            </a:r>
            <a:r>
              <a:rPr lang="en-US" altLang="zh-TW" dirty="0" err="1"/>
              <a:t>cls</a:t>
            </a:r>
            <a:r>
              <a:rPr lang="en-US" altLang="zh-TW" dirty="0"/>
              <a:t>(name, </a:t>
            </a:r>
            <a:r>
              <a:rPr lang="en-US" altLang="zh-TW" dirty="0" err="1"/>
              <a:t>date.today</a:t>
            </a:r>
            <a:r>
              <a:rPr lang="en-US" altLang="zh-TW" dirty="0"/>
              <a:t>().year - </a:t>
            </a:r>
            <a:r>
              <a:rPr lang="en-US" altLang="zh-TW" dirty="0" err="1"/>
              <a:t>birthYear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r>
              <a:rPr lang="en-US" altLang="zh-TW" dirty="0"/>
              <a:t>    def display(self):</a:t>
            </a:r>
          </a:p>
          <a:p>
            <a:pPr marL="0" indent="0">
              <a:buNone/>
            </a:pPr>
            <a:r>
              <a:rPr lang="en-US" altLang="zh-TW" dirty="0"/>
              <a:t>        print(self.name + "'s age is: " + str(</a:t>
            </a:r>
            <a:r>
              <a:rPr lang="en-US" altLang="zh-TW" dirty="0" err="1"/>
              <a:t>self.age</a:t>
            </a:r>
            <a:r>
              <a:rPr lang="en-US" altLang="zh-TW" dirty="0"/>
              <a:t>))</a:t>
            </a:r>
          </a:p>
          <a:p>
            <a:pPr marL="0" indent="0">
              <a:buNone/>
            </a:pPr>
            <a:r>
              <a:rPr lang="en-US" altLang="zh-TW" dirty="0"/>
              <a:t>class Man(Person):</a:t>
            </a:r>
          </a:p>
          <a:p>
            <a:pPr marL="0" indent="0">
              <a:buNone/>
            </a:pPr>
            <a:r>
              <a:rPr lang="en-US" altLang="zh-TW" dirty="0"/>
              <a:t>    sex = '</a:t>
            </a:r>
            <a:r>
              <a:rPr lang="en-US" altLang="zh-TW" dirty="0" err="1"/>
              <a:t>Male'man</a:t>
            </a:r>
            <a:r>
              <a:rPr lang="en-US" altLang="zh-TW" dirty="0"/>
              <a:t> = </a:t>
            </a:r>
            <a:r>
              <a:rPr lang="en-US" altLang="zh-TW" dirty="0" err="1"/>
              <a:t>Man.fromBirthYear</a:t>
            </a:r>
            <a:r>
              <a:rPr lang="en-US" altLang="zh-TW" dirty="0"/>
              <a:t>('John', 1985)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print(</a:t>
            </a:r>
            <a:r>
              <a:rPr lang="en-US" altLang="zh-TW" dirty="0" err="1"/>
              <a:t>isinstance</a:t>
            </a:r>
            <a:r>
              <a:rPr lang="en-US" altLang="zh-TW" dirty="0"/>
              <a:t>(man, Man))</a:t>
            </a:r>
          </a:p>
          <a:p>
            <a:pPr marL="0" indent="0">
              <a:buNone/>
            </a:pPr>
            <a:r>
              <a:rPr lang="en-US" altLang="zh-TW" dirty="0"/>
              <a:t>man1 = </a:t>
            </a:r>
            <a:r>
              <a:rPr lang="en-US" altLang="zh-TW" dirty="0" err="1"/>
              <a:t>Man.fromFathersAge</a:t>
            </a:r>
            <a:r>
              <a:rPr lang="en-US" altLang="zh-TW" dirty="0"/>
              <a:t>('John', 1965, 20)</a:t>
            </a:r>
          </a:p>
          <a:p>
            <a:pPr marL="0" indent="0">
              <a:buNone/>
            </a:pPr>
            <a:r>
              <a:rPr lang="en-US" altLang="zh-TW" dirty="0"/>
              <a:t>print(</a:t>
            </a:r>
            <a:r>
              <a:rPr lang="en-US" altLang="zh-TW" dirty="0" err="1"/>
              <a:t>isinstance</a:t>
            </a:r>
            <a:r>
              <a:rPr lang="en-US" altLang="zh-TW" dirty="0"/>
              <a:t>(man1, Man))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0873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1295</Words>
  <Application>Microsoft Office PowerPoint</Application>
  <PresentationFormat>寬螢幕</PresentationFormat>
  <Paragraphs>235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Office 佈景主題</vt:lpstr>
      <vt:lpstr>Object Oriented in Python</vt:lpstr>
      <vt:lpstr>The Python simplest form of class definition </vt:lpstr>
      <vt:lpstr>Example 1</vt:lpstr>
      <vt:lpstr>Example 1 …continue</vt:lpstr>
      <vt:lpstr>Example 1 …continue</vt:lpstr>
      <vt:lpstr>Example 1 …continue</vt:lpstr>
      <vt:lpstr>Example 1 …continue</vt:lpstr>
      <vt:lpstr>Example 1 …continue</vt:lpstr>
      <vt:lpstr>Class object</vt:lpstr>
      <vt:lpstr>Class object</vt:lpstr>
      <vt:lpstr>Scopes and Namespaces Example (進階）</vt:lpstr>
      <vt:lpstr>Inheritance in Python</vt:lpstr>
      <vt:lpstr>Multiple Inheritance in Python</vt:lpstr>
      <vt:lpstr>Private Variables</vt:lpstr>
      <vt:lpstr>Private variable and method</vt:lpstr>
      <vt:lpstr>What is a class method?</vt:lpstr>
      <vt:lpstr>The syntax of classmethod() method </vt:lpstr>
      <vt:lpstr>Example 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in Python</dc:title>
  <dc:creator>user</dc:creator>
  <cp:lastModifiedBy>user</cp:lastModifiedBy>
  <cp:revision>26</cp:revision>
  <dcterms:created xsi:type="dcterms:W3CDTF">2018-11-29T07:23:27Z</dcterms:created>
  <dcterms:modified xsi:type="dcterms:W3CDTF">2018-11-29T09:50:43Z</dcterms:modified>
</cp:coreProperties>
</file>